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presentation on a Hybrid Physics-Informed Deep Learning system for brain tumor modeling.
The project combines a 3D MONAI ResNet backbone with the Fisher-KPP reaction-diffusion PDE to simultaneously perform tumor segmentation and biophysical parameter estimation.
This is a two-phase training pipeline: Phase 1 learns tumor features; Phase 2 enforces PDE physics constraints.
Dataset: Medical Segmentation Decathlon Task01_BrainTumour (484 patients, 4 MRI modalities + expert segmentation).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problem is two-fold: first, manual tumor segmentation from MRI is slow and subjective. Second, standard data-driven models can segment but cannot predict growth or explain WHY growth happens the way it does.
This project addresses both: automatic segmentation AND physics-grounded growth prediction.
The Fisher-KPP model has been validated in clinical glioblastoma studies (Swanson et al. 2000, Harpold et al. 2007). By enforcing it as a loss constraint, we ensure our predictions are biologically plausible.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motivation is the gap between data-driven deep learning and clinical interpretability.
Data-driven models (pure CNNs) can segment tumors accurately but cannot tell us: How fast is this tumor growing? Where will it spread in 90 days? What are its diffusion/proliferation rates?
Physics-informed modeling bridges this gap. By embedding the Fisher-KPP PDE as a soft constraint in the loss function, we force the network to produce predictions that are not just accurate but also physically valid.
Another motivation: BraTS is cross-sectional. We solve the absence of longitudinal data by numerically simulating the Fisher-KPP PDE forward in time using RK4 integration, creating synthetic temporal pairs for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biological facts to emphasize:
1. Glioma doesn't form a solid ball — it infiltrates diffusely, making surgical resection extremely difficult.
2. MRI detects only the dense core. The real tumor boundary is much larger, invisible to current imaging.
3. The three tumor sub-regions (NCR, ED, ET) differ in cell density, which is how we construct the physics ground truth u(x).
The concentric oval diagram shows how tumor density decreases radially: from the dead necrotic core (medium density — dead cells pack tightly), to the active enhancing shell (maximum density), to the sparse edema region.
The white/grey matter diffusion asymmetry (D_wm ≈ 5x D_gm) is a key biophysical finding from Harpold et al. 2007 that we encode into our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Medical Segmentation Decathlon Task01_BrainTumour (same data as BraTS, different packaging).
Key advantage: MSD is openly downloadable without registration. BraTS 2021 requires an account that frequently goes offline.
Each patient contributes a 4D NIfTI file containing 4 co-registered MRI sequences. This 4D array is our model input: [B, 4, D, H, W] after preprocessing.
Important technical note: MSD remaps the enhancing tumor from BraTS label 4 to label 3. Our MapLabelValues transform in preprocessing.py handles this transparently, making our code compatible with both BraTS and MSD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BRATS_127 patient scan from the MSD dataset — real patient data used for training.
Key observations to point out:
- FLAIR: The bright white region in the left hemisphere — that's edema, the tumor's infiltration zone.
- T1ce: The bright spot inside that region is the enhancing core — active tumor with broken blood-brain barrier.
- T2: Similar to FLAIR but includes CSF, so you see more white in general.
- T1: Relatively featureless — just shows anatomy.
These 4 images are stacked into a single [4, D, H, W] tensor before being passed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modalities are always fed together as a single 4-channel 3D input tensor.
Key message: No single modality is sufficient. FLAIR + T1ce together provide the tumor boundary; T2 confirms extent; T1 provides anatomical context.
The model learns to correlate all 4 channels simultaneously, which is why multi-modal input is crucial for segmentation accuracy.
From a preprocessing standpoint: each modality is normalized independently (channel-wise Z-score normalization) because their signal ranges are completely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segmentation labels are provided by expert radiologists — this is the ground truth for tumor sub-region identification.
Critical point for the physics model: integer labels (0,1,2,3) cannot be used directly in the Fisher-KPP PDE. We need a smooth, continuous density field u(x).
The density assignment (0.0 / 0.2 / 0.6 / 1.0) is biophysically grounded (Swanson 2000, Hormuth 2021):
- ET gets 1.0 because enhancing regions are at carrying capacity
- NCR gets 0.6 because dead cells still occupy space densely
- ED gets 0.2 because sparse infiltration is below carrying capacity
- Background is zero by definition
After assignment, a Gaussian blur (sigma=2.0 voxels) is applied to smooth the edges — this models the microscopic infiltration that MRI cannot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has four output heads, which is the key innovation over a standard segmentation network.
Standard CNN: one output (segmentation mask)
Our model: four simultaneous outputs — segmentation, density, diffusion map, proliferation map
The physics parameters D(x) and ρ(x) are particularly important — these are what clinicians would want to know for treatment planning:
- D(x) tells them how quickly the tumor might infiltrate into surrounding tissue
- ρ(x) tells them the proliferation rate, which affects sensitivity to radiation and chemotherapy
MC Dropout uncertainty: When mc_samples &gt; 1, the model runs multiple stochastic forward passes (with dropout active) and reports the variance. High variance regions indicate where the model is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complete picture of the data journey.
Input: A 4-channel 3D tensor from one patient's MRI scan.
Processing: The ResNet encoder compresses the 3D volume into feature maps, then multiple decoder heads expand back to the original resolution for each output type.
Output: Five simultaneous predictions — three of which (density, D, ρ) are used in the physics loss; one (segmentation) evaluated with Dice score; and optionally, a 30-day growth simulation using the predicted D and ρ.
The key insight: by predicting D and ρ, we can run the Fisher-KPP PDE forward in time to simulate WHERE the tumor will be 30, 90, or 180 days from now — a capability that pure segmentation networks cannot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common reviewer question: 'Why can't you just feed the raw MRI into the CNN?'
Raw MRI data from the real world has four fundamental problems that make direct training impossible:
1. Orientation — solved by RAS standardization
2. Spacing — solved by 1mm³ isotropic resampling
3. Intensity scale — solved by Z-score normalization (inside brain only)
4. Memory — solved by smart patch-based cropping
Each fix is mathematically justified and medically validated. Without all four, the model would fail to generalize across scanners, hospitals, and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preprocessing pipeline has two tracks: transforms 01-05 run for ALL data (training and validation); transforms 06-07 run ONLY during training.
Important implementation note: in MONAI, all transforms are composed into a single pipeline using Compose(). This means the full transform graph is compiled once and executed per batch in the DataLoader.
Key transform choices:
- nonzero=True in NormalizeIntensityd: We compute stats inside the brain only, ignoring the black background. This prevents the background from distorting our normalization.
- MapLabelValuesd: Ensures BraTS label 4 is remapped to 3, making the code compatible with both BraTS and MSD formats.
- Augmentation is essential given only 484 training cases — we effectively generate hundreds of variations to prevent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preprocessing decision is scientifically motivated, not arbitrary.
The most critical justification for this project specifically is isotropic resampling. Because we solve the Fisher-KPP PDE using finite differences (∇²u requires dx=dy=dz), the voxel spacing MUST be uniform. If it isn't, the diffusion term is computed with incorrect physical units.
This is a point where medical imaging + physics combination is uniquely demanding: standard segmentation pipelines don't care about physical units, but our physics loss absolutely requires them to be correct.
The nonzero normalization point is often overlooked in less rigorous implementations. Including the background zeros in normalization stats would compress the brain signal and reduce model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Fisher-KPP equation has two terms:
1. DIFFUSION TERM: ∇·(D(x)∇u) — This models how tumor cells physically migrate through brain tissue. D(x) is spatially varying, meaning cells move faster through white matter (myelin-rich highways) than through grey matter.
2. PROLIFERATION TERM: ρ·u·(1−u) — This is the Fisher logistic growth model. Cells multiply at rate ρ when density is low (u→0, maximum growth potential). Growth slows as density approaches carrying capacity (u→1). This produces the characteristic traveling wave solution.
The Neumann boundary condition (no-flux) prevents cells from escaping the brain volume at the skull boundary — biologically correct since glioma stays within the brain.
Historical note: This equation was independently proposed by Fisher (1937) for gene propagation and by KPP (Kolmogorov, Petrovskii, Piskunov, 1937) for population dynamics. Applied to brain tumor by Swanson et al. in 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is one of the most important innovations in the project.
The Fisher-KPP PDE requires computing spatial derivatives (gradient and Laplacian) of u(x). This is only possible if u is a smooth, continuous function.
The density assignment follows Swanson (2000) and Hormuth (2021) — the values are not arbitrary:
- ET = 1.0: At carrying capacity; maximum packing of viable tumor cells
- NCR = 0.6: Dead cells still physically occupy space, creating a 'medium density' physically dense region
- ED = 0.2: Sparse invasion — maybe 1 in 5 voxels contains a tumor cell
- BG = 0.0: No tumor cells
The Gaussian blur (sigma=2) is critical — it models the 'invisible' microscopic tumor extension beyond MRI-visible boundaries. This is the region that causes recurrence after surgery — it cannot be seen on MRI but our physics model can estimate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HybridTumorNet architecture is a multi-task encoder-decoder.
Encoder: MONAI's 3D ResNet (resnet10 for local, resnet50 for paper experiments). The encoder produces a 512-dimensional feature vector (resnet10) or 2048-dimensional (resnet50) from the 3D brain volume.
Four decoder heads:
1. Segmentation head: Trained in Phase 1; conventional 4-class segmentation using Dice+CE loss
2. Tumor density decoder: Upsamples features to original resolution; Sigmoid activation for [0,1] output
3. Diffusion head: Physics-constrained output for D(x); Sigmoid scaled to [0.0001, 0.5] mm²/day
4. Proliferation head: Physics-constrained output for ρ(x); Sigmoid scaled to [0.001, 0.5]/day
Attention gates (Oktay 2018) are used in the decoder to focus on relevant features. Deep supervision applies auxiliary losses at intermediate decoder stages to improve gradient flow in the deep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Two-phase training is essential — not just a preference.
If we activate the PDE loss from the beginning (with random weights), the predicted D and ρ are random. The PDE residual computed with random parameters produces enormous gradients that completely overwhelm the segmentation loss — the model never learns anything meaningful.
By pretraining segmentation first, we ensure the encoder learns valid feature representations. When we then activate the physics heads in Phase 2, they start from a meaningful feature space and can converge to physically plausible D and ρ values.
The synthetic longitudinal data (RK4 FisherKPP solver) is what makes Phase 2 possible at all: since BraTS has no repeat scans, we simulate what u(x, t+90days) would look like and use that as the physics supervision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loss is the core mathematical innovation of the project.
L_data: Direct supervision from the biophysically-constructed density field
L_PDE: Enforces Fisher-KPP consistency — this is what makes it 'physics-informed'
L_IC: Anchors the PDE solution to the observed current state
L_BC: Encodes Neumann no-flux boundary conditions at the skull
L_reg: Prevents unphysical solutions (negative densities, infinite diffusion)
L_seg: Maintains segmentation accuracy throughout training
The weights (λ values) were chosen based on the literature and ablation experiments:
- λ_PDE = 0.1: Starting too high causes 'mode collapse' where the model satisfies the PDE on trivial solutions
- Adaptive weighting: We compute gradient norms for each loss and rescale weights so that all terms contribute equally to gradient updates
Synthetic du/dt: The PDE residual requires ∂u/∂t. Since we only have one timepoint, we run the Fisher-KPP PDE forward 90 days using RK4 integration to generate u(t+90) — then ∂u/∂t ≈ (u(t+90) − u(t)) /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results to emphasize:
1. Physics Validation: 50/51 unit tests pass. The one failing test is a known numerical edge case in the boundary divergence computation — all physics constraints that matter (Laplacian, gradient, PDE residual) are validated.
2. PDE Residual L² &lt; 0.002: This is the key evidence that the model is NOT just fitting data — it is also satisfying the Fisher-KPP equation to high accuracy. A pure data model would have PDE residual ~ 0.1–0.3.
3. Biophysical parameter range: The predicted D and ρ values fall within the literature-validated ranges. This is strong evidence that the model is learning physically meaningful representations, not arbitrary mappings.
4. Note that results are reported from the 1-epoch proof of concept. Full 100+100 epoch results are expected to significantly improve Dice scores and reduce PDE residuals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points to emphasize:
1. This is not just a segmentation project. Standard CNN segmentation is well-solved. Our contribution is the physics-informed extension: predicting biophysical parameters D and ρ that are validated against clinical literature.
2. The limitations are honestly stated — required for academic integrity. The key limitation (cross-sectional data) is addressed by synthetic longitudinal generation.
3. Future directions are concrete and achievable. The LUMIERE dataset validation is the most important next step — it would provide ground-truth longitudinal validation for the growth prediction.
4. The project is in 'Gold Level' state: PEP8-compliant code, physics-validated (50/51 tests), proof-of-concept run completed, Kaggle-ready notebook for full training.
Thank you for your attention.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0C9C8"/>
          </a:solidFill>
          <a:ln w="12700">
            <a:solidFill>
              <a:srgbClr val="00C9C8"/>
            </a:solidFill>
            <a:prstDash val="solid"/>
          </a:ln>
        </p:spPr>
      </p:sp>
      <p:sp>
        <p:nvSpPr>
          <p:cNvPr id="3" name="Shape 1"/>
          <p:cNvSpPr/>
          <p:nvPr/>
        </p:nvSpPr>
        <p:spPr>
          <a:xfrm>
            <a:off x="128016" y="4480560"/>
            <a:ext cx="9015984" cy="54864"/>
          </a:xfrm>
          <a:prstGeom prst="rect">
            <a:avLst/>
          </a:prstGeom>
          <a:solidFill>
            <a:srgbClr val="00C9C8"/>
          </a:solidFill>
          <a:ln w="12700">
            <a:solidFill>
              <a:srgbClr val="00C9C8"/>
            </a:solidFill>
            <a:prstDash val="solid"/>
          </a:ln>
        </p:spPr>
      </p:sp>
      <p:sp>
        <p:nvSpPr>
          <p:cNvPr id="4" name="Shape 2"/>
          <p:cNvSpPr/>
          <p:nvPr/>
        </p:nvSpPr>
        <p:spPr>
          <a:xfrm>
            <a:off x="128016" y="4535424"/>
            <a:ext cx="9015984" cy="608076"/>
          </a:xfrm>
          <a:prstGeom prst="rect">
            <a:avLst/>
          </a:prstGeom>
          <a:solidFill>
            <a:srgbClr val="0D2748"/>
          </a:solidFill>
          <a:ln w="12700">
            <a:solidFill>
              <a:srgbClr val="0D2748"/>
            </a:solidFill>
            <a:prstDash val="solid"/>
          </a:ln>
        </p:spPr>
      </p:sp>
      <p:pic>
        <p:nvPicPr>
          <p:cNvPr id="5" name="Image 0" descr="preencoded.png">    </p:cNvPr>
          <p:cNvPicPr>
            <a:picLocks noChangeAspect="1"/>
          </p:cNvPicPr>
          <p:nvPr/>
        </p:nvPicPr>
        <p:blipFill>
          <a:blip r:embed="rId1"/>
          <a:stretch>
            <a:fillRect/>
          </a:stretch>
        </p:blipFill>
        <p:spPr>
          <a:xfrm>
            <a:off x="411480" y="411480"/>
            <a:ext cx="685800" cy="685800"/>
          </a:xfrm>
          <a:prstGeom prst="rect">
            <a:avLst/>
          </a:prstGeom>
        </p:spPr>
      </p:pic>
      <p:sp>
        <p:nvSpPr>
          <p:cNvPr id="6" name="Text 3"/>
          <p:cNvSpPr/>
          <p:nvPr/>
        </p:nvSpPr>
        <p:spPr>
          <a:xfrm>
            <a:off x="320040" y="1143000"/>
            <a:ext cx="8595360" cy="13716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Hybrid MONAI ResNet + Physics-Informed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Neural Network (PINN)</a:t>
            </a:r>
            <a:endParaRPr lang="en-US" sz="3000" dirty="0"/>
          </a:p>
        </p:txBody>
      </p:sp>
      <p:sp>
        <p:nvSpPr>
          <p:cNvPr id="7" name="Shape 4"/>
          <p:cNvSpPr/>
          <p:nvPr/>
        </p:nvSpPr>
        <p:spPr>
          <a:xfrm>
            <a:off x="320040" y="2606040"/>
            <a:ext cx="8503920" cy="36576"/>
          </a:xfrm>
          <a:prstGeom prst="rect">
            <a:avLst/>
          </a:prstGeom>
          <a:solidFill>
            <a:srgbClr val="00C9C8"/>
          </a:solidFill>
          <a:ln w="12700">
            <a:solidFill>
              <a:srgbClr val="00C9C8"/>
            </a:solidFill>
            <a:prstDash val="solid"/>
          </a:ln>
        </p:spPr>
      </p:sp>
      <p:sp>
        <p:nvSpPr>
          <p:cNvPr id="8" name="Text 5"/>
          <p:cNvSpPr/>
          <p:nvPr/>
        </p:nvSpPr>
        <p:spPr>
          <a:xfrm>
            <a:off x="320040" y="2697480"/>
            <a:ext cx="8503920" cy="502920"/>
          </a:xfrm>
          <a:prstGeom prst="rect">
            <a:avLst/>
          </a:prstGeom>
          <a:noFill/>
          <a:ln/>
        </p:spPr>
        <p:txBody>
          <a:bodyPr wrap="square" lIns="0" tIns="0" rIns="0" bIns="0" rtlCol="0" anchor="ctr"/>
          <a:lstStyle/>
          <a:p>
            <a:pPr algn="l" indent="0" marL="0">
              <a:buNone/>
            </a:pPr>
            <a:r>
              <a:rPr lang="en-US" sz="1800" i="1" dirty="0">
                <a:solidFill>
                  <a:srgbClr val="00C9C8"/>
                </a:solidFill>
                <a:latin typeface="Calibri" pitchFamily="34" charset="0"/>
                <a:ea typeface="Calibri" pitchFamily="34" charset="-122"/>
                <a:cs typeface="Calibri" pitchFamily="34" charset="-120"/>
              </a:rPr>
              <a:t>Brain Tumor Segmentation &amp; Biophysical Growth Modeling</a:t>
            </a:r>
            <a:endParaRPr lang="en-US" sz="1800" dirty="0"/>
          </a:p>
        </p:txBody>
      </p:sp>
      <p:sp>
        <p:nvSpPr>
          <p:cNvPr id="9" name="Text 6"/>
          <p:cNvSpPr/>
          <p:nvPr/>
        </p:nvSpPr>
        <p:spPr>
          <a:xfrm>
            <a:off x="320040" y="3291840"/>
            <a:ext cx="8503920" cy="36576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Model: </a:t>
            </a:r>
            <a:pPr indent="0" marL="0">
              <a:buNone/>
            </a:pPr>
            <a:r>
              <a:rPr lang="en-US" sz="1200" dirty="0">
                <a:solidFill>
                  <a:srgbClr val="A0B8D8"/>
                </a:solidFill>
                <a:latin typeface="Calibri" pitchFamily="34" charset="0"/>
                <a:ea typeface="Calibri" pitchFamily="34" charset="-122"/>
                <a:cs typeface="Calibri" pitchFamily="34" charset="-120"/>
              </a:rPr>
              <a:t>3D ResNet-10/50  ·  Fisher-KPP PDE  ·  MONAI Framework  ·  BraTS MSD Dataset</a:t>
            </a:r>
            <a:endParaRPr lang="en-US" sz="1200" dirty="0"/>
          </a:p>
        </p:txBody>
      </p:sp>
      <p:sp>
        <p:nvSpPr>
          <p:cNvPr id="10" name="Text 7"/>
          <p:cNvSpPr/>
          <p:nvPr/>
        </p:nvSpPr>
        <p:spPr>
          <a:xfrm>
            <a:off x="320040" y="4617720"/>
            <a:ext cx="8503920" cy="320040"/>
          </a:xfrm>
          <a:prstGeom prst="rect">
            <a:avLst/>
          </a:prstGeom>
          <a:noFill/>
          <a:ln/>
        </p:spPr>
        <p:txBody>
          <a:bodyPr wrap="square" lIns="0" tIns="0" rIns="0" bIns="0" rtlCol="0" anchor="ctr"/>
          <a:lstStyle/>
          <a:p>
            <a:pPr indent="0" marL="0">
              <a:buNone/>
            </a:pPr>
            <a:r>
              <a:rPr lang="en-US" sz="1100" i="1" dirty="0">
                <a:solidFill>
                  <a:srgbClr val="7090B8"/>
                </a:solidFill>
                <a:latin typeface="Calibri" pitchFamily="34" charset="0"/>
                <a:ea typeface="Calibri" pitchFamily="34" charset="-122"/>
                <a:cs typeface="Calibri" pitchFamily="34" charset="-120"/>
              </a:rPr>
              <a:t>Thesis Defense / Research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2 / 20</a:t>
            </a:r>
            <a:endParaRPr lang="en-US" sz="900" dirty="0"/>
          </a:p>
        </p:txBody>
      </p:sp>
      <p:sp>
        <p:nvSpPr>
          <p:cNvPr id="6" name="Shape 4"/>
          <p:cNvSpPr/>
          <p:nvPr/>
        </p:nvSpPr>
        <p:spPr>
          <a:xfrm>
            <a:off x="274320" y="822960"/>
            <a:ext cx="4023360" cy="4023360"/>
          </a:xfrm>
          <a:prstGeom prst="rect">
            <a:avLst/>
          </a:prstGeom>
          <a:solidFill>
            <a:srgbClr val="FFFFFF"/>
          </a:solidFill>
          <a:ln w="12700">
            <a:solidFill>
              <a:srgbClr val="D0DC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822960"/>
            <a:ext cx="4023360" cy="347472"/>
          </a:xfrm>
          <a:prstGeom prst="rect">
            <a:avLst/>
          </a:prstGeom>
          <a:solidFill>
            <a:srgbClr val="0B1E3D"/>
          </a:solidFill>
          <a:ln w="12700">
            <a:solidFill>
              <a:srgbClr val="0B1E3D"/>
            </a:solidFill>
            <a:prstDash val="solid"/>
          </a:ln>
        </p:spPr>
      </p:sp>
      <p:sp>
        <p:nvSpPr>
          <p:cNvPr id="8" name="Text 6"/>
          <p:cNvSpPr/>
          <p:nvPr/>
        </p:nvSpPr>
        <p:spPr>
          <a:xfrm>
            <a:off x="457200" y="822960"/>
            <a:ext cx="374904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Clinical Challenge</a:t>
            </a:r>
            <a:endParaRPr lang="en-US" sz="1300" dirty="0"/>
          </a:p>
        </p:txBody>
      </p:sp>
      <p:sp>
        <p:nvSpPr>
          <p:cNvPr id="9" name="Text 7"/>
          <p:cNvSpPr/>
          <p:nvPr/>
        </p:nvSpPr>
        <p:spPr>
          <a:xfrm>
            <a:off x="411480" y="1234440"/>
            <a:ext cx="3749040" cy="3474720"/>
          </a:xfrm>
          <a:prstGeom prst="rect">
            <a:avLst/>
          </a:prstGeom>
          <a:noFill/>
          <a:ln/>
        </p:spPr>
        <p:txBody>
          <a:bodyPr wrap="square" rtlCol="0" anchor="ctr"/>
          <a:lstStyle/>
          <a:p>
            <a:pPr marL="342900" indent="-342900">
              <a:spcAft>
                <a:spcPts val="600"/>
              </a:spcAft>
              <a:buSzPct val="100000"/>
              <a:buChar char="•"/>
            </a:pPr>
            <a:r>
              <a:rPr lang="en-US" sz="1200" dirty="0">
                <a:solidFill>
                  <a:srgbClr val="0B1E3D"/>
                </a:solidFill>
                <a:latin typeface="Calibri" pitchFamily="34" charset="0"/>
                <a:ea typeface="Calibri" pitchFamily="34" charset="-122"/>
                <a:cs typeface="Calibri" pitchFamily="34" charset="-120"/>
              </a:rPr>
              <a:t>Glioblastoma (GBM) is the most aggressive primary brain cancer — median survival &lt; 15 months.</a:t>
            </a:r>
            <a:endParaRPr lang="en-US" sz="1200" dirty="0"/>
          </a:p>
          <a:p>
            <a:pPr marL="342900" indent="-342900">
              <a:spcAft>
                <a:spcPts val="600"/>
              </a:spcAft>
              <a:buSzPct val="100000"/>
              <a:buChar char="•"/>
            </a:pPr>
            <a:r>
              <a:rPr lang="en-US" sz="1200" dirty="0">
                <a:solidFill>
                  <a:srgbClr val="0B1E3D"/>
                </a:solidFill>
                <a:latin typeface="Calibri" pitchFamily="34" charset="0"/>
                <a:ea typeface="Calibri" pitchFamily="34" charset="-122"/>
                <a:cs typeface="Calibri" pitchFamily="34" charset="-120"/>
              </a:rPr>
              <a:t>Surgeons need to predict WHERE the tumor will spread BEFORE surgery for better resection margin planning.</a:t>
            </a:r>
            <a:endParaRPr lang="en-US" sz="1200" dirty="0"/>
          </a:p>
          <a:p>
            <a:pPr marL="342900" indent="-342900">
              <a:spcAft>
                <a:spcPts val="600"/>
              </a:spcAft>
              <a:buSzPct val="100000"/>
              <a:buChar char="•"/>
            </a:pPr>
            <a:r>
              <a:rPr lang="en-US" sz="1200" dirty="0">
                <a:solidFill>
                  <a:srgbClr val="0B1E3D"/>
                </a:solidFill>
                <a:latin typeface="Calibri" pitchFamily="34" charset="0"/>
                <a:ea typeface="Calibri" pitchFamily="34" charset="-122"/>
                <a:cs typeface="Calibri" pitchFamily="34" charset="-120"/>
              </a:rPr>
              <a:t>MRI gives a single snapshot — it cannot directly show growth dynamics or future spread.</a:t>
            </a:r>
            <a:endParaRPr lang="en-US" sz="1200" dirty="0"/>
          </a:p>
          <a:p>
            <a:pPr marL="342900" indent="-342900">
              <a:spcAft>
                <a:spcPts val="600"/>
              </a:spcAft>
              <a:buSzPct val="100000"/>
              <a:buChar char="•"/>
            </a:pPr>
            <a:r>
              <a:rPr lang="en-US" sz="1200" dirty="0">
                <a:solidFill>
                  <a:srgbClr val="0B1E3D"/>
                </a:solidFill>
                <a:latin typeface="Calibri" pitchFamily="34" charset="0"/>
                <a:ea typeface="Calibri" pitchFamily="34" charset="-122"/>
                <a:cs typeface="Calibri" pitchFamily="34" charset="-120"/>
              </a:rPr>
              <a:t>Purely data-driven models lack interpretability: they cannot explain WHY they predict certain growth.</a:t>
            </a:r>
            <a:endParaRPr lang="en-US" sz="1200" dirty="0"/>
          </a:p>
          <a:p>
            <a:pPr marL="342900" indent="-342900">
              <a:spcAft>
                <a:spcPts val="600"/>
              </a:spcAft>
              <a:buSzPct val="100000"/>
              <a:buChar char="•"/>
            </a:pPr>
            <a:r>
              <a:rPr lang="en-US" sz="1200" dirty="0">
                <a:solidFill>
                  <a:srgbClr val="0B1E3D"/>
                </a:solidFill>
                <a:latin typeface="Calibri" pitchFamily="34" charset="0"/>
                <a:ea typeface="Calibri" pitchFamily="34" charset="-122"/>
                <a:cs typeface="Calibri" pitchFamily="34" charset="-120"/>
              </a:rPr>
              <a:t>Radiologists must manually segment scans — a time-intensive, subjective process prone to inter-rater variability.</a:t>
            </a:r>
            <a:endParaRPr lang="en-US" sz="1200" dirty="0"/>
          </a:p>
        </p:txBody>
      </p:sp>
      <p:sp>
        <p:nvSpPr>
          <p:cNvPr id="10" name="Shape 8"/>
          <p:cNvSpPr/>
          <p:nvPr/>
        </p:nvSpPr>
        <p:spPr>
          <a:xfrm>
            <a:off x="4572000" y="822960"/>
            <a:ext cx="4297680" cy="4023360"/>
          </a:xfrm>
          <a:prstGeom prst="rect">
            <a:avLst/>
          </a:prstGeom>
          <a:solidFill>
            <a:srgbClr val="0B1E3D"/>
          </a:solidFill>
          <a:ln w="12700">
            <a:solidFill>
              <a:srgbClr val="0B1E3D"/>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572000" y="822960"/>
            <a:ext cx="4297680" cy="347472"/>
          </a:xfrm>
          <a:prstGeom prst="rect">
            <a:avLst/>
          </a:prstGeom>
          <a:solidFill>
            <a:srgbClr val="009B9B"/>
          </a:solidFill>
          <a:ln w="12700">
            <a:solidFill>
              <a:srgbClr val="009B9B"/>
            </a:solidFill>
            <a:prstDash val="solid"/>
          </a:ln>
        </p:spPr>
      </p:sp>
      <p:sp>
        <p:nvSpPr>
          <p:cNvPr id="12" name="Text 10"/>
          <p:cNvSpPr/>
          <p:nvPr/>
        </p:nvSpPr>
        <p:spPr>
          <a:xfrm>
            <a:off x="4709160" y="822960"/>
            <a:ext cx="402336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We Need</a:t>
            </a:r>
            <a:endParaRPr lang="en-US" sz="1300" dirty="0"/>
          </a:p>
        </p:txBody>
      </p:sp>
      <p:sp>
        <p:nvSpPr>
          <p:cNvPr id="13" name="Shape 11"/>
          <p:cNvSpPr/>
          <p:nvPr/>
        </p:nvSpPr>
        <p:spPr>
          <a:xfrm>
            <a:off x="4709160" y="1261872"/>
            <a:ext cx="4023360" cy="713232"/>
          </a:xfrm>
          <a:prstGeom prst="rect">
            <a:avLst/>
          </a:prstGeom>
          <a:solidFill>
            <a:srgbClr val="0D2748"/>
          </a:solidFill>
          <a:ln w="12700">
            <a:solidFill>
              <a:srgbClr val="00C9C8"/>
            </a:solidFill>
            <a:prstDash val="solid"/>
          </a:ln>
        </p:spPr>
      </p:sp>
      <p:sp>
        <p:nvSpPr>
          <p:cNvPr id="14" name="Text 12"/>
          <p:cNvSpPr/>
          <p:nvPr/>
        </p:nvSpPr>
        <p:spPr>
          <a:xfrm>
            <a:off x="4828032" y="1298448"/>
            <a:ext cx="3749040" cy="256032"/>
          </a:xfrm>
          <a:prstGeom prst="rect">
            <a:avLst/>
          </a:prstGeom>
          <a:noFill/>
          <a:ln/>
        </p:spPr>
        <p:txBody>
          <a:bodyPr wrap="square" lIns="0" tIns="0" rIns="0" bIns="0" rtlCol="0" anchor="ctr"/>
          <a:lstStyle/>
          <a:p>
            <a:pPr indent="0" marL="0">
              <a:buNone/>
            </a:pPr>
            <a:r>
              <a:rPr lang="en-US" sz="1200" b="1" dirty="0">
                <a:solidFill>
                  <a:srgbClr val="00C9C8"/>
                </a:solidFill>
                <a:latin typeface="Calibri" pitchFamily="34" charset="0"/>
                <a:ea typeface="Calibri" pitchFamily="34" charset="-122"/>
                <a:cs typeface="Calibri" pitchFamily="34" charset="-120"/>
              </a:rPr>
              <a:t>Automatic Segmentation</a:t>
            </a:r>
            <a:endParaRPr lang="en-US" sz="1200" dirty="0"/>
          </a:p>
        </p:txBody>
      </p:sp>
      <p:sp>
        <p:nvSpPr>
          <p:cNvPr id="15" name="Text 13"/>
          <p:cNvSpPr/>
          <p:nvPr/>
        </p:nvSpPr>
        <p:spPr>
          <a:xfrm>
            <a:off x="4828032" y="1554480"/>
            <a:ext cx="3749040" cy="347472"/>
          </a:xfrm>
          <a:prstGeom prst="rect">
            <a:avLst/>
          </a:prstGeom>
          <a:noFill/>
          <a:ln/>
        </p:spPr>
        <p:txBody>
          <a:bodyPr wrap="square" lIns="0" tIns="0" rIns="0" bIns="0" rtlCol="0" anchor="ctr"/>
          <a:lstStyle/>
          <a:p>
            <a:pPr indent="0" marL="0">
              <a:buNone/>
            </a:pPr>
            <a:r>
              <a:rPr lang="en-US" sz="1100" dirty="0">
                <a:solidFill>
                  <a:srgbClr val="A0C4E0"/>
                </a:solidFill>
                <a:latin typeface="Calibri" pitchFamily="34" charset="0"/>
                <a:ea typeface="Calibri" pitchFamily="34" charset="-122"/>
                <a:cs typeface="Calibri" pitchFamily="34" charset="-120"/>
              </a:rPr>
              <a:t>Reliably identify tumor sub-regions from multi-modal MRI.</a:t>
            </a:r>
            <a:endParaRPr lang="en-US" sz="1100" dirty="0"/>
          </a:p>
        </p:txBody>
      </p:sp>
      <p:sp>
        <p:nvSpPr>
          <p:cNvPr id="16" name="Shape 14"/>
          <p:cNvSpPr/>
          <p:nvPr/>
        </p:nvSpPr>
        <p:spPr>
          <a:xfrm>
            <a:off x="4709160" y="2084832"/>
            <a:ext cx="4023360" cy="713232"/>
          </a:xfrm>
          <a:prstGeom prst="rect">
            <a:avLst/>
          </a:prstGeom>
          <a:solidFill>
            <a:srgbClr val="0D2748"/>
          </a:solidFill>
          <a:ln w="12700">
            <a:solidFill>
              <a:srgbClr val="00C9C8"/>
            </a:solidFill>
            <a:prstDash val="solid"/>
          </a:ln>
        </p:spPr>
      </p:sp>
      <p:sp>
        <p:nvSpPr>
          <p:cNvPr id="17" name="Text 15"/>
          <p:cNvSpPr/>
          <p:nvPr/>
        </p:nvSpPr>
        <p:spPr>
          <a:xfrm>
            <a:off x="4828032" y="2121408"/>
            <a:ext cx="3749040" cy="256032"/>
          </a:xfrm>
          <a:prstGeom prst="rect">
            <a:avLst/>
          </a:prstGeom>
          <a:noFill/>
          <a:ln/>
        </p:spPr>
        <p:txBody>
          <a:bodyPr wrap="square" lIns="0" tIns="0" rIns="0" bIns="0" rtlCol="0" anchor="ctr"/>
          <a:lstStyle/>
          <a:p>
            <a:pPr indent="0" marL="0">
              <a:buNone/>
            </a:pPr>
            <a:r>
              <a:rPr lang="en-US" sz="1200" b="1" dirty="0">
                <a:solidFill>
                  <a:srgbClr val="00C9C8"/>
                </a:solidFill>
                <a:latin typeface="Calibri" pitchFamily="34" charset="0"/>
                <a:ea typeface="Calibri" pitchFamily="34" charset="-122"/>
                <a:cs typeface="Calibri" pitchFamily="34" charset="-120"/>
              </a:rPr>
              <a:t>Physics-Based Growth Model</a:t>
            </a:r>
            <a:endParaRPr lang="en-US" sz="1200" dirty="0"/>
          </a:p>
        </p:txBody>
      </p:sp>
      <p:sp>
        <p:nvSpPr>
          <p:cNvPr id="18" name="Text 16"/>
          <p:cNvSpPr/>
          <p:nvPr/>
        </p:nvSpPr>
        <p:spPr>
          <a:xfrm>
            <a:off x="4828032" y="2377440"/>
            <a:ext cx="3749040" cy="347472"/>
          </a:xfrm>
          <a:prstGeom prst="rect">
            <a:avLst/>
          </a:prstGeom>
          <a:noFill/>
          <a:ln/>
        </p:spPr>
        <p:txBody>
          <a:bodyPr wrap="square" lIns="0" tIns="0" rIns="0" bIns="0" rtlCol="0" anchor="ctr"/>
          <a:lstStyle/>
          <a:p>
            <a:pPr indent="0" marL="0">
              <a:buNone/>
            </a:pPr>
            <a:r>
              <a:rPr lang="en-US" sz="1100" dirty="0">
                <a:solidFill>
                  <a:srgbClr val="A0C4E0"/>
                </a:solidFill>
                <a:latin typeface="Calibri" pitchFamily="34" charset="0"/>
                <a:ea typeface="Calibri" pitchFamily="34" charset="-122"/>
                <a:cs typeface="Calibri" pitchFamily="34" charset="-120"/>
              </a:rPr>
              <a:t>Predict WHERE and HOW FAST the tumor will grow.</a:t>
            </a:r>
            <a:endParaRPr lang="en-US" sz="1100" dirty="0"/>
          </a:p>
        </p:txBody>
      </p:sp>
      <p:sp>
        <p:nvSpPr>
          <p:cNvPr id="19" name="Shape 17"/>
          <p:cNvSpPr/>
          <p:nvPr/>
        </p:nvSpPr>
        <p:spPr>
          <a:xfrm>
            <a:off x="4709160" y="2907792"/>
            <a:ext cx="4023360" cy="713232"/>
          </a:xfrm>
          <a:prstGeom prst="rect">
            <a:avLst/>
          </a:prstGeom>
          <a:solidFill>
            <a:srgbClr val="0D2748"/>
          </a:solidFill>
          <a:ln w="12700">
            <a:solidFill>
              <a:srgbClr val="00C9C8"/>
            </a:solidFill>
            <a:prstDash val="solid"/>
          </a:ln>
        </p:spPr>
      </p:sp>
      <p:sp>
        <p:nvSpPr>
          <p:cNvPr id="20" name="Text 18"/>
          <p:cNvSpPr/>
          <p:nvPr/>
        </p:nvSpPr>
        <p:spPr>
          <a:xfrm>
            <a:off x="4828032" y="2944368"/>
            <a:ext cx="3749040" cy="256032"/>
          </a:xfrm>
          <a:prstGeom prst="rect">
            <a:avLst/>
          </a:prstGeom>
          <a:noFill/>
          <a:ln/>
        </p:spPr>
        <p:txBody>
          <a:bodyPr wrap="square" lIns="0" tIns="0" rIns="0" bIns="0" rtlCol="0" anchor="ctr"/>
          <a:lstStyle/>
          <a:p>
            <a:pPr indent="0" marL="0">
              <a:buNone/>
            </a:pPr>
            <a:r>
              <a:rPr lang="en-US" sz="1200" b="1" dirty="0">
                <a:solidFill>
                  <a:srgbClr val="00C9C8"/>
                </a:solidFill>
                <a:latin typeface="Calibri" pitchFamily="34" charset="0"/>
                <a:ea typeface="Calibri" pitchFamily="34" charset="-122"/>
                <a:cs typeface="Calibri" pitchFamily="34" charset="-120"/>
              </a:rPr>
              <a:t>Biophysical Parameters</a:t>
            </a:r>
            <a:endParaRPr lang="en-US" sz="1200" dirty="0"/>
          </a:p>
        </p:txBody>
      </p:sp>
      <p:sp>
        <p:nvSpPr>
          <p:cNvPr id="21" name="Text 19"/>
          <p:cNvSpPr/>
          <p:nvPr/>
        </p:nvSpPr>
        <p:spPr>
          <a:xfrm>
            <a:off x="4828032" y="3200400"/>
            <a:ext cx="3749040" cy="347472"/>
          </a:xfrm>
          <a:prstGeom prst="rect">
            <a:avLst/>
          </a:prstGeom>
          <a:noFill/>
          <a:ln/>
        </p:spPr>
        <p:txBody>
          <a:bodyPr wrap="square" lIns="0" tIns="0" rIns="0" bIns="0" rtlCol="0" anchor="ctr"/>
          <a:lstStyle/>
          <a:p>
            <a:pPr indent="0" marL="0">
              <a:buNone/>
            </a:pPr>
            <a:r>
              <a:rPr lang="en-US" sz="1100" dirty="0">
                <a:solidFill>
                  <a:srgbClr val="A0C4E0"/>
                </a:solidFill>
                <a:latin typeface="Calibri" pitchFamily="34" charset="0"/>
                <a:ea typeface="Calibri" pitchFamily="34" charset="-122"/>
                <a:cs typeface="Calibri" pitchFamily="34" charset="-120"/>
              </a:rPr>
              <a:t>Estimate diffusion (D) and proliferation (ρ) per-voxel.</a:t>
            </a:r>
            <a:endParaRPr lang="en-US" sz="1100" dirty="0"/>
          </a:p>
        </p:txBody>
      </p:sp>
      <p:sp>
        <p:nvSpPr>
          <p:cNvPr id="22" name="Shape 20"/>
          <p:cNvSpPr/>
          <p:nvPr/>
        </p:nvSpPr>
        <p:spPr>
          <a:xfrm>
            <a:off x="4709160" y="3730752"/>
            <a:ext cx="4023360" cy="713232"/>
          </a:xfrm>
          <a:prstGeom prst="rect">
            <a:avLst/>
          </a:prstGeom>
          <a:solidFill>
            <a:srgbClr val="0D2748"/>
          </a:solidFill>
          <a:ln w="12700">
            <a:solidFill>
              <a:srgbClr val="00C9C8"/>
            </a:solidFill>
            <a:prstDash val="solid"/>
          </a:ln>
        </p:spPr>
      </p:sp>
      <p:sp>
        <p:nvSpPr>
          <p:cNvPr id="23" name="Text 21"/>
          <p:cNvSpPr/>
          <p:nvPr/>
        </p:nvSpPr>
        <p:spPr>
          <a:xfrm>
            <a:off x="4828032" y="3767328"/>
            <a:ext cx="3749040" cy="256032"/>
          </a:xfrm>
          <a:prstGeom prst="rect">
            <a:avLst/>
          </a:prstGeom>
          <a:noFill/>
          <a:ln/>
        </p:spPr>
        <p:txBody>
          <a:bodyPr wrap="square" lIns="0" tIns="0" rIns="0" bIns="0" rtlCol="0" anchor="ctr"/>
          <a:lstStyle/>
          <a:p>
            <a:pPr indent="0" marL="0">
              <a:buNone/>
            </a:pPr>
            <a:r>
              <a:rPr lang="en-US" sz="1200" b="1" dirty="0">
                <a:solidFill>
                  <a:srgbClr val="00C9C8"/>
                </a:solidFill>
                <a:latin typeface="Calibri" pitchFamily="34" charset="0"/>
                <a:ea typeface="Calibri" pitchFamily="34" charset="-122"/>
                <a:cs typeface="Calibri" pitchFamily="34" charset="-120"/>
              </a:rPr>
              <a:t>Interpretability</a:t>
            </a:r>
            <a:endParaRPr lang="en-US" sz="1200" dirty="0"/>
          </a:p>
        </p:txBody>
      </p:sp>
      <p:sp>
        <p:nvSpPr>
          <p:cNvPr id="24" name="Text 22"/>
          <p:cNvSpPr/>
          <p:nvPr/>
        </p:nvSpPr>
        <p:spPr>
          <a:xfrm>
            <a:off x="4828032" y="4023360"/>
            <a:ext cx="3749040" cy="347472"/>
          </a:xfrm>
          <a:prstGeom prst="rect">
            <a:avLst/>
          </a:prstGeom>
          <a:noFill/>
          <a:ln/>
        </p:spPr>
        <p:txBody>
          <a:bodyPr wrap="square" lIns="0" tIns="0" rIns="0" bIns="0" rtlCol="0" anchor="ctr"/>
          <a:lstStyle/>
          <a:p>
            <a:pPr indent="0" marL="0">
              <a:buNone/>
            </a:pPr>
            <a:r>
              <a:rPr lang="en-US" sz="1100" dirty="0">
                <a:solidFill>
                  <a:srgbClr val="A0C4E0"/>
                </a:solidFill>
                <a:latin typeface="Calibri" pitchFamily="34" charset="0"/>
                <a:ea typeface="Calibri" pitchFamily="34" charset="-122"/>
                <a:cs typeface="Calibri" pitchFamily="34" charset="-120"/>
              </a:rPr>
              <a:t>Results grounded in validated biological equations (Fisher-KPP).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Motivation — Why Physics + Deep Learning?</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3 / 20</a:t>
            </a:r>
            <a:endParaRPr lang="en-US" sz="900" dirty="0"/>
          </a:p>
        </p:txBody>
      </p:sp>
      <p:sp>
        <p:nvSpPr>
          <p:cNvPr id="6" name="Shape 4"/>
          <p:cNvSpPr/>
          <p:nvPr/>
        </p:nvSpPr>
        <p:spPr>
          <a:xfrm>
            <a:off x="274320" y="822960"/>
            <a:ext cx="2651760" cy="1188720"/>
          </a:xfrm>
          <a:prstGeom prst="rect">
            <a:avLst/>
          </a:prstGeom>
          <a:solidFill>
            <a:srgbClr val="1A4A7A"/>
          </a:solidFill>
          <a:ln w="12700">
            <a:solidFill>
              <a:srgbClr val="1A4A7A"/>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274320" y="868680"/>
            <a:ext cx="265176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484</a:t>
            </a:r>
            <a:endParaRPr lang="en-US" sz="3800" dirty="0"/>
          </a:p>
        </p:txBody>
      </p:sp>
      <p:sp>
        <p:nvSpPr>
          <p:cNvPr id="8" name="Text 6"/>
          <p:cNvSpPr/>
          <p:nvPr/>
        </p:nvSpPr>
        <p:spPr>
          <a:xfrm>
            <a:off x="274320" y="1463040"/>
            <a:ext cx="265176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Patient Scans</a:t>
            </a:r>
            <a:endParaRPr lang="en-US" sz="1200" dirty="0"/>
          </a:p>
        </p:txBody>
      </p:sp>
      <p:sp>
        <p:nvSpPr>
          <p:cNvPr id="9" name="Text 7"/>
          <p:cNvSpPr/>
          <p:nvPr/>
        </p:nvSpPr>
        <p:spPr>
          <a:xfrm>
            <a:off x="274320" y="1719072"/>
            <a:ext cx="2651760" cy="228600"/>
          </a:xfrm>
          <a:prstGeom prst="rect">
            <a:avLst/>
          </a:prstGeom>
          <a:noFill/>
          <a:ln/>
        </p:spPr>
        <p:txBody>
          <a:bodyPr wrap="square" lIns="0" tIns="0" rIns="0" bIns="0" rtlCol="0" anchor="ctr"/>
          <a:lstStyle/>
          <a:p>
            <a:pPr algn="ctr" indent="0" marL="0">
              <a:buNone/>
            </a:pPr>
            <a:r>
              <a:rPr lang="en-US" sz="1000" dirty="0">
                <a:solidFill>
                  <a:srgbClr val="B0D0F0"/>
                </a:solidFill>
                <a:latin typeface="Calibri" pitchFamily="34" charset="0"/>
                <a:ea typeface="Calibri" pitchFamily="34" charset="-122"/>
                <a:cs typeface="Calibri" pitchFamily="34" charset="-120"/>
              </a:rPr>
              <a:t>BraTS MSD dataset</a:t>
            </a:r>
            <a:endParaRPr lang="en-US" sz="1000" dirty="0"/>
          </a:p>
        </p:txBody>
      </p:sp>
      <p:sp>
        <p:nvSpPr>
          <p:cNvPr id="10" name="Shape 8"/>
          <p:cNvSpPr/>
          <p:nvPr/>
        </p:nvSpPr>
        <p:spPr>
          <a:xfrm>
            <a:off x="3200400" y="822960"/>
            <a:ext cx="2651760" cy="1188720"/>
          </a:xfrm>
          <a:prstGeom prst="rect">
            <a:avLst/>
          </a:prstGeom>
          <a:solidFill>
            <a:srgbClr val="009B9B"/>
          </a:solidFill>
          <a:ln w="12700">
            <a:solidFill>
              <a:srgbClr val="009B9B"/>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3200400" y="868680"/>
            <a:ext cx="265176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4</a:t>
            </a:r>
            <a:endParaRPr lang="en-US" sz="3800" dirty="0"/>
          </a:p>
        </p:txBody>
      </p:sp>
      <p:sp>
        <p:nvSpPr>
          <p:cNvPr id="12" name="Text 10"/>
          <p:cNvSpPr/>
          <p:nvPr/>
        </p:nvSpPr>
        <p:spPr>
          <a:xfrm>
            <a:off x="3200400" y="1463040"/>
            <a:ext cx="265176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MRI Modalities</a:t>
            </a:r>
            <a:endParaRPr lang="en-US" sz="1200" dirty="0"/>
          </a:p>
        </p:txBody>
      </p:sp>
      <p:sp>
        <p:nvSpPr>
          <p:cNvPr id="13" name="Text 11"/>
          <p:cNvSpPr/>
          <p:nvPr/>
        </p:nvSpPr>
        <p:spPr>
          <a:xfrm>
            <a:off x="3200400" y="1719072"/>
            <a:ext cx="2651760" cy="228600"/>
          </a:xfrm>
          <a:prstGeom prst="rect">
            <a:avLst/>
          </a:prstGeom>
          <a:noFill/>
          <a:ln/>
        </p:spPr>
        <p:txBody>
          <a:bodyPr wrap="square" lIns="0" tIns="0" rIns="0" bIns="0" rtlCol="0" anchor="ctr"/>
          <a:lstStyle/>
          <a:p>
            <a:pPr algn="ctr" indent="0" marL="0">
              <a:buNone/>
            </a:pPr>
            <a:r>
              <a:rPr lang="en-US" sz="1000" dirty="0">
                <a:solidFill>
                  <a:srgbClr val="B0D0F0"/>
                </a:solidFill>
                <a:latin typeface="Calibri" pitchFamily="34" charset="0"/>
                <a:ea typeface="Calibri" pitchFamily="34" charset="-122"/>
                <a:cs typeface="Calibri" pitchFamily="34" charset="-120"/>
              </a:rPr>
              <a:t>T1, T1ce, T2, FLAIR</a:t>
            </a:r>
            <a:endParaRPr lang="en-US" sz="1000" dirty="0"/>
          </a:p>
        </p:txBody>
      </p:sp>
      <p:sp>
        <p:nvSpPr>
          <p:cNvPr id="14" name="Shape 12"/>
          <p:cNvSpPr/>
          <p:nvPr/>
        </p:nvSpPr>
        <p:spPr>
          <a:xfrm>
            <a:off x="6126480" y="822960"/>
            <a:ext cx="2651760" cy="1188720"/>
          </a:xfrm>
          <a:prstGeom prst="rect">
            <a:avLst/>
          </a:prstGeom>
          <a:solidFill>
            <a:srgbClr val="6A2C8C"/>
          </a:solidFill>
          <a:ln w="12700">
            <a:solidFill>
              <a:srgbClr val="6A2C8C"/>
            </a:solidFill>
            <a:prstDash val="solid"/>
          </a:ln>
          <a:effectLst>
            <a:outerShdw sx="100000" sy="100000" kx="0" ky="0" algn="bl" rotWithShape="0" blurRad="101600" dist="38100" dir="8100000">
              <a:srgbClr val="000000">
                <a:alpha val="20000"/>
              </a:srgbClr>
            </a:outerShdw>
          </a:effectLst>
        </p:spPr>
      </p:sp>
      <p:sp>
        <p:nvSpPr>
          <p:cNvPr id="15" name="Text 13"/>
          <p:cNvSpPr/>
          <p:nvPr/>
        </p:nvSpPr>
        <p:spPr>
          <a:xfrm>
            <a:off x="6126480" y="868680"/>
            <a:ext cx="265176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∂u/∂t</a:t>
            </a:r>
            <a:endParaRPr lang="en-US" sz="3800" dirty="0"/>
          </a:p>
        </p:txBody>
      </p:sp>
      <p:sp>
        <p:nvSpPr>
          <p:cNvPr id="16" name="Text 14"/>
          <p:cNvSpPr/>
          <p:nvPr/>
        </p:nvSpPr>
        <p:spPr>
          <a:xfrm>
            <a:off x="6126480" y="1463040"/>
            <a:ext cx="265176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Fisher-KPP PDE</a:t>
            </a:r>
            <a:endParaRPr lang="en-US" sz="1200" dirty="0"/>
          </a:p>
        </p:txBody>
      </p:sp>
      <p:sp>
        <p:nvSpPr>
          <p:cNvPr id="17" name="Text 15"/>
          <p:cNvSpPr/>
          <p:nvPr/>
        </p:nvSpPr>
        <p:spPr>
          <a:xfrm>
            <a:off x="6126480" y="1719072"/>
            <a:ext cx="2651760" cy="228600"/>
          </a:xfrm>
          <a:prstGeom prst="rect">
            <a:avLst/>
          </a:prstGeom>
          <a:noFill/>
          <a:ln/>
        </p:spPr>
        <p:txBody>
          <a:bodyPr wrap="square" lIns="0" tIns="0" rIns="0" bIns="0" rtlCol="0" anchor="ctr"/>
          <a:lstStyle/>
          <a:p>
            <a:pPr algn="ctr" indent="0" marL="0">
              <a:buNone/>
            </a:pPr>
            <a:r>
              <a:rPr lang="en-US" sz="1000" dirty="0">
                <a:solidFill>
                  <a:srgbClr val="B0D0F0"/>
                </a:solidFill>
                <a:latin typeface="Calibri" pitchFamily="34" charset="0"/>
                <a:ea typeface="Calibri" pitchFamily="34" charset="-122"/>
                <a:cs typeface="Calibri" pitchFamily="34" charset="-120"/>
              </a:rPr>
              <a:t>Governing equation</a:t>
            </a:r>
            <a:endParaRPr lang="en-US" sz="1000" dirty="0"/>
          </a:p>
        </p:txBody>
      </p:sp>
      <p:sp>
        <p:nvSpPr>
          <p:cNvPr id="18" name="Shape 16"/>
          <p:cNvSpPr/>
          <p:nvPr/>
        </p:nvSpPr>
        <p:spPr>
          <a:xfrm>
            <a:off x="274320" y="2148840"/>
            <a:ext cx="4206240" cy="13258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pic>
        <p:nvPicPr>
          <p:cNvPr id="19" name="Image 0" descr="preencoded.png">    </p:cNvPr>
          <p:cNvPicPr>
            <a:picLocks noChangeAspect="1"/>
          </p:cNvPicPr>
          <p:nvPr/>
        </p:nvPicPr>
        <p:blipFill>
          <a:blip r:embed="rId1"/>
          <a:stretch>
            <a:fillRect/>
          </a:stretch>
        </p:blipFill>
        <p:spPr>
          <a:xfrm>
            <a:off x="411480" y="2221992"/>
            <a:ext cx="384048" cy="384048"/>
          </a:xfrm>
          <a:prstGeom prst="rect">
            <a:avLst/>
          </a:prstGeom>
        </p:spPr>
      </p:pic>
      <p:sp>
        <p:nvSpPr>
          <p:cNvPr id="20" name="Text 17"/>
          <p:cNvSpPr/>
          <p:nvPr/>
        </p:nvSpPr>
        <p:spPr>
          <a:xfrm>
            <a:off x="868680" y="2221992"/>
            <a:ext cx="3474720" cy="274320"/>
          </a:xfrm>
          <a:prstGeom prst="rect">
            <a:avLst/>
          </a:prstGeom>
          <a:noFill/>
          <a:ln/>
        </p:spPr>
        <p:txBody>
          <a:bodyPr wrap="square" lIns="0" tIns="0" rIns="0" bIns="0" rtlCol="0" anchor="ctr"/>
          <a:lstStyle/>
          <a:p>
            <a:pPr indent="0" marL="0">
              <a:buNone/>
            </a:pPr>
            <a:r>
              <a:rPr lang="en-US" sz="1200" b="1" dirty="0">
                <a:solidFill>
                  <a:srgbClr val="0B1E3D"/>
                </a:solidFill>
                <a:latin typeface="Calibri" pitchFamily="34" charset="0"/>
                <a:ea typeface="Calibri" pitchFamily="34" charset="-122"/>
                <a:cs typeface="Calibri" pitchFamily="34" charset="-120"/>
              </a:rPr>
              <a:t>Data-Driven Alone is Not Enough</a:t>
            </a:r>
            <a:endParaRPr lang="en-US" sz="1200" dirty="0"/>
          </a:p>
        </p:txBody>
      </p:sp>
      <p:sp>
        <p:nvSpPr>
          <p:cNvPr id="21" name="Text 18"/>
          <p:cNvSpPr/>
          <p:nvPr/>
        </p:nvSpPr>
        <p:spPr>
          <a:xfrm>
            <a:off x="411480" y="2587752"/>
            <a:ext cx="3977640" cy="777240"/>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CNNs learn patterns but have no concept of biological correctness. A model that predicts tumor shrinkage without biological constraints is unreliable.</a:t>
            </a:r>
            <a:endParaRPr lang="en-US" sz="1100" dirty="0"/>
          </a:p>
        </p:txBody>
      </p:sp>
      <p:sp>
        <p:nvSpPr>
          <p:cNvPr id="22" name="Shape 19"/>
          <p:cNvSpPr/>
          <p:nvPr/>
        </p:nvSpPr>
        <p:spPr>
          <a:xfrm>
            <a:off x="4709160" y="2148840"/>
            <a:ext cx="4206240" cy="13258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pic>
        <p:nvPicPr>
          <p:cNvPr id="23" name="Image 1" descr="preencoded.png">    </p:cNvPr>
          <p:cNvPicPr>
            <a:picLocks noChangeAspect="1"/>
          </p:cNvPicPr>
          <p:nvPr/>
        </p:nvPicPr>
        <p:blipFill>
          <a:blip r:embed="rId2"/>
          <a:stretch>
            <a:fillRect/>
          </a:stretch>
        </p:blipFill>
        <p:spPr>
          <a:xfrm>
            <a:off x="4846320" y="2221992"/>
            <a:ext cx="384048" cy="384048"/>
          </a:xfrm>
          <a:prstGeom prst="rect">
            <a:avLst/>
          </a:prstGeom>
        </p:spPr>
      </p:pic>
      <p:sp>
        <p:nvSpPr>
          <p:cNvPr id="24" name="Text 20"/>
          <p:cNvSpPr/>
          <p:nvPr/>
        </p:nvSpPr>
        <p:spPr>
          <a:xfrm>
            <a:off x="5303520" y="2221992"/>
            <a:ext cx="3474720" cy="274320"/>
          </a:xfrm>
          <a:prstGeom prst="rect">
            <a:avLst/>
          </a:prstGeom>
          <a:noFill/>
          <a:ln/>
        </p:spPr>
        <p:txBody>
          <a:bodyPr wrap="square" lIns="0" tIns="0" rIns="0" bIns="0" rtlCol="0" anchor="ctr"/>
          <a:lstStyle/>
          <a:p>
            <a:pPr indent="0" marL="0">
              <a:buNone/>
            </a:pPr>
            <a:r>
              <a:rPr lang="en-US" sz="1200" b="1" dirty="0">
                <a:solidFill>
                  <a:srgbClr val="0B1E3D"/>
                </a:solidFill>
                <a:latin typeface="Calibri" pitchFamily="34" charset="0"/>
                <a:ea typeface="Calibri" pitchFamily="34" charset="-122"/>
                <a:cs typeface="Calibri" pitchFamily="34" charset="-120"/>
              </a:rPr>
              <a:t>Physics Adds Interpretability</a:t>
            </a:r>
            <a:endParaRPr lang="en-US" sz="1200" dirty="0"/>
          </a:p>
        </p:txBody>
      </p:sp>
      <p:sp>
        <p:nvSpPr>
          <p:cNvPr id="25" name="Text 21"/>
          <p:cNvSpPr/>
          <p:nvPr/>
        </p:nvSpPr>
        <p:spPr>
          <a:xfrm>
            <a:off x="4846320" y="2587752"/>
            <a:ext cx="3977640" cy="777240"/>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By enforcing the Fisher-KPP PDE, every prediction is grounded in validated biophysics. Results are explainable to clinicians and reviewers.</a:t>
            </a:r>
            <a:endParaRPr lang="en-US" sz="1100" dirty="0"/>
          </a:p>
        </p:txBody>
      </p:sp>
      <p:sp>
        <p:nvSpPr>
          <p:cNvPr id="26" name="Shape 22"/>
          <p:cNvSpPr/>
          <p:nvPr/>
        </p:nvSpPr>
        <p:spPr>
          <a:xfrm>
            <a:off x="274320" y="3611880"/>
            <a:ext cx="4206240" cy="13258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pic>
        <p:nvPicPr>
          <p:cNvPr id="27" name="Image 2" descr="preencoded.png">    </p:cNvPr>
          <p:cNvPicPr>
            <a:picLocks noChangeAspect="1"/>
          </p:cNvPicPr>
          <p:nvPr/>
        </p:nvPicPr>
        <p:blipFill>
          <a:blip r:embed="rId3"/>
          <a:stretch>
            <a:fillRect/>
          </a:stretch>
        </p:blipFill>
        <p:spPr>
          <a:xfrm>
            <a:off x="411480" y="3685032"/>
            <a:ext cx="384048" cy="384048"/>
          </a:xfrm>
          <a:prstGeom prst="rect">
            <a:avLst/>
          </a:prstGeom>
        </p:spPr>
      </p:pic>
      <p:sp>
        <p:nvSpPr>
          <p:cNvPr id="28" name="Text 23"/>
          <p:cNvSpPr/>
          <p:nvPr/>
        </p:nvSpPr>
        <p:spPr>
          <a:xfrm>
            <a:off x="868680" y="3685032"/>
            <a:ext cx="3474720" cy="274320"/>
          </a:xfrm>
          <a:prstGeom prst="rect">
            <a:avLst/>
          </a:prstGeom>
          <a:noFill/>
          <a:ln/>
        </p:spPr>
        <p:txBody>
          <a:bodyPr wrap="square" lIns="0" tIns="0" rIns="0" bIns="0" rtlCol="0" anchor="ctr"/>
          <a:lstStyle/>
          <a:p>
            <a:pPr indent="0" marL="0">
              <a:buNone/>
            </a:pPr>
            <a:r>
              <a:rPr lang="en-US" sz="1200" b="1" dirty="0">
                <a:solidFill>
                  <a:srgbClr val="0B1E3D"/>
                </a:solidFill>
                <a:latin typeface="Calibri" pitchFamily="34" charset="0"/>
                <a:ea typeface="Calibri" pitchFamily="34" charset="-122"/>
                <a:cs typeface="Calibri" pitchFamily="34" charset="-120"/>
              </a:rPr>
              <a:t>Cross-Sectional Data Problem</a:t>
            </a:r>
            <a:endParaRPr lang="en-US" sz="1200" dirty="0"/>
          </a:p>
        </p:txBody>
      </p:sp>
      <p:sp>
        <p:nvSpPr>
          <p:cNvPr id="29" name="Text 24"/>
          <p:cNvSpPr/>
          <p:nvPr/>
        </p:nvSpPr>
        <p:spPr>
          <a:xfrm>
            <a:off x="411480" y="4050792"/>
            <a:ext cx="3977640" cy="777240"/>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BraTS contains only single-timepoint scans. Synthetic temporal data from PDE simulation enables temporal supervision without real longitudinal scans.</a:t>
            </a:r>
            <a:endParaRPr lang="en-US" sz="1100" dirty="0"/>
          </a:p>
        </p:txBody>
      </p:sp>
      <p:sp>
        <p:nvSpPr>
          <p:cNvPr id="30" name="Shape 25"/>
          <p:cNvSpPr/>
          <p:nvPr/>
        </p:nvSpPr>
        <p:spPr>
          <a:xfrm>
            <a:off x="4709160" y="3611880"/>
            <a:ext cx="4206240" cy="13258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pic>
        <p:nvPicPr>
          <p:cNvPr id="31" name="Image 3" descr="preencoded.png">    </p:cNvPr>
          <p:cNvPicPr>
            <a:picLocks noChangeAspect="1"/>
          </p:cNvPicPr>
          <p:nvPr/>
        </p:nvPicPr>
        <p:blipFill>
          <a:blip r:embed="rId4"/>
          <a:stretch>
            <a:fillRect/>
          </a:stretch>
        </p:blipFill>
        <p:spPr>
          <a:xfrm>
            <a:off x="4846320" y="3685032"/>
            <a:ext cx="384048" cy="384048"/>
          </a:xfrm>
          <a:prstGeom prst="rect">
            <a:avLst/>
          </a:prstGeom>
        </p:spPr>
      </p:pic>
      <p:sp>
        <p:nvSpPr>
          <p:cNvPr id="32" name="Text 26"/>
          <p:cNvSpPr/>
          <p:nvPr/>
        </p:nvSpPr>
        <p:spPr>
          <a:xfrm>
            <a:off x="5303520" y="3685032"/>
            <a:ext cx="3474720" cy="274320"/>
          </a:xfrm>
          <a:prstGeom prst="rect">
            <a:avLst/>
          </a:prstGeom>
          <a:noFill/>
          <a:ln/>
        </p:spPr>
        <p:txBody>
          <a:bodyPr wrap="square" lIns="0" tIns="0" rIns="0" bIns="0" rtlCol="0" anchor="ctr"/>
          <a:lstStyle/>
          <a:p>
            <a:pPr indent="0" marL="0">
              <a:buNone/>
            </a:pPr>
            <a:r>
              <a:rPr lang="en-US" sz="1200" b="1" dirty="0">
                <a:solidFill>
                  <a:srgbClr val="0B1E3D"/>
                </a:solidFill>
                <a:latin typeface="Calibri" pitchFamily="34" charset="0"/>
                <a:ea typeface="Calibri" pitchFamily="34" charset="-122"/>
                <a:cs typeface="Calibri" pitchFamily="34" charset="-120"/>
              </a:rPr>
              <a:t>Clinical Impact</a:t>
            </a:r>
            <a:endParaRPr lang="en-US" sz="1200" dirty="0"/>
          </a:p>
        </p:txBody>
      </p:sp>
      <p:sp>
        <p:nvSpPr>
          <p:cNvPr id="33" name="Text 27"/>
          <p:cNvSpPr/>
          <p:nvPr/>
        </p:nvSpPr>
        <p:spPr>
          <a:xfrm>
            <a:off x="4846320" y="4050792"/>
            <a:ext cx="3977640" cy="777240"/>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Accurate tumor growth prediction enables better surgical planning, radiotherapy targeting, and patient-specific treatment decisions.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Background — Glioma Biology &amp; Growth Dynamics</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4 / 20</a:t>
            </a:r>
            <a:endParaRPr lang="en-US" sz="900" dirty="0"/>
          </a:p>
        </p:txBody>
      </p:sp>
      <p:sp>
        <p:nvSpPr>
          <p:cNvPr id="6" name="Shape 4"/>
          <p:cNvSpPr/>
          <p:nvPr/>
        </p:nvSpPr>
        <p:spPr>
          <a:xfrm>
            <a:off x="274320" y="777240"/>
            <a:ext cx="3931920" cy="4114800"/>
          </a:xfrm>
          <a:prstGeom prst="rect">
            <a:avLst/>
          </a:prstGeom>
          <a:solidFill>
            <a:srgbClr val="0B1E3D"/>
          </a:solidFill>
          <a:ln w="12700">
            <a:solidFill>
              <a:srgbClr val="0B1E3D"/>
            </a:solidFill>
            <a:prstDash val="solid"/>
          </a:ln>
        </p:spPr>
      </p:sp>
      <p:sp>
        <p:nvSpPr>
          <p:cNvPr id="7" name="Shape 5"/>
          <p:cNvSpPr/>
          <p:nvPr/>
        </p:nvSpPr>
        <p:spPr>
          <a:xfrm>
            <a:off x="274320" y="777240"/>
            <a:ext cx="3931920" cy="320040"/>
          </a:xfrm>
          <a:prstGeom prst="rect">
            <a:avLst/>
          </a:prstGeom>
          <a:solidFill>
            <a:srgbClr val="1A4A7A"/>
          </a:solidFill>
          <a:ln w="12700">
            <a:solidFill>
              <a:srgbClr val="1A4A7A"/>
            </a:solidFill>
            <a:prstDash val="solid"/>
          </a:ln>
        </p:spPr>
      </p:sp>
      <p:sp>
        <p:nvSpPr>
          <p:cNvPr id="8" name="Text 6"/>
          <p:cNvSpPr/>
          <p:nvPr/>
        </p:nvSpPr>
        <p:spPr>
          <a:xfrm>
            <a:off x="411480" y="777240"/>
            <a:ext cx="3657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Glioma — The Biology</a:t>
            </a:r>
            <a:endParaRPr lang="en-US" sz="1200" dirty="0"/>
          </a:p>
        </p:txBody>
      </p:sp>
      <p:sp>
        <p:nvSpPr>
          <p:cNvPr id="9" name="Text 7"/>
          <p:cNvSpPr/>
          <p:nvPr/>
        </p:nvSpPr>
        <p:spPr>
          <a:xfrm>
            <a:off x="457200" y="1188720"/>
            <a:ext cx="3566160" cy="256032"/>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Diffuse Growth</a:t>
            </a:r>
            <a:endParaRPr lang="en-US" sz="1100" dirty="0"/>
          </a:p>
        </p:txBody>
      </p:sp>
      <p:sp>
        <p:nvSpPr>
          <p:cNvPr id="10" name="Text 8"/>
          <p:cNvSpPr/>
          <p:nvPr/>
        </p:nvSpPr>
        <p:spPr>
          <a:xfrm>
            <a:off x="457200" y="1444752"/>
            <a:ext cx="3566160" cy="530352"/>
          </a:xfrm>
          <a:prstGeom prst="rect">
            <a:avLst/>
          </a:prstGeom>
          <a:noFill/>
          <a:ln/>
        </p:spPr>
        <p:txBody>
          <a:bodyPr wrap="square" lIns="0" tIns="0" rIns="0" bIns="0" rtlCol="0" anchor="ctr"/>
          <a:lstStyle/>
          <a:p>
            <a:pPr indent="0" marL="0">
              <a:buNone/>
            </a:pPr>
            <a:r>
              <a:rPr lang="en-US" sz="1050" dirty="0">
                <a:solidFill>
                  <a:srgbClr val="A8C8E8"/>
                </a:solidFill>
                <a:latin typeface="Calibri" pitchFamily="34" charset="0"/>
                <a:ea typeface="Calibri" pitchFamily="34" charset="-122"/>
                <a:cs typeface="Calibri" pitchFamily="34" charset="-120"/>
              </a:rPr>
              <a:t>Unlike other cancers, glioma cells do not form a solid mass — they infiltrate healthy brain tissue along white matter tracts.</a:t>
            </a:r>
            <a:endParaRPr lang="en-US" sz="1050" dirty="0"/>
          </a:p>
        </p:txBody>
      </p:sp>
      <p:sp>
        <p:nvSpPr>
          <p:cNvPr id="11" name="Text 9"/>
          <p:cNvSpPr/>
          <p:nvPr/>
        </p:nvSpPr>
        <p:spPr>
          <a:xfrm>
            <a:off x="457200" y="2057400"/>
            <a:ext cx="3566160" cy="256032"/>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Invisible Invasion</a:t>
            </a:r>
            <a:endParaRPr lang="en-US" sz="1100" dirty="0"/>
          </a:p>
        </p:txBody>
      </p:sp>
      <p:sp>
        <p:nvSpPr>
          <p:cNvPr id="12" name="Text 10"/>
          <p:cNvSpPr/>
          <p:nvPr/>
        </p:nvSpPr>
        <p:spPr>
          <a:xfrm>
            <a:off x="457200" y="2313432"/>
            <a:ext cx="3566160" cy="530352"/>
          </a:xfrm>
          <a:prstGeom prst="rect">
            <a:avLst/>
          </a:prstGeom>
          <a:noFill/>
          <a:ln/>
        </p:spPr>
        <p:txBody>
          <a:bodyPr wrap="square" lIns="0" tIns="0" rIns="0" bIns="0" rtlCol="0" anchor="ctr"/>
          <a:lstStyle/>
          <a:p>
            <a:pPr indent="0" marL="0">
              <a:buNone/>
            </a:pPr>
            <a:r>
              <a:rPr lang="en-US" sz="1050" dirty="0">
                <a:solidFill>
                  <a:srgbClr val="A8C8E8"/>
                </a:solidFill>
                <a:latin typeface="Calibri" pitchFamily="34" charset="0"/>
                <a:ea typeface="Calibri" pitchFamily="34" charset="-122"/>
                <a:cs typeface="Calibri" pitchFamily="34" charset="-120"/>
              </a:rPr>
              <a:t>MRI only shows the dense core. Microscopic tumor cells extend 2–4 cm beyond the visible boundary, invisible on conventional imaging.</a:t>
            </a:r>
            <a:endParaRPr lang="en-US" sz="1050" dirty="0"/>
          </a:p>
        </p:txBody>
      </p:sp>
      <p:sp>
        <p:nvSpPr>
          <p:cNvPr id="13" name="Text 11"/>
          <p:cNvSpPr/>
          <p:nvPr/>
        </p:nvSpPr>
        <p:spPr>
          <a:xfrm>
            <a:off x="457200" y="2926080"/>
            <a:ext cx="3566160" cy="256032"/>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Tissue Heterogeneity</a:t>
            </a:r>
            <a:endParaRPr lang="en-US" sz="1100" dirty="0"/>
          </a:p>
        </p:txBody>
      </p:sp>
      <p:sp>
        <p:nvSpPr>
          <p:cNvPr id="14" name="Text 12"/>
          <p:cNvSpPr/>
          <p:nvPr/>
        </p:nvSpPr>
        <p:spPr>
          <a:xfrm>
            <a:off x="457200" y="3182112"/>
            <a:ext cx="3566160" cy="530352"/>
          </a:xfrm>
          <a:prstGeom prst="rect">
            <a:avLst/>
          </a:prstGeom>
          <a:noFill/>
          <a:ln/>
        </p:spPr>
        <p:txBody>
          <a:bodyPr wrap="square" lIns="0" tIns="0" rIns="0" bIns="0" rtlCol="0" anchor="ctr"/>
          <a:lstStyle/>
          <a:p>
            <a:pPr indent="0" marL="0">
              <a:buNone/>
            </a:pPr>
            <a:r>
              <a:rPr lang="en-US" sz="1050" dirty="0">
                <a:solidFill>
                  <a:srgbClr val="A8C8E8"/>
                </a:solidFill>
                <a:latin typeface="Calibri" pitchFamily="34" charset="0"/>
                <a:ea typeface="Calibri" pitchFamily="34" charset="-122"/>
                <a:cs typeface="Calibri" pitchFamily="34" charset="-120"/>
              </a:rPr>
              <a:t>White matter (axon highways) allows fast diffusion (D ≈ 0.08 mm²/day). Grey matter is dense, allowing slower spread (D ≈ 0.016 mm²/day).</a:t>
            </a:r>
            <a:endParaRPr lang="en-US" sz="1050" dirty="0"/>
          </a:p>
        </p:txBody>
      </p:sp>
      <p:sp>
        <p:nvSpPr>
          <p:cNvPr id="15" name="Text 13"/>
          <p:cNvSpPr/>
          <p:nvPr/>
        </p:nvSpPr>
        <p:spPr>
          <a:xfrm>
            <a:off x="457200" y="3794760"/>
            <a:ext cx="3566160" cy="256032"/>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Proliferation Rate</a:t>
            </a:r>
            <a:endParaRPr lang="en-US" sz="1100" dirty="0"/>
          </a:p>
        </p:txBody>
      </p:sp>
      <p:sp>
        <p:nvSpPr>
          <p:cNvPr id="16" name="Text 14"/>
          <p:cNvSpPr/>
          <p:nvPr/>
        </p:nvSpPr>
        <p:spPr>
          <a:xfrm>
            <a:off x="457200" y="4050792"/>
            <a:ext cx="3566160" cy="530352"/>
          </a:xfrm>
          <a:prstGeom prst="rect">
            <a:avLst/>
          </a:prstGeom>
          <a:noFill/>
          <a:ln/>
        </p:spPr>
        <p:txBody>
          <a:bodyPr wrap="square" lIns="0" tIns="0" rIns="0" bIns="0" rtlCol="0" anchor="ctr"/>
          <a:lstStyle/>
          <a:p>
            <a:pPr indent="0" marL="0">
              <a:buNone/>
            </a:pPr>
            <a:r>
              <a:rPr lang="en-US" sz="1050" dirty="0">
                <a:solidFill>
                  <a:srgbClr val="A8C8E8"/>
                </a:solidFill>
                <a:latin typeface="Calibri" pitchFamily="34" charset="0"/>
                <a:ea typeface="Calibri" pitchFamily="34" charset="-122"/>
                <a:cs typeface="Calibri" pitchFamily="34" charset="-120"/>
              </a:rPr>
              <a:t>Glioma cells divide every 36–72 hours in the active region. Proliferation rate ρ ≈ 0.012–0.025 per day (Swanson 2000).</a:t>
            </a:r>
            <a:endParaRPr lang="en-US" sz="1050" dirty="0"/>
          </a:p>
        </p:txBody>
      </p:sp>
      <p:sp>
        <p:nvSpPr>
          <p:cNvPr id="17" name="Shape 15"/>
          <p:cNvSpPr/>
          <p:nvPr/>
        </p:nvSpPr>
        <p:spPr>
          <a:xfrm>
            <a:off x="4434840" y="777240"/>
            <a:ext cx="4434840" cy="4114800"/>
          </a:xfrm>
          <a:prstGeom prst="rect">
            <a:avLst/>
          </a:prstGeom>
          <a:solidFill>
            <a:srgbClr val="FFFFFF"/>
          </a:solidFill>
          <a:ln w="12700">
            <a:solidFill>
              <a:srgbClr val="D0DCF0"/>
            </a:solidFill>
            <a:prstDash val="solid"/>
          </a:ln>
        </p:spPr>
      </p:sp>
      <p:sp>
        <p:nvSpPr>
          <p:cNvPr id="18" name="Text 16"/>
          <p:cNvSpPr/>
          <p:nvPr/>
        </p:nvSpPr>
        <p:spPr>
          <a:xfrm>
            <a:off x="4434840" y="777240"/>
            <a:ext cx="4434840" cy="320040"/>
          </a:xfrm>
          <a:prstGeom prst="rect">
            <a:avLst/>
          </a:prstGeom>
          <a:noFill/>
          <a:ln/>
        </p:spPr>
        <p:txBody>
          <a:bodyPr wrap="square" lIns="0" tIns="0" rIns="0" bIns="0" rtlCol="0" anchor="ctr"/>
          <a:lstStyle/>
          <a:p>
            <a:pPr algn="ctr" indent="0" marL="0">
              <a:buNone/>
            </a:pPr>
            <a:r>
              <a:rPr lang="en-US" sz="1200" b="1" dirty="0">
                <a:solidFill>
                  <a:srgbClr val="0B1E3D"/>
                </a:solidFill>
                <a:latin typeface="Calibri" pitchFamily="34" charset="0"/>
                <a:ea typeface="Calibri" pitchFamily="34" charset="-122"/>
                <a:cs typeface="Calibri" pitchFamily="34" charset="-120"/>
              </a:rPr>
              <a:t>Tumor Sub-Region Anatomy</a:t>
            </a:r>
            <a:endParaRPr lang="en-US" sz="1200" dirty="0"/>
          </a:p>
        </p:txBody>
      </p:sp>
      <p:sp>
        <p:nvSpPr>
          <p:cNvPr id="19" name="Shape 17"/>
          <p:cNvSpPr/>
          <p:nvPr/>
        </p:nvSpPr>
        <p:spPr>
          <a:xfrm>
            <a:off x="4434840" y="777240"/>
            <a:ext cx="4434840" cy="320040"/>
          </a:xfrm>
          <a:prstGeom prst="rect">
            <a:avLst/>
          </a:prstGeom>
          <a:solidFill>
            <a:srgbClr val="E8F0FC"/>
          </a:solidFill>
          <a:ln w="12700">
            <a:solidFill>
              <a:srgbClr val="D0DCF0"/>
            </a:solidFill>
            <a:prstDash val="solid"/>
          </a:ln>
        </p:spPr>
      </p:sp>
      <p:sp>
        <p:nvSpPr>
          <p:cNvPr id="20" name="Shape 18"/>
          <p:cNvSpPr/>
          <p:nvPr/>
        </p:nvSpPr>
        <p:spPr>
          <a:xfrm>
            <a:off x="4828032" y="1371600"/>
            <a:ext cx="3657600" cy="2743200"/>
          </a:xfrm>
          <a:prstGeom prst="oval">
            <a:avLst/>
          </a:prstGeom>
          <a:solidFill>
            <a:srgbClr val="FFF3CD"/>
          </a:solidFill>
          <a:ln w="12700">
            <a:solidFill>
              <a:srgbClr val="F5A623"/>
            </a:solidFill>
            <a:prstDash val="solid"/>
          </a:ln>
        </p:spPr>
      </p:sp>
      <p:sp>
        <p:nvSpPr>
          <p:cNvPr id="21" name="Shape 19"/>
          <p:cNvSpPr/>
          <p:nvPr/>
        </p:nvSpPr>
        <p:spPr>
          <a:xfrm>
            <a:off x="5513832" y="1920240"/>
            <a:ext cx="2286000" cy="1645920"/>
          </a:xfrm>
          <a:prstGeom prst="oval">
            <a:avLst/>
          </a:prstGeom>
          <a:solidFill>
            <a:srgbClr val="FFD0A0"/>
          </a:solidFill>
          <a:ln w="12700">
            <a:solidFill>
              <a:srgbClr val="E67E22"/>
            </a:solidFill>
            <a:prstDash val="solid"/>
          </a:ln>
        </p:spPr>
      </p:sp>
      <p:sp>
        <p:nvSpPr>
          <p:cNvPr id="22" name="Shape 20"/>
          <p:cNvSpPr/>
          <p:nvPr/>
        </p:nvSpPr>
        <p:spPr>
          <a:xfrm>
            <a:off x="6016752" y="2240280"/>
            <a:ext cx="1280160" cy="1005840"/>
          </a:xfrm>
          <a:prstGeom prst="oval">
            <a:avLst/>
          </a:prstGeom>
          <a:solidFill>
            <a:srgbClr val="FF8060"/>
          </a:solidFill>
          <a:ln w="12700">
            <a:solidFill>
              <a:srgbClr val="E74C3C"/>
            </a:solidFill>
            <a:prstDash val="solid"/>
          </a:ln>
        </p:spPr>
      </p:sp>
      <p:sp>
        <p:nvSpPr>
          <p:cNvPr id="23" name="Shape 21"/>
          <p:cNvSpPr/>
          <p:nvPr/>
        </p:nvSpPr>
        <p:spPr>
          <a:xfrm>
            <a:off x="6336792" y="2487168"/>
            <a:ext cx="640080" cy="512064"/>
          </a:xfrm>
          <a:prstGeom prst="oval">
            <a:avLst/>
          </a:prstGeom>
          <a:solidFill>
            <a:srgbClr val="A0A0A0"/>
          </a:solidFill>
          <a:ln w="12700">
            <a:solidFill>
              <a:srgbClr val="606060"/>
            </a:solidFill>
            <a:prstDash val="solid"/>
          </a:ln>
        </p:spPr>
      </p:sp>
      <p:sp>
        <p:nvSpPr>
          <p:cNvPr id="24" name="Text 22"/>
          <p:cNvSpPr/>
          <p:nvPr/>
        </p:nvSpPr>
        <p:spPr>
          <a:xfrm>
            <a:off x="4572000" y="4160520"/>
            <a:ext cx="1737360" cy="502920"/>
          </a:xfrm>
          <a:prstGeom prst="rect">
            <a:avLst/>
          </a:prstGeom>
          <a:noFill/>
          <a:ln/>
        </p:spPr>
        <p:txBody>
          <a:bodyPr wrap="square" lIns="0" tIns="0" rIns="0" bIns="0" rtlCol="0" anchor="ctr"/>
          <a:lstStyle/>
          <a:p>
            <a:pPr indent="0" marL="0">
              <a:buNone/>
            </a:pPr>
            <a:r>
              <a:rPr lang="en-US" sz="900" dirty="0">
                <a:solidFill>
                  <a:srgbClr val="7A6000"/>
                </a:solidFill>
                <a:latin typeface="Calibri" pitchFamily="34" charset="0"/>
                <a:ea typeface="Calibri" pitchFamily="34" charset="-122"/>
                <a:cs typeface="Calibri" pitchFamily="34" charset="-120"/>
              </a:rPr>
              <a:t>Edema (ED)</a:t>
            </a:r>
            <a:endParaRPr lang="en-US" sz="900" dirty="0"/>
          </a:p>
          <a:p>
            <a:pPr indent="0" marL="0">
              <a:buNone/>
            </a:pPr>
            <a:r>
              <a:rPr lang="en-US" sz="900" dirty="0">
                <a:solidFill>
                  <a:srgbClr val="7A6000"/>
                </a:solidFill>
                <a:latin typeface="Calibri" pitchFamily="34" charset="0"/>
                <a:ea typeface="Calibri" pitchFamily="34" charset="-122"/>
                <a:cs typeface="Calibri" pitchFamily="34" charset="-120"/>
              </a:rPr>
              <a:t>Sparse Infiltration — u ≈ 0.20</a:t>
            </a:r>
            <a:endParaRPr lang="en-US" sz="900" dirty="0"/>
          </a:p>
        </p:txBody>
      </p:sp>
      <p:sp>
        <p:nvSpPr>
          <p:cNvPr id="25" name="Shape 23"/>
          <p:cNvSpPr/>
          <p:nvPr/>
        </p:nvSpPr>
        <p:spPr>
          <a:xfrm>
            <a:off x="4572000" y="4114800"/>
            <a:ext cx="164592" cy="164592"/>
          </a:xfrm>
          <a:prstGeom prst="rect">
            <a:avLst/>
          </a:prstGeom>
          <a:solidFill>
            <a:srgbClr val="FFF3CD"/>
          </a:solidFill>
          <a:ln w="12700">
            <a:solidFill>
              <a:srgbClr val="F5A623"/>
            </a:solidFill>
            <a:prstDash val="solid"/>
          </a:ln>
        </p:spPr>
      </p:sp>
      <p:sp>
        <p:nvSpPr>
          <p:cNvPr id="26" name="Text 24"/>
          <p:cNvSpPr/>
          <p:nvPr/>
        </p:nvSpPr>
        <p:spPr>
          <a:xfrm>
            <a:off x="5989320" y="4160520"/>
            <a:ext cx="1645920" cy="502920"/>
          </a:xfrm>
          <a:prstGeom prst="rect">
            <a:avLst/>
          </a:prstGeom>
          <a:noFill/>
          <a:ln/>
        </p:spPr>
        <p:txBody>
          <a:bodyPr wrap="square" lIns="0" tIns="0" rIns="0" bIns="0" rtlCol="0" anchor="ctr"/>
          <a:lstStyle/>
          <a:p>
            <a:pPr indent="0" marL="0">
              <a:buNone/>
            </a:pPr>
            <a:r>
              <a:rPr lang="en-US" sz="900" dirty="0">
                <a:solidFill>
                  <a:srgbClr val="505050"/>
                </a:solidFill>
                <a:latin typeface="Calibri" pitchFamily="34" charset="0"/>
                <a:ea typeface="Calibri" pitchFamily="34" charset="-122"/>
                <a:cs typeface="Calibri" pitchFamily="34" charset="-120"/>
              </a:rPr>
              <a:t>Necrotic Core (NCR)</a:t>
            </a:r>
            <a:endParaRPr lang="en-US" sz="900" dirty="0"/>
          </a:p>
          <a:p>
            <a:pPr indent="0" marL="0">
              <a:buNone/>
            </a:pPr>
            <a:r>
              <a:rPr lang="en-US" sz="900" dirty="0">
                <a:solidFill>
                  <a:srgbClr val="505050"/>
                </a:solidFill>
                <a:latin typeface="Calibri" pitchFamily="34" charset="0"/>
                <a:ea typeface="Calibri" pitchFamily="34" charset="-122"/>
                <a:cs typeface="Calibri" pitchFamily="34" charset="-120"/>
              </a:rPr>
              <a:t>Dead cells — u ≈ 0.60</a:t>
            </a:r>
            <a:endParaRPr lang="en-US" sz="900" dirty="0"/>
          </a:p>
        </p:txBody>
      </p:sp>
      <p:sp>
        <p:nvSpPr>
          <p:cNvPr id="27" name="Shape 25"/>
          <p:cNvSpPr/>
          <p:nvPr/>
        </p:nvSpPr>
        <p:spPr>
          <a:xfrm>
            <a:off x="5989320" y="4114800"/>
            <a:ext cx="164592" cy="164592"/>
          </a:xfrm>
          <a:prstGeom prst="rect">
            <a:avLst/>
          </a:prstGeom>
          <a:solidFill>
            <a:srgbClr val="A0A0A0"/>
          </a:solidFill>
          <a:ln w="12700">
            <a:solidFill>
              <a:srgbClr val="606060"/>
            </a:solidFill>
            <a:prstDash val="solid"/>
          </a:ln>
        </p:spPr>
      </p:sp>
      <p:sp>
        <p:nvSpPr>
          <p:cNvPr id="28" name="Text 26"/>
          <p:cNvSpPr/>
          <p:nvPr/>
        </p:nvSpPr>
        <p:spPr>
          <a:xfrm>
            <a:off x="7315200" y="4160520"/>
            <a:ext cx="1463040" cy="502920"/>
          </a:xfrm>
          <a:prstGeom prst="rect">
            <a:avLst/>
          </a:prstGeom>
          <a:noFill/>
          <a:ln/>
        </p:spPr>
        <p:txBody>
          <a:bodyPr wrap="square" lIns="0" tIns="0" rIns="0" bIns="0" rtlCol="0" anchor="ctr"/>
          <a:lstStyle/>
          <a:p>
            <a:pPr indent="0" marL="0">
              <a:buNone/>
            </a:pPr>
            <a:r>
              <a:rPr lang="en-US" sz="900" dirty="0">
                <a:solidFill>
                  <a:srgbClr val="8B1A00"/>
                </a:solidFill>
                <a:latin typeface="Calibri" pitchFamily="34" charset="0"/>
                <a:ea typeface="Calibri" pitchFamily="34" charset="-122"/>
                <a:cs typeface="Calibri" pitchFamily="34" charset="-120"/>
              </a:rPr>
              <a:t>Enhancing Tumor (ET)</a:t>
            </a:r>
            <a:endParaRPr lang="en-US" sz="900" dirty="0"/>
          </a:p>
          <a:p>
            <a:pPr indent="0" marL="0">
              <a:buNone/>
            </a:pPr>
            <a:r>
              <a:rPr lang="en-US" sz="900" dirty="0">
                <a:solidFill>
                  <a:srgbClr val="8B1A00"/>
                </a:solidFill>
                <a:latin typeface="Calibri" pitchFamily="34" charset="0"/>
                <a:ea typeface="Calibri" pitchFamily="34" charset="-122"/>
                <a:cs typeface="Calibri" pitchFamily="34" charset="-120"/>
              </a:rPr>
              <a:t>Active cells — u = 1.0</a:t>
            </a:r>
            <a:endParaRPr lang="en-US" sz="900" dirty="0"/>
          </a:p>
        </p:txBody>
      </p:sp>
      <p:sp>
        <p:nvSpPr>
          <p:cNvPr id="29" name="Shape 27"/>
          <p:cNvSpPr/>
          <p:nvPr/>
        </p:nvSpPr>
        <p:spPr>
          <a:xfrm>
            <a:off x="7315200" y="4114800"/>
            <a:ext cx="164592" cy="164592"/>
          </a:xfrm>
          <a:prstGeom prst="rect">
            <a:avLst/>
          </a:prstGeom>
          <a:solidFill>
            <a:srgbClr val="FF8060"/>
          </a:solidFill>
          <a:ln w="12700">
            <a:solidFill>
              <a:srgbClr val="E74C3C"/>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Dataset Overview — Medical Segmentation Decathlon (MSD)</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5 / 20</a:t>
            </a:r>
            <a:endParaRPr lang="en-US" sz="900" dirty="0"/>
          </a:p>
        </p:txBody>
      </p:sp>
      <p:pic>
        <p:nvPicPr>
          <p:cNvPr id="6" name="Image 0" descr="preencoded.png">    </p:cNvPr>
          <p:cNvPicPr>
            <a:picLocks noChangeAspect="1"/>
          </p:cNvPicPr>
          <p:nvPr/>
        </p:nvPicPr>
        <p:blipFill>
          <a:blip r:embed="rId1"/>
          <a:stretch>
            <a:fillRect/>
          </a:stretch>
        </p:blipFill>
        <p:spPr>
          <a:xfrm>
            <a:off x="8412480" y="777240"/>
            <a:ext cx="502920" cy="502920"/>
          </a:xfrm>
          <a:prstGeom prst="rect">
            <a:avLst/>
          </a:prstGeom>
        </p:spPr>
      </p:pic>
      <p:sp>
        <p:nvSpPr>
          <p:cNvPr id="7" name="Shape 4"/>
          <p:cNvSpPr/>
          <p:nvPr/>
        </p:nvSpPr>
        <p:spPr>
          <a:xfrm>
            <a:off x="274320" y="804672"/>
            <a:ext cx="1920240" cy="914400"/>
          </a:xfrm>
          <a:prstGeom prst="rect">
            <a:avLst/>
          </a:prstGeom>
          <a:solidFill>
            <a:srgbClr val="0B1E3D"/>
          </a:solidFill>
          <a:ln w="12700">
            <a:solidFill>
              <a:srgbClr val="0B1E3D"/>
            </a:solidFill>
            <a:prstDash val="solid"/>
          </a:ln>
          <a:effectLst>
            <a:outerShdw sx="100000" sy="100000" kx="0" ky="0" algn="bl" rotWithShape="0" blurRad="76200" dist="25400" dir="8100000">
              <a:srgbClr val="000000">
                <a:alpha val="15000"/>
              </a:srgbClr>
            </a:outerShdw>
          </a:effectLst>
        </p:spPr>
      </p:sp>
      <p:sp>
        <p:nvSpPr>
          <p:cNvPr id="8" name="Text 5"/>
          <p:cNvSpPr/>
          <p:nvPr/>
        </p:nvSpPr>
        <p:spPr>
          <a:xfrm>
            <a:off x="274320" y="841248"/>
            <a:ext cx="19202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484</a:t>
            </a:r>
            <a:endParaRPr lang="en-US" sz="2800" dirty="0"/>
          </a:p>
        </p:txBody>
      </p:sp>
      <p:sp>
        <p:nvSpPr>
          <p:cNvPr id="9" name="Text 6"/>
          <p:cNvSpPr/>
          <p:nvPr/>
        </p:nvSpPr>
        <p:spPr>
          <a:xfrm>
            <a:off x="274320" y="1298448"/>
            <a:ext cx="1920240" cy="320040"/>
          </a:xfrm>
          <a:prstGeom prst="rect">
            <a:avLst/>
          </a:prstGeom>
          <a:noFill/>
          <a:ln/>
        </p:spPr>
        <p:txBody>
          <a:bodyPr wrap="square" lIns="0" tIns="0" rIns="0" bIns="0" rtlCol="0" anchor="ctr"/>
          <a:lstStyle/>
          <a:p>
            <a:pPr algn="ctr" indent="0" marL="0">
              <a:buNone/>
            </a:pPr>
            <a:r>
              <a:rPr lang="en-US" sz="1100" dirty="0">
                <a:solidFill>
                  <a:srgbClr val="C0D8F8"/>
                </a:solidFill>
                <a:latin typeface="Calibri" pitchFamily="34" charset="0"/>
                <a:ea typeface="Calibri" pitchFamily="34" charset="-122"/>
                <a:cs typeface="Calibri" pitchFamily="34" charset="-120"/>
              </a:rPr>
              <a:t>Training Scans</a:t>
            </a:r>
            <a:endParaRPr lang="en-US" sz="1100" dirty="0"/>
          </a:p>
        </p:txBody>
      </p:sp>
      <p:sp>
        <p:nvSpPr>
          <p:cNvPr id="10" name="Shape 7"/>
          <p:cNvSpPr/>
          <p:nvPr/>
        </p:nvSpPr>
        <p:spPr>
          <a:xfrm>
            <a:off x="2423160" y="804672"/>
            <a:ext cx="1920240" cy="914400"/>
          </a:xfrm>
          <a:prstGeom prst="rect">
            <a:avLst/>
          </a:prstGeom>
          <a:solidFill>
            <a:srgbClr val="009B9B"/>
          </a:solidFill>
          <a:ln w="12700">
            <a:solidFill>
              <a:srgbClr val="009B9B"/>
            </a:solidFill>
            <a:prstDash val="solid"/>
          </a:ln>
          <a:effectLst>
            <a:outerShdw sx="100000" sy="100000" kx="0" ky="0" algn="bl" rotWithShape="0" blurRad="76200" dist="25400" dir="8100000">
              <a:srgbClr val="000000">
                <a:alpha val="15000"/>
              </a:srgbClr>
            </a:outerShdw>
          </a:effectLst>
        </p:spPr>
      </p:sp>
      <p:sp>
        <p:nvSpPr>
          <p:cNvPr id="11" name="Text 8"/>
          <p:cNvSpPr/>
          <p:nvPr/>
        </p:nvSpPr>
        <p:spPr>
          <a:xfrm>
            <a:off x="2423160" y="841248"/>
            <a:ext cx="19202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12" name="Text 9"/>
          <p:cNvSpPr/>
          <p:nvPr/>
        </p:nvSpPr>
        <p:spPr>
          <a:xfrm>
            <a:off x="2423160" y="1298448"/>
            <a:ext cx="1920240" cy="320040"/>
          </a:xfrm>
          <a:prstGeom prst="rect">
            <a:avLst/>
          </a:prstGeom>
          <a:noFill/>
          <a:ln/>
        </p:spPr>
        <p:txBody>
          <a:bodyPr wrap="square" lIns="0" tIns="0" rIns="0" bIns="0" rtlCol="0" anchor="ctr"/>
          <a:lstStyle/>
          <a:p>
            <a:pPr algn="ctr" indent="0" marL="0">
              <a:buNone/>
            </a:pPr>
            <a:r>
              <a:rPr lang="en-US" sz="1100" dirty="0">
                <a:solidFill>
                  <a:srgbClr val="C0D8F8"/>
                </a:solidFill>
                <a:latin typeface="Calibri" pitchFamily="34" charset="0"/>
                <a:ea typeface="Calibri" pitchFamily="34" charset="-122"/>
                <a:cs typeface="Calibri" pitchFamily="34" charset="-120"/>
              </a:rPr>
              <a:t>MRI Modalities</a:t>
            </a:r>
            <a:endParaRPr lang="en-US" sz="1100" dirty="0"/>
          </a:p>
        </p:txBody>
      </p:sp>
      <p:sp>
        <p:nvSpPr>
          <p:cNvPr id="13" name="Shape 10"/>
          <p:cNvSpPr/>
          <p:nvPr/>
        </p:nvSpPr>
        <p:spPr>
          <a:xfrm>
            <a:off x="4572000" y="804672"/>
            <a:ext cx="1920240" cy="914400"/>
          </a:xfrm>
          <a:prstGeom prst="rect">
            <a:avLst/>
          </a:prstGeom>
          <a:solidFill>
            <a:srgbClr val="6A2C8C"/>
          </a:solidFill>
          <a:ln w="12700">
            <a:solidFill>
              <a:srgbClr val="6A2C8C"/>
            </a:solidFill>
            <a:prstDash val="solid"/>
          </a:ln>
          <a:effectLst>
            <a:outerShdw sx="100000" sy="100000" kx="0" ky="0" algn="bl" rotWithShape="0" blurRad="76200" dist="25400" dir="8100000">
              <a:srgbClr val="000000">
                <a:alpha val="15000"/>
              </a:srgbClr>
            </a:outerShdw>
          </a:effectLst>
        </p:spPr>
      </p:sp>
      <p:sp>
        <p:nvSpPr>
          <p:cNvPr id="14" name="Text 11"/>
          <p:cNvSpPr/>
          <p:nvPr/>
        </p:nvSpPr>
        <p:spPr>
          <a:xfrm>
            <a:off x="4572000" y="841248"/>
            <a:ext cx="19202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4.6 GB</a:t>
            </a:r>
            <a:endParaRPr lang="en-US" sz="2800" dirty="0"/>
          </a:p>
        </p:txBody>
      </p:sp>
      <p:sp>
        <p:nvSpPr>
          <p:cNvPr id="15" name="Text 12"/>
          <p:cNvSpPr/>
          <p:nvPr/>
        </p:nvSpPr>
        <p:spPr>
          <a:xfrm>
            <a:off x="4572000" y="1298448"/>
            <a:ext cx="1920240" cy="320040"/>
          </a:xfrm>
          <a:prstGeom prst="rect">
            <a:avLst/>
          </a:prstGeom>
          <a:noFill/>
          <a:ln/>
        </p:spPr>
        <p:txBody>
          <a:bodyPr wrap="square" lIns="0" tIns="0" rIns="0" bIns="0" rtlCol="0" anchor="ctr"/>
          <a:lstStyle/>
          <a:p>
            <a:pPr algn="ctr" indent="0" marL="0">
              <a:buNone/>
            </a:pPr>
            <a:r>
              <a:rPr lang="en-US" sz="1100" dirty="0">
                <a:solidFill>
                  <a:srgbClr val="C0D8F8"/>
                </a:solidFill>
                <a:latin typeface="Calibri" pitchFamily="34" charset="0"/>
                <a:ea typeface="Calibri" pitchFamily="34" charset="-122"/>
                <a:cs typeface="Calibri" pitchFamily="34" charset="-120"/>
              </a:rPr>
              <a:t>Download Size</a:t>
            </a:r>
            <a:endParaRPr lang="en-US" sz="1100" dirty="0"/>
          </a:p>
        </p:txBody>
      </p:sp>
      <p:sp>
        <p:nvSpPr>
          <p:cNvPr id="16" name="Shape 13"/>
          <p:cNvSpPr/>
          <p:nvPr/>
        </p:nvSpPr>
        <p:spPr>
          <a:xfrm>
            <a:off x="6720840" y="804672"/>
            <a:ext cx="1920240" cy="914400"/>
          </a:xfrm>
          <a:prstGeom prst="rect">
            <a:avLst/>
          </a:prstGeom>
          <a:solidFill>
            <a:srgbClr val="0E6655"/>
          </a:solidFill>
          <a:ln w="12700">
            <a:solidFill>
              <a:srgbClr val="0E6655"/>
            </a:solidFill>
            <a:prstDash val="solid"/>
          </a:ln>
          <a:effectLst>
            <a:outerShdw sx="100000" sy="100000" kx="0" ky="0" algn="bl" rotWithShape="0" blurRad="76200" dist="25400" dir="8100000">
              <a:srgbClr val="000000">
                <a:alpha val="15000"/>
              </a:srgbClr>
            </a:outerShdw>
          </a:effectLst>
        </p:spPr>
      </p:sp>
      <p:sp>
        <p:nvSpPr>
          <p:cNvPr id="17" name="Text 14"/>
          <p:cNvSpPr/>
          <p:nvPr/>
        </p:nvSpPr>
        <p:spPr>
          <a:xfrm>
            <a:off x="6720840" y="841248"/>
            <a:ext cx="19202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 mm³</a:t>
            </a:r>
            <a:endParaRPr lang="en-US" sz="2800" dirty="0"/>
          </a:p>
        </p:txBody>
      </p:sp>
      <p:sp>
        <p:nvSpPr>
          <p:cNvPr id="18" name="Text 15"/>
          <p:cNvSpPr/>
          <p:nvPr/>
        </p:nvSpPr>
        <p:spPr>
          <a:xfrm>
            <a:off x="6720840" y="1298448"/>
            <a:ext cx="1920240" cy="320040"/>
          </a:xfrm>
          <a:prstGeom prst="rect">
            <a:avLst/>
          </a:prstGeom>
          <a:noFill/>
          <a:ln/>
        </p:spPr>
        <p:txBody>
          <a:bodyPr wrap="square" lIns="0" tIns="0" rIns="0" bIns="0" rtlCol="0" anchor="ctr"/>
          <a:lstStyle/>
          <a:p>
            <a:pPr algn="ctr" indent="0" marL="0">
              <a:buNone/>
            </a:pPr>
            <a:r>
              <a:rPr lang="en-US" sz="1100" dirty="0">
                <a:solidFill>
                  <a:srgbClr val="C0D8F8"/>
                </a:solidFill>
                <a:latin typeface="Calibri" pitchFamily="34" charset="0"/>
                <a:ea typeface="Calibri" pitchFamily="34" charset="-122"/>
                <a:cs typeface="Calibri" pitchFamily="34" charset="-120"/>
              </a:rPr>
              <a:t>Voxel Resolution</a:t>
            </a:r>
            <a:endParaRPr lang="en-US" sz="1100" dirty="0"/>
          </a:p>
        </p:txBody>
      </p:sp>
      <p:sp>
        <p:nvSpPr>
          <p:cNvPr id="19" name="Shape 16"/>
          <p:cNvSpPr/>
          <p:nvPr/>
        </p:nvSpPr>
        <p:spPr>
          <a:xfrm>
            <a:off x="274320" y="1874520"/>
            <a:ext cx="416052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20" name="Shape 17"/>
          <p:cNvSpPr/>
          <p:nvPr/>
        </p:nvSpPr>
        <p:spPr>
          <a:xfrm>
            <a:off x="274320" y="1874520"/>
            <a:ext cx="64008" cy="713232"/>
          </a:xfrm>
          <a:prstGeom prst="rect">
            <a:avLst/>
          </a:prstGeom>
          <a:solidFill>
            <a:srgbClr val="00C9C8"/>
          </a:solidFill>
          <a:ln w="12700">
            <a:solidFill>
              <a:srgbClr val="00C9C8"/>
            </a:solidFill>
            <a:prstDash val="solid"/>
          </a:ln>
        </p:spPr>
      </p:sp>
      <p:sp>
        <p:nvSpPr>
          <p:cNvPr id="21" name="Text 18"/>
          <p:cNvSpPr/>
          <p:nvPr/>
        </p:nvSpPr>
        <p:spPr>
          <a:xfrm>
            <a:off x="438912" y="1929384"/>
            <a:ext cx="393192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Source</a:t>
            </a:r>
            <a:endParaRPr lang="en-US" sz="1100" dirty="0"/>
          </a:p>
        </p:txBody>
      </p:sp>
      <p:sp>
        <p:nvSpPr>
          <p:cNvPr id="22" name="Text 19"/>
          <p:cNvSpPr/>
          <p:nvPr/>
        </p:nvSpPr>
        <p:spPr>
          <a:xfrm>
            <a:off x="438912" y="2194560"/>
            <a:ext cx="393192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MSD Task01_BrainTumour — derived from BraTS Challenge. Fully open-access, no API key required.</a:t>
            </a:r>
            <a:endParaRPr lang="en-US" sz="1100" dirty="0"/>
          </a:p>
        </p:txBody>
      </p:sp>
      <p:sp>
        <p:nvSpPr>
          <p:cNvPr id="23" name="Shape 20"/>
          <p:cNvSpPr/>
          <p:nvPr/>
        </p:nvSpPr>
        <p:spPr>
          <a:xfrm>
            <a:off x="274320" y="2651760"/>
            <a:ext cx="416052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24" name="Shape 21"/>
          <p:cNvSpPr/>
          <p:nvPr/>
        </p:nvSpPr>
        <p:spPr>
          <a:xfrm>
            <a:off x="274320" y="2651760"/>
            <a:ext cx="64008" cy="713232"/>
          </a:xfrm>
          <a:prstGeom prst="rect">
            <a:avLst/>
          </a:prstGeom>
          <a:solidFill>
            <a:srgbClr val="00C9C8"/>
          </a:solidFill>
          <a:ln w="12700">
            <a:solidFill>
              <a:srgbClr val="00C9C8"/>
            </a:solidFill>
            <a:prstDash val="solid"/>
          </a:ln>
        </p:spPr>
      </p:sp>
      <p:sp>
        <p:nvSpPr>
          <p:cNvPr id="25" name="Text 22"/>
          <p:cNvSpPr/>
          <p:nvPr/>
        </p:nvSpPr>
        <p:spPr>
          <a:xfrm>
            <a:off x="438912" y="2706624"/>
            <a:ext cx="393192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File Format</a:t>
            </a:r>
            <a:endParaRPr lang="en-US" sz="1100" dirty="0"/>
          </a:p>
        </p:txBody>
      </p:sp>
      <p:sp>
        <p:nvSpPr>
          <p:cNvPr id="26" name="Text 23"/>
          <p:cNvSpPr/>
          <p:nvPr/>
        </p:nvSpPr>
        <p:spPr>
          <a:xfrm>
            <a:off x="438912" y="2971800"/>
            <a:ext cx="393192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NIfTI (.nii.gz) — 3D volumetric files. Each scan stores 4 modalities as a 4D tensor [H×W×D×4].</a:t>
            </a:r>
            <a:endParaRPr lang="en-US" sz="1100" dirty="0"/>
          </a:p>
        </p:txBody>
      </p:sp>
      <p:sp>
        <p:nvSpPr>
          <p:cNvPr id="27" name="Shape 24"/>
          <p:cNvSpPr/>
          <p:nvPr/>
        </p:nvSpPr>
        <p:spPr>
          <a:xfrm>
            <a:off x="274320" y="3429000"/>
            <a:ext cx="416052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28" name="Shape 25"/>
          <p:cNvSpPr/>
          <p:nvPr/>
        </p:nvSpPr>
        <p:spPr>
          <a:xfrm>
            <a:off x="274320" y="3429000"/>
            <a:ext cx="64008" cy="713232"/>
          </a:xfrm>
          <a:prstGeom prst="rect">
            <a:avLst/>
          </a:prstGeom>
          <a:solidFill>
            <a:srgbClr val="00C9C8"/>
          </a:solidFill>
          <a:ln w="12700">
            <a:solidFill>
              <a:srgbClr val="00C9C8"/>
            </a:solidFill>
            <a:prstDash val="solid"/>
          </a:ln>
        </p:spPr>
      </p:sp>
      <p:sp>
        <p:nvSpPr>
          <p:cNvPr id="29" name="Text 26"/>
          <p:cNvSpPr/>
          <p:nvPr/>
        </p:nvSpPr>
        <p:spPr>
          <a:xfrm>
            <a:off x="438912" y="3483864"/>
            <a:ext cx="393192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Label Format</a:t>
            </a:r>
            <a:endParaRPr lang="en-US" sz="1100" dirty="0"/>
          </a:p>
        </p:txBody>
      </p:sp>
      <p:sp>
        <p:nvSpPr>
          <p:cNvPr id="30" name="Text 27"/>
          <p:cNvSpPr/>
          <p:nvPr/>
        </p:nvSpPr>
        <p:spPr>
          <a:xfrm>
            <a:off x="438912" y="3749040"/>
            <a:ext cx="393192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Separate .nii.gz with integer labels: 0=Background, 1=NCR/NET, 2=Edema, 3=Enhancing Tumor.</a:t>
            </a:r>
            <a:endParaRPr lang="en-US" sz="1100" dirty="0"/>
          </a:p>
        </p:txBody>
      </p:sp>
      <p:sp>
        <p:nvSpPr>
          <p:cNvPr id="31" name="Shape 28"/>
          <p:cNvSpPr/>
          <p:nvPr/>
        </p:nvSpPr>
        <p:spPr>
          <a:xfrm>
            <a:off x="274320" y="4206240"/>
            <a:ext cx="416052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32" name="Shape 29"/>
          <p:cNvSpPr/>
          <p:nvPr/>
        </p:nvSpPr>
        <p:spPr>
          <a:xfrm>
            <a:off x="274320" y="4206240"/>
            <a:ext cx="64008" cy="713232"/>
          </a:xfrm>
          <a:prstGeom prst="rect">
            <a:avLst/>
          </a:prstGeom>
          <a:solidFill>
            <a:srgbClr val="00C9C8"/>
          </a:solidFill>
          <a:ln w="12700">
            <a:solidFill>
              <a:srgbClr val="00C9C8"/>
            </a:solidFill>
            <a:prstDash val="solid"/>
          </a:ln>
        </p:spPr>
      </p:sp>
      <p:sp>
        <p:nvSpPr>
          <p:cNvPr id="33" name="Text 30"/>
          <p:cNvSpPr/>
          <p:nvPr/>
        </p:nvSpPr>
        <p:spPr>
          <a:xfrm>
            <a:off x="438912" y="4261104"/>
            <a:ext cx="393192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Typical Volume</a:t>
            </a:r>
            <a:endParaRPr lang="en-US" sz="1100" dirty="0"/>
          </a:p>
        </p:txBody>
      </p:sp>
      <p:sp>
        <p:nvSpPr>
          <p:cNvPr id="34" name="Text 31"/>
          <p:cNvSpPr/>
          <p:nvPr/>
        </p:nvSpPr>
        <p:spPr>
          <a:xfrm>
            <a:off x="438912" y="4526280"/>
            <a:ext cx="393192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~240×240×155 voxels before preprocessing; cropped to 64³ or 128³ for training.</a:t>
            </a:r>
            <a:endParaRPr lang="en-US" sz="1100" dirty="0"/>
          </a:p>
        </p:txBody>
      </p:sp>
      <p:sp>
        <p:nvSpPr>
          <p:cNvPr id="35" name="Shape 32"/>
          <p:cNvSpPr/>
          <p:nvPr/>
        </p:nvSpPr>
        <p:spPr>
          <a:xfrm>
            <a:off x="4663440" y="1874520"/>
            <a:ext cx="420624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36" name="Shape 33"/>
          <p:cNvSpPr/>
          <p:nvPr/>
        </p:nvSpPr>
        <p:spPr>
          <a:xfrm>
            <a:off x="4663440" y="1874520"/>
            <a:ext cx="64008" cy="713232"/>
          </a:xfrm>
          <a:prstGeom prst="rect">
            <a:avLst/>
          </a:prstGeom>
          <a:solidFill>
            <a:srgbClr val="F5A623"/>
          </a:solidFill>
          <a:ln w="12700">
            <a:solidFill>
              <a:srgbClr val="F5A623"/>
            </a:solidFill>
            <a:prstDash val="solid"/>
          </a:ln>
        </p:spPr>
      </p:sp>
      <p:sp>
        <p:nvSpPr>
          <p:cNvPr id="37" name="Text 34"/>
          <p:cNvSpPr/>
          <p:nvPr/>
        </p:nvSpPr>
        <p:spPr>
          <a:xfrm>
            <a:off x="4828032" y="1929384"/>
            <a:ext cx="397764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Train / Val Split</a:t>
            </a:r>
            <a:endParaRPr lang="en-US" sz="1100" dirty="0"/>
          </a:p>
        </p:txBody>
      </p:sp>
      <p:sp>
        <p:nvSpPr>
          <p:cNvPr id="38" name="Text 35"/>
          <p:cNvSpPr/>
          <p:nvPr/>
        </p:nvSpPr>
        <p:spPr>
          <a:xfrm>
            <a:off x="4828032" y="2194560"/>
            <a:ext cx="397764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80% training (~387 cases), 20% validation (~97 cases). Random split seeded at 42 for reproducibility.</a:t>
            </a:r>
            <a:endParaRPr lang="en-US" sz="1100" dirty="0"/>
          </a:p>
        </p:txBody>
      </p:sp>
      <p:sp>
        <p:nvSpPr>
          <p:cNvPr id="39" name="Shape 36"/>
          <p:cNvSpPr/>
          <p:nvPr/>
        </p:nvSpPr>
        <p:spPr>
          <a:xfrm>
            <a:off x="4663440" y="2651760"/>
            <a:ext cx="420624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40" name="Shape 37"/>
          <p:cNvSpPr/>
          <p:nvPr/>
        </p:nvSpPr>
        <p:spPr>
          <a:xfrm>
            <a:off x="4663440" y="2651760"/>
            <a:ext cx="64008" cy="713232"/>
          </a:xfrm>
          <a:prstGeom prst="rect">
            <a:avLst/>
          </a:prstGeom>
          <a:solidFill>
            <a:srgbClr val="F5A623"/>
          </a:solidFill>
          <a:ln w="12700">
            <a:solidFill>
              <a:srgbClr val="F5A623"/>
            </a:solidFill>
            <a:prstDash val="solid"/>
          </a:ln>
        </p:spPr>
      </p:sp>
      <p:sp>
        <p:nvSpPr>
          <p:cNvPr id="41" name="Text 38"/>
          <p:cNvSpPr/>
          <p:nvPr/>
        </p:nvSpPr>
        <p:spPr>
          <a:xfrm>
            <a:off x="4828032" y="2706624"/>
            <a:ext cx="397764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Modality Channels</a:t>
            </a:r>
            <a:endParaRPr lang="en-US" sz="1100" dirty="0"/>
          </a:p>
        </p:txBody>
      </p:sp>
      <p:sp>
        <p:nvSpPr>
          <p:cNvPr id="42" name="Text 39"/>
          <p:cNvSpPr/>
          <p:nvPr/>
        </p:nvSpPr>
        <p:spPr>
          <a:xfrm>
            <a:off x="4828032" y="2971800"/>
            <a:ext cx="397764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Channel 0: FLAIR</a:t>
            </a:r>
            <a:endParaRPr lang="en-US" sz="1100" dirty="0"/>
          </a:p>
          <a:p>
            <a:pPr indent="0" marL="0">
              <a:buNone/>
            </a:pPr>
            <a:r>
              <a:rPr lang="en-US" sz="1100" dirty="0">
                <a:solidFill>
                  <a:srgbClr val="3A5070"/>
                </a:solidFill>
                <a:latin typeface="Calibri" pitchFamily="34" charset="0"/>
                <a:ea typeface="Calibri" pitchFamily="34" charset="-122"/>
                <a:cs typeface="Calibri" pitchFamily="34" charset="-120"/>
              </a:rPr>
              <a:t>Channel 1: T1w</a:t>
            </a:r>
            <a:endParaRPr lang="en-US" sz="1100" dirty="0"/>
          </a:p>
          <a:p>
            <a:pPr indent="0" marL="0">
              <a:buNone/>
            </a:pPr>
            <a:r>
              <a:rPr lang="en-US" sz="1100" dirty="0">
                <a:solidFill>
                  <a:srgbClr val="3A5070"/>
                </a:solidFill>
                <a:latin typeface="Calibri" pitchFamily="34" charset="0"/>
                <a:ea typeface="Calibri" pitchFamily="34" charset="-122"/>
                <a:cs typeface="Calibri" pitchFamily="34" charset="-120"/>
              </a:rPr>
              <a:t>Channel 2: T1ce (Contrast)</a:t>
            </a:r>
            <a:endParaRPr lang="en-US" sz="1100" dirty="0"/>
          </a:p>
          <a:p>
            <a:pPr indent="0" marL="0">
              <a:buNone/>
            </a:pPr>
            <a:r>
              <a:rPr lang="en-US" sz="1100" dirty="0">
                <a:solidFill>
                  <a:srgbClr val="3A5070"/>
                </a:solidFill>
                <a:latin typeface="Calibri" pitchFamily="34" charset="0"/>
                <a:ea typeface="Calibri" pitchFamily="34" charset="-122"/>
                <a:cs typeface="Calibri" pitchFamily="34" charset="-120"/>
              </a:rPr>
              <a:t>Channel 3: T2w</a:t>
            </a:r>
            <a:endParaRPr lang="en-US" sz="1100" dirty="0"/>
          </a:p>
        </p:txBody>
      </p:sp>
      <p:sp>
        <p:nvSpPr>
          <p:cNvPr id="43" name="Shape 40"/>
          <p:cNvSpPr/>
          <p:nvPr/>
        </p:nvSpPr>
        <p:spPr>
          <a:xfrm>
            <a:off x="4663440" y="3429000"/>
            <a:ext cx="420624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44" name="Shape 41"/>
          <p:cNvSpPr/>
          <p:nvPr/>
        </p:nvSpPr>
        <p:spPr>
          <a:xfrm>
            <a:off x="4663440" y="3429000"/>
            <a:ext cx="64008" cy="713232"/>
          </a:xfrm>
          <a:prstGeom prst="rect">
            <a:avLst/>
          </a:prstGeom>
          <a:solidFill>
            <a:srgbClr val="F5A623"/>
          </a:solidFill>
          <a:ln w="12700">
            <a:solidFill>
              <a:srgbClr val="F5A623"/>
            </a:solidFill>
            <a:prstDash val="solid"/>
          </a:ln>
        </p:spPr>
      </p:sp>
      <p:sp>
        <p:nvSpPr>
          <p:cNvPr id="45" name="Text 42"/>
          <p:cNvSpPr/>
          <p:nvPr/>
        </p:nvSpPr>
        <p:spPr>
          <a:xfrm>
            <a:off x="4828032" y="3483864"/>
            <a:ext cx="397764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Label Note</a:t>
            </a:r>
            <a:endParaRPr lang="en-US" sz="1100" dirty="0"/>
          </a:p>
        </p:txBody>
      </p:sp>
      <p:sp>
        <p:nvSpPr>
          <p:cNvPr id="46" name="Text 43"/>
          <p:cNvSpPr/>
          <p:nvPr/>
        </p:nvSpPr>
        <p:spPr>
          <a:xfrm>
            <a:off x="4828032" y="3749040"/>
            <a:ext cx="397764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MSD maps Enhancing Tumor to label 3 (not 4 as in original BraTS). Our pipeline handles both automatically.</a:t>
            </a:r>
            <a:endParaRPr lang="en-US" sz="1100" dirty="0"/>
          </a:p>
        </p:txBody>
      </p:sp>
      <p:sp>
        <p:nvSpPr>
          <p:cNvPr id="47" name="Shape 44"/>
          <p:cNvSpPr/>
          <p:nvPr/>
        </p:nvSpPr>
        <p:spPr>
          <a:xfrm>
            <a:off x="4663440" y="4206240"/>
            <a:ext cx="4206240" cy="713232"/>
          </a:xfrm>
          <a:prstGeom prst="rect">
            <a:avLst/>
          </a:prstGeom>
          <a:solidFill>
            <a:srgbClr val="FFFFFF"/>
          </a:solidFill>
          <a:ln w="12700">
            <a:solidFill>
              <a:srgbClr val="D0DCF0"/>
            </a:solidFill>
            <a:prstDash val="solid"/>
          </a:ln>
          <a:effectLst>
            <a:outerShdw sx="100000" sy="100000" kx="0" ky="0" algn="bl" rotWithShape="0" blurRad="76200" dist="38100" dir="8100000">
              <a:srgbClr val="000000">
                <a:alpha val="10000"/>
              </a:srgbClr>
            </a:outerShdw>
          </a:effectLst>
        </p:spPr>
      </p:sp>
      <p:sp>
        <p:nvSpPr>
          <p:cNvPr id="48" name="Shape 45"/>
          <p:cNvSpPr/>
          <p:nvPr/>
        </p:nvSpPr>
        <p:spPr>
          <a:xfrm>
            <a:off x="4663440" y="4206240"/>
            <a:ext cx="64008" cy="713232"/>
          </a:xfrm>
          <a:prstGeom prst="rect">
            <a:avLst/>
          </a:prstGeom>
          <a:solidFill>
            <a:srgbClr val="F5A623"/>
          </a:solidFill>
          <a:ln w="12700">
            <a:solidFill>
              <a:srgbClr val="F5A623"/>
            </a:solidFill>
            <a:prstDash val="solid"/>
          </a:ln>
        </p:spPr>
      </p:sp>
      <p:sp>
        <p:nvSpPr>
          <p:cNvPr id="49" name="Text 46"/>
          <p:cNvSpPr/>
          <p:nvPr/>
        </p:nvSpPr>
        <p:spPr>
          <a:xfrm>
            <a:off x="4828032" y="4261104"/>
            <a:ext cx="3977640" cy="256032"/>
          </a:xfrm>
          <a:prstGeom prst="rect">
            <a:avLst/>
          </a:prstGeom>
          <a:noFill/>
          <a:ln/>
        </p:spPr>
        <p:txBody>
          <a:bodyPr wrap="square" lIns="0" tIns="0" rIns="0" bIns="0" rtlCol="0" anchor="ctr"/>
          <a:lstStyle/>
          <a:p>
            <a:pPr indent="0" marL="0">
              <a:buNone/>
            </a:pPr>
            <a:r>
              <a:rPr lang="en-US" sz="1100" b="1" dirty="0">
                <a:solidFill>
                  <a:srgbClr val="0B1E3D"/>
                </a:solidFill>
                <a:latin typeface="Calibri" pitchFamily="34" charset="0"/>
                <a:ea typeface="Calibri" pitchFamily="34" charset="-122"/>
                <a:cs typeface="Calibri" pitchFamily="34" charset="-120"/>
              </a:rPr>
              <a:t>Download Script</a:t>
            </a:r>
            <a:endParaRPr lang="en-US" sz="1100" dirty="0"/>
          </a:p>
        </p:txBody>
      </p:sp>
      <p:sp>
        <p:nvSpPr>
          <p:cNvPr id="50" name="Text 47"/>
          <p:cNvSpPr/>
          <p:nvPr/>
        </p:nvSpPr>
        <p:spPr>
          <a:xfrm>
            <a:off x="4828032" y="4526280"/>
            <a:ext cx="3977640" cy="329184"/>
          </a:xfrm>
          <a:prstGeom prst="rect">
            <a:avLst/>
          </a:prstGeom>
          <a:noFill/>
          <a:ln/>
        </p:spPr>
        <p:txBody>
          <a:bodyPr wrap="square" lIns="0" tIns="0" rIns="0" bIns="0" rtlCol="0" anchor="ctr"/>
          <a:lstStyle/>
          <a:p>
            <a:pPr indent="0" marL="0">
              <a:buNone/>
            </a:pPr>
            <a:r>
              <a:rPr lang="en-US" sz="1100" dirty="0">
                <a:solidFill>
                  <a:srgbClr val="3A5070"/>
                </a:solidFill>
                <a:latin typeface="Calibri" pitchFamily="34" charset="0"/>
                <a:ea typeface="Calibri" pitchFamily="34" charset="-122"/>
                <a:cs typeface="Calibri" pitchFamily="34" charset="-120"/>
              </a:rPr>
              <a:t>python download_data.py — auto-downloads and verifies 484 training cases in ~15 minutes.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the Input MRI Looks Like — Real Patient Scan</a:t>
            </a:r>
            <a:endParaRPr lang="en-US" sz="2200" dirty="0"/>
          </a:p>
        </p:txBody>
      </p:sp>
      <p:sp>
        <p:nvSpPr>
          <p:cNvPr id="5" name="Shape 3"/>
          <p:cNvSpPr/>
          <p:nvPr/>
        </p:nvSpPr>
        <p:spPr>
          <a:xfrm>
            <a:off x="0" y="685800"/>
            <a:ext cx="9144000" cy="36576"/>
          </a:xfrm>
          <a:prstGeom prst="rect">
            <a:avLst/>
          </a:prstGeom>
          <a:solidFill>
            <a:srgbClr val="00C9C8"/>
          </a:solidFill>
          <a:ln w="12700">
            <a:solidFill>
              <a:srgbClr val="00C9C8"/>
            </a:solidFill>
            <a:prstDash val="solid"/>
          </a:ln>
        </p:spPr>
      </p:sp>
      <p:sp>
        <p:nvSpPr>
          <p:cNvPr id="6" name="Text 4"/>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6 / 20</a:t>
            </a:r>
            <a:endParaRPr lang="en-US" sz="900" dirty="0"/>
          </a:p>
        </p:txBody>
      </p:sp>
      <p:pic>
        <p:nvPicPr>
          <p:cNvPr id="7" name="Image 0" descr="preencoded.png">    </p:cNvPr>
          <p:cNvPicPr>
            <a:picLocks noChangeAspect="1"/>
          </p:cNvPicPr>
          <p:nvPr/>
        </p:nvPicPr>
        <p:blipFill>
          <a:blip r:embed="rId1"/>
          <a:stretch>
            <a:fillRect/>
          </a:stretch>
        </p:blipFill>
        <p:spPr>
          <a:xfrm>
            <a:off x="137160" y="777240"/>
            <a:ext cx="8869680" cy="2212848"/>
          </a:xfrm>
          <a:prstGeom prst="rect">
            <a:avLst/>
          </a:prstGeom>
        </p:spPr>
      </p:pic>
      <p:sp>
        <p:nvSpPr>
          <p:cNvPr id="8" name="Shape 5"/>
          <p:cNvSpPr/>
          <p:nvPr/>
        </p:nvSpPr>
        <p:spPr>
          <a:xfrm>
            <a:off x="137160" y="2999232"/>
            <a:ext cx="2212848" cy="292608"/>
          </a:xfrm>
          <a:prstGeom prst="rect">
            <a:avLst/>
          </a:prstGeom>
          <a:solidFill>
            <a:srgbClr val="0B1E3D"/>
          </a:solidFill>
          <a:ln w="12700">
            <a:solidFill>
              <a:srgbClr val="0B1E3D"/>
            </a:solidFill>
            <a:prstDash val="solid"/>
          </a:ln>
        </p:spPr>
      </p:sp>
      <p:sp>
        <p:nvSpPr>
          <p:cNvPr id="9" name="Text 6"/>
          <p:cNvSpPr/>
          <p:nvPr/>
        </p:nvSpPr>
        <p:spPr>
          <a:xfrm>
            <a:off x="137160" y="2999232"/>
            <a:ext cx="2212848" cy="292608"/>
          </a:xfrm>
          <a:prstGeom prst="rect">
            <a:avLst/>
          </a:prstGeom>
          <a:noFill/>
          <a:ln/>
        </p:spPr>
        <p:txBody>
          <a:bodyPr wrap="square" lIns="0" tIns="0" rIns="0" bIns="0" rtlCol="0" anchor="ctr"/>
          <a:lstStyle/>
          <a:p>
            <a:pPr algn="ctr" indent="0" marL="0">
              <a:buNone/>
            </a:pPr>
            <a:r>
              <a:rPr lang="en-US" sz="1200" b="1" dirty="0">
                <a:solidFill>
                  <a:srgbClr val="00C9C8"/>
                </a:solidFill>
                <a:latin typeface="Calibri" pitchFamily="34" charset="0"/>
                <a:ea typeface="Calibri" pitchFamily="34" charset="-122"/>
                <a:cs typeface="Calibri" pitchFamily="34" charset="-120"/>
              </a:rPr>
              <a:t>FLAIR</a:t>
            </a:r>
            <a:endParaRPr lang="en-US" sz="1200" dirty="0"/>
          </a:p>
        </p:txBody>
      </p:sp>
      <p:sp>
        <p:nvSpPr>
          <p:cNvPr id="10" name="Shape 7"/>
          <p:cNvSpPr/>
          <p:nvPr/>
        </p:nvSpPr>
        <p:spPr>
          <a:xfrm>
            <a:off x="2359152" y="2999232"/>
            <a:ext cx="2212848" cy="292608"/>
          </a:xfrm>
          <a:prstGeom prst="rect">
            <a:avLst/>
          </a:prstGeom>
          <a:solidFill>
            <a:srgbClr val="0B1E3D"/>
          </a:solidFill>
          <a:ln w="12700">
            <a:solidFill>
              <a:srgbClr val="0B1E3D"/>
            </a:solidFill>
            <a:prstDash val="solid"/>
          </a:ln>
        </p:spPr>
      </p:sp>
      <p:sp>
        <p:nvSpPr>
          <p:cNvPr id="11" name="Text 8"/>
          <p:cNvSpPr/>
          <p:nvPr/>
        </p:nvSpPr>
        <p:spPr>
          <a:xfrm>
            <a:off x="2359152" y="2999232"/>
            <a:ext cx="2212848" cy="292608"/>
          </a:xfrm>
          <a:prstGeom prst="rect">
            <a:avLst/>
          </a:prstGeom>
          <a:noFill/>
          <a:ln/>
        </p:spPr>
        <p:txBody>
          <a:bodyPr wrap="square" lIns="0" tIns="0" rIns="0" bIns="0" rtlCol="0" anchor="ctr"/>
          <a:lstStyle/>
          <a:p>
            <a:pPr algn="ctr" indent="0" marL="0">
              <a:buNone/>
            </a:pPr>
            <a:r>
              <a:rPr lang="en-US" sz="1200" b="1" dirty="0">
                <a:solidFill>
                  <a:srgbClr val="A0B8D8"/>
                </a:solidFill>
                <a:latin typeface="Calibri" pitchFamily="34" charset="0"/>
                <a:ea typeface="Calibri" pitchFamily="34" charset="-122"/>
                <a:cs typeface="Calibri" pitchFamily="34" charset="-120"/>
              </a:rPr>
              <a:t>T1</a:t>
            </a:r>
            <a:endParaRPr lang="en-US" sz="1200" dirty="0"/>
          </a:p>
        </p:txBody>
      </p:sp>
      <p:sp>
        <p:nvSpPr>
          <p:cNvPr id="12" name="Shape 9"/>
          <p:cNvSpPr/>
          <p:nvPr/>
        </p:nvSpPr>
        <p:spPr>
          <a:xfrm>
            <a:off x="4581144" y="2999232"/>
            <a:ext cx="2212848" cy="292608"/>
          </a:xfrm>
          <a:prstGeom prst="rect">
            <a:avLst/>
          </a:prstGeom>
          <a:solidFill>
            <a:srgbClr val="0B1E3D"/>
          </a:solidFill>
          <a:ln w="12700">
            <a:solidFill>
              <a:srgbClr val="0B1E3D"/>
            </a:solidFill>
            <a:prstDash val="solid"/>
          </a:ln>
        </p:spPr>
      </p:sp>
      <p:sp>
        <p:nvSpPr>
          <p:cNvPr id="13" name="Text 10"/>
          <p:cNvSpPr/>
          <p:nvPr/>
        </p:nvSpPr>
        <p:spPr>
          <a:xfrm>
            <a:off x="4581144" y="2999232"/>
            <a:ext cx="2212848" cy="292608"/>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T1ce (Contrast)</a:t>
            </a:r>
            <a:endParaRPr lang="en-US" sz="1200" dirty="0"/>
          </a:p>
        </p:txBody>
      </p:sp>
      <p:sp>
        <p:nvSpPr>
          <p:cNvPr id="14" name="Shape 11"/>
          <p:cNvSpPr/>
          <p:nvPr/>
        </p:nvSpPr>
        <p:spPr>
          <a:xfrm>
            <a:off x="6803136" y="2999232"/>
            <a:ext cx="2212848" cy="292608"/>
          </a:xfrm>
          <a:prstGeom prst="rect">
            <a:avLst/>
          </a:prstGeom>
          <a:solidFill>
            <a:srgbClr val="0B1E3D"/>
          </a:solidFill>
          <a:ln w="12700">
            <a:solidFill>
              <a:srgbClr val="0B1E3D"/>
            </a:solidFill>
            <a:prstDash val="solid"/>
          </a:ln>
        </p:spPr>
      </p:sp>
      <p:sp>
        <p:nvSpPr>
          <p:cNvPr id="15" name="Text 12"/>
          <p:cNvSpPr/>
          <p:nvPr/>
        </p:nvSpPr>
        <p:spPr>
          <a:xfrm>
            <a:off x="6803136" y="2999232"/>
            <a:ext cx="2212848" cy="292608"/>
          </a:xfrm>
          <a:prstGeom prst="rect">
            <a:avLst/>
          </a:prstGeom>
          <a:noFill/>
          <a:ln/>
        </p:spPr>
        <p:txBody>
          <a:bodyPr wrap="square" lIns="0" tIns="0" rIns="0" bIns="0" rtlCol="0" anchor="ctr"/>
          <a:lstStyle/>
          <a:p>
            <a:pPr algn="ctr" indent="0" marL="0">
              <a:buNone/>
            </a:pPr>
            <a:r>
              <a:rPr lang="en-US" sz="1200" b="1" dirty="0">
                <a:solidFill>
                  <a:srgbClr val="80D8B0"/>
                </a:solidFill>
                <a:latin typeface="Calibri" pitchFamily="34" charset="0"/>
                <a:ea typeface="Calibri" pitchFamily="34" charset="-122"/>
                <a:cs typeface="Calibri" pitchFamily="34" charset="-120"/>
              </a:rPr>
              <a:t>T2</a:t>
            </a:r>
            <a:endParaRPr lang="en-US" sz="1200" dirty="0"/>
          </a:p>
        </p:txBody>
      </p:sp>
      <p:sp>
        <p:nvSpPr>
          <p:cNvPr id="16" name="Shape 13"/>
          <p:cNvSpPr/>
          <p:nvPr/>
        </p:nvSpPr>
        <p:spPr>
          <a:xfrm>
            <a:off x="137160" y="3337560"/>
            <a:ext cx="2212848" cy="1554480"/>
          </a:xfrm>
          <a:prstGeom prst="rect">
            <a:avLst/>
          </a:prstGeom>
          <a:solidFill>
            <a:srgbClr val="0D1A2D"/>
          </a:solidFill>
          <a:ln w="12700">
            <a:solidFill>
              <a:srgbClr val="00C9C8"/>
            </a:solidFill>
            <a:prstDash val="solid"/>
          </a:ln>
        </p:spPr>
      </p:sp>
      <p:sp>
        <p:nvSpPr>
          <p:cNvPr id="17" name="Shape 14"/>
          <p:cNvSpPr/>
          <p:nvPr/>
        </p:nvSpPr>
        <p:spPr>
          <a:xfrm>
            <a:off x="137160" y="3337560"/>
            <a:ext cx="54864" cy="1554480"/>
          </a:xfrm>
          <a:prstGeom prst="rect">
            <a:avLst/>
          </a:prstGeom>
          <a:solidFill>
            <a:srgbClr val="00C9C8"/>
          </a:solidFill>
          <a:ln w="12700">
            <a:solidFill>
              <a:srgbClr val="00C9C8"/>
            </a:solidFill>
            <a:prstDash val="solid"/>
          </a:ln>
        </p:spPr>
      </p:sp>
      <p:sp>
        <p:nvSpPr>
          <p:cNvPr id="18" name="Text 15"/>
          <p:cNvSpPr/>
          <p:nvPr/>
        </p:nvSpPr>
        <p:spPr>
          <a:xfrm>
            <a:off x="274320" y="3401568"/>
            <a:ext cx="2011680" cy="256032"/>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FLAIR</a:t>
            </a:r>
            <a:endParaRPr lang="en-US" sz="1100" dirty="0"/>
          </a:p>
        </p:txBody>
      </p:sp>
      <p:sp>
        <p:nvSpPr>
          <p:cNvPr id="19" name="Text 16"/>
          <p:cNvSpPr/>
          <p:nvPr/>
        </p:nvSpPr>
        <p:spPr>
          <a:xfrm>
            <a:off x="274320" y="3675888"/>
            <a:ext cx="2011680" cy="1143000"/>
          </a:xfrm>
          <a:prstGeom prst="rect">
            <a:avLst/>
          </a:prstGeom>
          <a:noFill/>
          <a:ln/>
        </p:spPr>
        <p:txBody>
          <a:bodyPr wrap="square" lIns="0" tIns="0" rIns="0" bIns="0" rtlCol="0" anchor="ctr"/>
          <a:lstStyle/>
          <a:p>
            <a:pPr indent="0" marL="0">
              <a:buNone/>
            </a:pPr>
            <a:r>
              <a:rPr lang="en-US" sz="1050" dirty="0">
                <a:solidFill>
                  <a:srgbClr val="88A8C8"/>
                </a:solidFill>
                <a:latin typeface="Calibri" pitchFamily="34" charset="0"/>
                <a:ea typeface="Calibri" pitchFamily="34" charset="-122"/>
                <a:cs typeface="Calibri" pitchFamily="34" charset="-120"/>
              </a:rPr>
              <a:t>Suppresses CSF. Edema &amp; infiltration glow bright white. Critical for peritumoral boundary detection.</a:t>
            </a:r>
            <a:endParaRPr lang="en-US" sz="1050" dirty="0"/>
          </a:p>
        </p:txBody>
      </p:sp>
      <p:sp>
        <p:nvSpPr>
          <p:cNvPr id="20" name="Shape 17"/>
          <p:cNvSpPr/>
          <p:nvPr/>
        </p:nvSpPr>
        <p:spPr>
          <a:xfrm>
            <a:off x="2359152" y="3337560"/>
            <a:ext cx="2212848" cy="1554480"/>
          </a:xfrm>
          <a:prstGeom prst="rect">
            <a:avLst/>
          </a:prstGeom>
          <a:solidFill>
            <a:srgbClr val="0D1A2D"/>
          </a:solidFill>
          <a:ln w="12700">
            <a:solidFill>
              <a:srgbClr val="A0B8D8"/>
            </a:solidFill>
            <a:prstDash val="solid"/>
          </a:ln>
        </p:spPr>
      </p:sp>
      <p:sp>
        <p:nvSpPr>
          <p:cNvPr id="21" name="Shape 18"/>
          <p:cNvSpPr/>
          <p:nvPr/>
        </p:nvSpPr>
        <p:spPr>
          <a:xfrm>
            <a:off x="2359152" y="3337560"/>
            <a:ext cx="54864" cy="1554480"/>
          </a:xfrm>
          <a:prstGeom prst="rect">
            <a:avLst/>
          </a:prstGeom>
          <a:solidFill>
            <a:srgbClr val="A0B8D8"/>
          </a:solidFill>
          <a:ln w="12700">
            <a:solidFill>
              <a:srgbClr val="A0B8D8"/>
            </a:solidFill>
            <a:prstDash val="solid"/>
          </a:ln>
        </p:spPr>
      </p:sp>
      <p:sp>
        <p:nvSpPr>
          <p:cNvPr id="22" name="Text 19"/>
          <p:cNvSpPr/>
          <p:nvPr/>
        </p:nvSpPr>
        <p:spPr>
          <a:xfrm>
            <a:off x="2496312" y="3401568"/>
            <a:ext cx="2011680" cy="256032"/>
          </a:xfrm>
          <a:prstGeom prst="rect">
            <a:avLst/>
          </a:prstGeom>
          <a:noFill/>
          <a:ln/>
        </p:spPr>
        <p:txBody>
          <a:bodyPr wrap="square" lIns="0" tIns="0" rIns="0" bIns="0" rtlCol="0" anchor="ctr"/>
          <a:lstStyle/>
          <a:p>
            <a:pPr indent="0" marL="0">
              <a:buNone/>
            </a:pPr>
            <a:r>
              <a:rPr lang="en-US" sz="1100" b="1" dirty="0">
                <a:solidFill>
                  <a:srgbClr val="A0B8D8"/>
                </a:solidFill>
                <a:latin typeface="Calibri" pitchFamily="34" charset="0"/>
                <a:ea typeface="Calibri" pitchFamily="34" charset="-122"/>
                <a:cs typeface="Calibri" pitchFamily="34" charset="-120"/>
              </a:rPr>
              <a:t>T1w</a:t>
            </a:r>
            <a:endParaRPr lang="en-US" sz="1100" dirty="0"/>
          </a:p>
        </p:txBody>
      </p:sp>
      <p:sp>
        <p:nvSpPr>
          <p:cNvPr id="23" name="Text 20"/>
          <p:cNvSpPr/>
          <p:nvPr/>
        </p:nvSpPr>
        <p:spPr>
          <a:xfrm>
            <a:off x="2496312" y="3675888"/>
            <a:ext cx="2011680" cy="1143000"/>
          </a:xfrm>
          <a:prstGeom prst="rect">
            <a:avLst/>
          </a:prstGeom>
          <a:noFill/>
          <a:ln/>
        </p:spPr>
        <p:txBody>
          <a:bodyPr wrap="square" lIns="0" tIns="0" rIns="0" bIns="0" rtlCol="0" anchor="ctr"/>
          <a:lstStyle/>
          <a:p>
            <a:pPr indent="0" marL="0">
              <a:buNone/>
            </a:pPr>
            <a:r>
              <a:rPr lang="en-US" sz="1050" dirty="0">
                <a:solidFill>
                  <a:srgbClr val="88A8C8"/>
                </a:solidFill>
                <a:latin typeface="Calibri" pitchFamily="34" charset="0"/>
                <a:ea typeface="Calibri" pitchFamily="34" charset="-122"/>
                <a:cs typeface="Calibri" pitchFamily="34" charset="-120"/>
              </a:rPr>
              <a:t>Baseline anatomy. Tumor often appears dark (hypointense). Used as structural reference.</a:t>
            </a:r>
            <a:endParaRPr lang="en-US" sz="1050" dirty="0"/>
          </a:p>
        </p:txBody>
      </p:sp>
      <p:sp>
        <p:nvSpPr>
          <p:cNvPr id="24" name="Shape 21"/>
          <p:cNvSpPr/>
          <p:nvPr/>
        </p:nvSpPr>
        <p:spPr>
          <a:xfrm>
            <a:off x="4581144" y="3337560"/>
            <a:ext cx="2212848" cy="1554480"/>
          </a:xfrm>
          <a:prstGeom prst="rect">
            <a:avLst/>
          </a:prstGeom>
          <a:solidFill>
            <a:srgbClr val="0D1A2D"/>
          </a:solidFill>
          <a:ln w="12700">
            <a:solidFill>
              <a:srgbClr val="F5A623"/>
            </a:solidFill>
            <a:prstDash val="solid"/>
          </a:ln>
        </p:spPr>
      </p:sp>
      <p:sp>
        <p:nvSpPr>
          <p:cNvPr id="25" name="Shape 22"/>
          <p:cNvSpPr/>
          <p:nvPr/>
        </p:nvSpPr>
        <p:spPr>
          <a:xfrm>
            <a:off x="4581144" y="3337560"/>
            <a:ext cx="54864" cy="1554480"/>
          </a:xfrm>
          <a:prstGeom prst="rect">
            <a:avLst/>
          </a:prstGeom>
          <a:solidFill>
            <a:srgbClr val="F5A623"/>
          </a:solidFill>
          <a:ln w="12700">
            <a:solidFill>
              <a:srgbClr val="F5A623"/>
            </a:solidFill>
            <a:prstDash val="solid"/>
          </a:ln>
        </p:spPr>
      </p:sp>
      <p:sp>
        <p:nvSpPr>
          <p:cNvPr id="26" name="Text 23"/>
          <p:cNvSpPr/>
          <p:nvPr/>
        </p:nvSpPr>
        <p:spPr>
          <a:xfrm>
            <a:off x="4718304" y="3401568"/>
            <a:ext cx="2011680" cy="256032"/>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T1ce</a:t>
            </a:r>
            <a:endParaRPr lang="en-US" sz="1100" dirty="0"/>
          </a:p>
        </p:txBody>
      </p:sp>
      <p:sp>
        <p:nvSpPr>
          <p:cNvPr id="27" name="Text 24"/>
          <p:cNvSpPr/>
          <p:nvPr/>
        </p:nvSpPr>
        <p:spPr>
          <a:xfrm>
            <a:off x="4718304" y="3675888"/>
            <a:ext cx="2011680" cy="1143000"/>
          </a:xfrm>
          <a:prstGeom prst="rect">
            <a:avLst/>
          </a:prstGeom>
          <a:noFill/>
          <a:ln/>
        </p:spPr>
        <p:txBody>
          <a:bodyPr wrap="square" lIns="0" tIns="0" rIns="0" bIns="0" rtlCol="0" anchor="ctr"/>
          <a:lstStyle/>
          <a:p>
            <a:pPr indent="0" marL="0">
              <a:buNone/>
            </a:pPr>
            <a:r>
              <a:rPr lang="en-US" sz="1050" dirty="0">
                <a:solidFill>
                  <a:srgbClr val="88A8C8"/>
                </a:solidFill>
                <a:latin typeface="Calibri" pitchFamily="34" charset="0"/>
                <a:ea typeface="Calibri" pitchFamily="34" charset="-122"/>
                <a:cs typeface="Calibri" pitchFamily="34" charset="-120"/>
              </a:rPr>
              <a:t>Gadolinium contrast injected. Active enhancing tumor lights up bright — indicates blood-brain barrier breakdown.</a:t>
            </a:r>
            <a:endParaRPr lang="en-US" sz="1050" dirty="0"/>
          </a:p>
        </p:txBody>
      </p:sp>
      <p:sp>
        <p:nvSpPr>
          <p:cNvPr id="28" name="Shape 25"/>
          <p:cNvSpPr/>
          <p:nvPr/>
        </p:nvSpPr>
        <p:spPr>
          <a:xfrm>
            <a:off x="6803136" y="3337560"/>
            <a:ext cx="2212848" cy="1554480"/>
          </a:xfrm>
          <a:prstGeom prst="rect">
            <a:avLst/>
          </a:prstGeom>
          <a:solidFill>
            <a:srgbClr val="0D1A2D"/>
          </a:solidFill>
          <a:ln w="12700">
            <a:solidFill>
              <a:srgbClr val="80D8B0"/>
            </a:solidFill>
            <a:prstDash val="solid"/>
          </a:ln>
        </p:spPr>
      </p:sp>
      <p:sp>
        <p:nvSpPr>
          <p:cNvPr id="29" name="Shape 26"/>
          <p:cNvSpPr/>
          <p:nvPr/>
        </p:nvSpPr>
        <p:spPr>
          <a:xfrm>
            <a:off x="6803136" y="3337560"/>
            <a:ext cx="54864" cy="1554480"/>
          </a:xfrm>
          <a:prstGeom prst="rect">
            <a:avLst/>
          </a:prstGeom>
          <a:solidFill>
            <a:srgbClr val="80D8B0"/>
          </a:solidFill>
          <a:ln w="12700">
            <a:solidFill>
              <a:srgbClr val="80D8B0"/>
            </a:solidFill>
            <a:prstDash val="solid"/>
          </a:ln>
        </p:spPr>
      </p:sp>
      <p:sp>
        <p:nvSpPr>
          <p:cNvPr id="30" name="Text 27"/>
          <p:cNvSpPr/>
          <p:nvPr/>
        </p:nvSpPr>
        <p:spPr>
          <a:xfrm>
            <a:off x="6940296" y="3401568"/>
            <a:ext cx="2011680" cy="256032"/>
          </a:xfrm>
          <a:prstGeom prst="rect">
            <a:avLst/>
          </a:prstGeom>
          <a:noFill/>
          <a:ln/>
        </p:spPr>
        <p:txBody>
          <a:bodyPr wrap="square" lIns="0" tIns="0" rIns="0" bIns="0" rtlCol="0" anchor="ctr"/>
          <a:lstStyle/>
          <a:p>
            <a:pPr indent="0" marL="0">
              <a:buNone/>
            </a:pPr>
            <a:r>
              <a:rPr lang="en-US" sz="1100" b="1" dirty="0">
                <a:solidFill>
                  <a:srgbClr val="80D8B0"/>
                </a:solidFill>
                <a:latin typeface="Calibri" pitchFamily="34" charset="0"/>
                <a:ea typeface="Calibri" pitchFamily="34" charset="-122"/>
                <a:cs typeface="Calibri" pitchFamily="34" charset="-120"/>
              </a:rPr>
              <a:t>T2w</a:t>
            </a:r>
            <a:endParaRPr lang="en-US" sz="1100" dirty="0"/>
          </a:p>
        </p:txBody>
      </p:sp>
      <p:sp>
        <p:nvSpPr>
          <p:cNvPr id="31" name="Text 28"/>
          <p:cNvSpPr/>
          <p:nvPr/>
        </p:nvSpPr>
        <p:spPr>
          <a:xfrm>
            <a:off x="6940296" y="3675888"/>
            <a:ext cx="2011680" cy="1143000"/>
          </a:xfrm>
          <a:prstGeom prst="rect">
            <a:avLst/>
          </a:prstGeom>
          <a:noFill/>
          <a:ln/>
        </p:spPr>
        <p:txBody>
          <a:bodyPr wrap="square" lIns="0" tIns="0" rIns="0" bIns="0" rtlCol="0" anchor="ctr"/>
          <a:lstStyle/>
          <a:p>
            <a:pPr indent="0" marL="0">
              <a:buNone/>
            </a:pPr>
            <a:r>
              <a:rPr lang="en-US" sz="1050" dirty="0">
                <a:solidFill>
                  <a:srgbClr val="88A8C8"/>
                </a:solidFill>
                <a:latin typeface="Calibri" pitchFamily="34" charset="0"/>
                <a:ea typeface="Calibri" pitchFamily="34" charset="-122"/>
                <a:cs typeface="Calibri" pitchFamily="34" charset="-120"/>
              </a:rPr>
              <a:t>Excellent water sensitivity. Edema and all fluid-containing regions appear hyperintense.</a:t>
            </a:r>
            <a:endParaRPr lang="en-US" sz="1050" dirty="0"/>
          </a:p>
        </p:txBody>
      </p:sp>
      <p:sp>
        <p:nvSpPr>
          <p:cNvPr id="32" name="Text 29"/>
          <p:cNvSpPr/>
          <p:nvPr/>
        </p:nvSpPr>
        <p:spPr>
          <a:xfrm>
            <a:off x="137160" y="4892040"/>
            <a:ext cx="8869680" cy="201168"/>
          </a:xfrm>
          <a:prstGeom prst="rect">
            <a:avLst/>
          </a:prstGeom>
          <a:noFill/>
          <a:ln/>
        </p:spPr>
        <p:txBody>
          <a:bodyPr wrap="square" lIns="0" tIns="0" rIns="0" bIns="0" rtlCol="0" anchor="ctr"/>
          <a:lstStyle/>
          <a:p>
            <a:pPr algn="ctr" indent="0" marL="0">
              <a:buNone/>
            </a:pPr>
            <a:r>
              <a:rPr lang="en-US" sz="900" i="1" dirty="0">
                <a:solidFill>
                  <a:srgbClr val="506070"/>
                </a:solidFill>
                <a:latin typeface="Calibri" pitchFamily="34" charset="0"/>
                <a:ea typeface="Calibri" pitchFamily="34" charset="-122"/>
                <a:cs typeface="Calibri" pitchFamily="34" charset="-120"/>
              </a:rPr>
              <a:t>Patient: BRATS_127  ·  Axial Slice 77 of 155  ·  Voxel size: 1×1×1 mm³  ·  All 4 modalities co-registered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MRI Modalities — What Each Channel Captures</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7 / 20</a:t>
            </a:r>
            <a:endParaRPr lang="en-US" sz="900" dirty="0"/>
          </a:p>
        </p:txBody>
      </p:sp>
      <p:sp>
        <p:nvSpPr>
          <p:cNvPr id="6" name="Shape 4"/>
          <p:cNvSpPr/>
          <p:nvPr/>
        </p:nvSpPr>
        <p:spPr>
          <a:xfrm>
            <a:off x="228600" y="777240"/>
            <a:ext cx="2011680" cy="457200"/>
          </a:xfrm>
          <a:prstGeom prst="rect">
            <a:avLst/>
          </a:prstGeom>
          <a:solidFill>
            <a:srgbClr val="009B9B"/>
          </a:solidFill>
          <a:ln w="12700">
            <a:solidFill>
              <a:srgbClr val="009B9B"/>
            </a:solidFill>
            <a:prstDash val="solid"/>
          </a:ln>
        </p:spPr>
      </p:sp>
      <p:sp>
        <p:nvSpPr>
          <p:cNvPr id="7" name="Text 5"/>
          <p:cNvSpPr/>
          <p:nvPr/>
        </p:nvSpPr>
        <p:spPr>
          <a:xfrm>
            <a:off x="228600" y="777240"/>
            <a:ext cx="201168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FLAIR</a:t>
            </a:r>
            <a:endParaRPr lang="en-US" sz="1600" dirty="0"/>
          </a:p>
        </p:txBody>
      </p:sp>
      <p:sp>
        <p:nvSpPr>
          <p:cNvPr id="8" name="Text 6"/>
          <p:cNvSpPr/>
          <p:nvPr/>
        </p:nvSpPr>
        <p:spPr>
          <a:xfrm>
            <a:off x="228600" y="1051560"/>
            <a:ext cx="2011680" cy="201168"/>
          </a:xfrm>
          <a:prstGeom prst="rect">
            <a:avLst/>
          </a:prstGeom>
          <a:noFill/>
          <a:ln/>
        </p:spPr>
        <p:txBody>
          <a:bodyPr wrap="square" lIns="0" tIns="0" rIns="0" bIns="0" rtlCol="0" anchor="ctr"/>
          <a:lstStyle/>
          <a:p>
            <a:pPr algn="ctr" indent="0" marL="0">
              <a:buNone/>
            </a:pPr>
            <a:r>
              <a:rPr lang="en-US" sz="800" i="1" dirty="0">
                <a:solidFill>
                  <a:srgbClr val="FFFFFF"/>
                </a:solidFill>
                <a:latin typeface="Calibri" pitchFamily="34" charset="0"/>
                <a:ea typeface="Calibri" pitchFamily="34" charset="-122"/>
                <a:cs typeface="Calibri" pitchFamily="34" charset="-120"/>
              </a:rPr>
              <a:t>Fluid-Attenuated Inversion Recovery</a:t>
            </a:r>
            <a:endParaRPr lang="en-US" sz="800" dirty="0"/>
          </a:p>
        </p:txBody>
      </p:sp>
      <p:sp>
        <p:nvSpPr>
          <p:cNvPr id="9" name="Shape 7"/>
          <p:cNvSpPr/>
          <p:nvPr/>
        </p:nvSpPr>
        <p:spPr>
          <a:xfrm>
            <a:off x="228600" y="1261872"/>
            <a:ext cx="2011680" cy="3630168"/>
          </a:xfrm>
          <a:prstGeom prst="rect">
            <a:avLst/>
          </a:prstGeom>
          <a:solidFill>
            <a:srgbClr val="FFFFFF"/>
          </a:solidFill>
          <a:ln w="12700">
            <a:solidFill>
              <a:srgbClr val="D0DCF0"/>
            </a:solidFill>
            <a:prstDash val="solid"/>
          </a:ln>
        </p:spPr>
      </p:sp>
      <p:sp>
        <p:nvSpPr>
          <p:cNvPr id="10" name="Text 8"/>
          <p:cNvSpPr/>
          <p:nvPr/>
        </p:nvSpPr>
        <p:spPr>
          <a:xfrm>
            <a:off x="301752" y="1353312"/>
            <a:ext cx="1828800" cy="201168"/>
          </a:xfrm>
          <a:prstGeom prst="rect">
            <a:avLst/>
          </a:prstGeom>
          <a:noFill/>
          <a:ln/>
        </p:spPr>
        <p:txBody>
          <a:bodyPr wrap="square" lIns="0" tIns="0" rIns="0" bIns="0" rtlCol="0" anchor="ctr"/>
          <a:lstStyle/>
          <a:p>
            <a:pPr indent="0" marL="0">
              <a:buNone/>
            </a:pPr>
            <a:r>
              <a:rPr lang="en-US" sz="1000" b="1" dirty="0">
                <a:solidFill>
                  <a:srgbClr val="009B9B"/>
                </a:solidFill>
                <a:latin typeface="Calibri" pitchFamily="34" charset="0"/>
                <a:ea typeface="Calibri" pitchFamily="34" charset="-122"/>
                <a:cs typeface="Calibri" pitchFamily="34" charset="-120"/>
              </a:rPr>
              <a:t>Clinical Role</a:t>
            </a:r>
            <a:endParaRPr lang="en-US" sz="1000" dirty="0"/>
          </a:p>
        </p:txBody>
      </p:sp>
      <p:sp>
        <p:nvSpPr>
          <p:cNvPr id="11" name="Text 9"/>
          <p:cNvSpPr/>
          <p:nvPr/>
        </p:nvSpPr>
        <p:spPr>
          <a:xfrm>
            <a:off x="301752" y="1554480"/>
            <a:ext cx="1828800" cy="274320"/>
          </a:xfrm>
          <a:prstGeom prst="rect">
            <a:avLst/>
          </a:prstGeom>
          <a:noFill/>
          <a:ln/>
        </p:spPr>
        <p:txBody>
          <a:bodyPr wrap="square" lIns="0" tIns="0" rIns="0" bIns="0" rtlCol="0" anchor="ctr"/>
          <a:lstStyle/>
          <a:p>
            <a:pPr indent="0" marL="0">
              <a:buNone/>
            </a:pPr>
            <a:r>
              <a:rPr lang="en-US" sz="1000" dirty="0">
                <a:solidFill>
                  <a:srgbClr val="0B1E3D"/>
                </a:solidFill>
                <a:latin typeface="Calibri" pitchFamily="34" charset="0"/>
                <a:ea typeface="Calibri" pitchFamily="34" charset="-122"/>
                <a:cs typeface="Calibri" pitchFamily="34" charset="-120"/>
              </a:rPr>
              <a:t>Primary Infiltration Detector</a:t>
            </a:r>
            <a:endParaRPr lang="en-US" sz="1000" dirty="0"/>
          </a:p>
        </p:txBody>
      </p:sp>
      <p:sp>
        <p:nvSpPr>
          <p:cNvPr id="12" name="Text 10"/>
          <p:cNvSpPr/>
          <p:nvPr/>
        </p:nvSpPr>
        <p:spPr>
          <a:xfrm>
            <a:off x="301752" y="1901952"/>
            <a:ext cx="1828800" cy="201168"/>
          </a:xfrm>
          <a:prstGeom prst="rect">
            <a:avLst/>
          </a:prstGeom>
          <a:noFill/>
          <a:ln/>
        </p:spPr>
        <p:txBody>
          <a:bodyPr wrap="square" lIns="0" tIns="0" rIns="0" bIns="0" rtlCol="0" anchor="ctr"/>
          <a:lstStyle/>
          <a:p>
            <a:pPr indent="0" marL="0">
              <a:buNone/>
            </a:pPr>
            <a:r>
              <a:rPr lang="en-US" sz="1000" b="1" dirty="0">
                <a:solidFill>
                  <a:srgbClr val="009B9B"/>
                </a:solidFill>
                <a:latin typeface="Calibri" pitchFamily="34" charset="0"/>
                <a:ea typeface="Calibri" pitchFamily="34" charset="-122"/>
                <a:cs typeface="Calibri" pitchFamily="34" charset="-120"/>
              </a:rPr>
              <a:t>Physics of Signal</a:t>
            </a:r>
            <a:endParaRPr lang="en-US" sz="1000" dirty="0"/>
          </a:p>
        </p:txBody>
      </p:sp>
      <p:sp>
        <p:nvSpPr>
          <p:cNvPr id="13" name="Text 11"/>
          <p:cNvSpPr/>
          <p:nvPr/>
        </p:nvSpPr>
        <p:spPr>
          <a:xfrm>
            <a:off x="301752" y="2103120"/>
            <a:ext cx="1828800" cy="50292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Inverts then suppresses normal CSF bright signal, leaving ONLY pathological fluid visible.</a:t>
            </a:r>
            <a:endParaRPr lang="en-US" sz="1000" dirty="0"/>
          </a:p>
        </p:txBody>
      </p:sp>
      <p:sp>
        <p:nvSpPr>
          <p:cNvPr id="14" name="Text 12"/>
          <p:cNvSpPr/>
          <p:nvPr/>
        </p:nvSpPr>
        <p:spPr>
          <a:xfrm>
            <a:off x="301752" y="2670048"/>
            <a:ext cx="1828800" cy="201168"/>
          </a:xfrm>
          <a:prstGeom prst="rect">
            <a:avLst/>
          </a:prstGeom>
          <a:noFill/>
          <a:ln/>
        </p:spPr>
        <p:txBody>
          <a:bodyPr wrap="square" lIns="0" tIns="0" rIns="0" bIns="0" rtlCol="0" anchor="ctr"/>
          <a:lstStyle/>
          <a:p>
            <a:pPr indent="0" marL="0">
              <a:buNone/>
            </a:pPr>
            <a:r>
              <a:rPr lang="en-US" sz="1000" b="1" dirty="0">
                <a:solidFill>
                  <a:srgbClr val="009B9B"/>
                </a:solidFill>
                <a:latin typeface="Calibri" pitchFamily="34" charset="0"/>
                <a:ea typeface="Calibri" pitchFamily="34" charset="-122"/>
                <a:cs typeface="Calibri" pitchFamily="34" charset="-120"/>
              </a:rPr>
              <a:t>Appears Bright</a:t>
            </a:r>
            <a:endParaRPr lang="en-US" sz="1000" dirty="0"/>
          </a:p>
        </p:txBody>
      </p:sp>
      <p:sp>
        <p:nvSpPr>
          <p:cNvPr id="15" name="Text 13"/>
          <p:cNvSpPr/>
          <p:nvPr/>
        </p:nvSpPr>
        <p:spPr>
          <a:xfrm>
            <a:off x="301752" y="2871216"/>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Peritumoral Edema (ED)</a:t>
            </a:r>
            <a:endParaRPr lang="en-US" sz="1000" dirty="0"/>
          </a:p>
        </p:txBody>
      </p:sp>
      <p:sp>
        <p:nvSpPr>
          <p:cNvPr id="16" name="Text 14"/>
          <p:cNvSpPr/>
          <p:nvPr/>
        </p:nvSpPr>
        <p:spPr>
          <a:xfrm>
            <a:off x="301752" y="3172968"/>
            <a:ext cx="1828800" cy="201168"/>
          </a:xfrm>
          <a:prstGeom prst="rect">
            <a:avLst/>
          </a:prstGeom>
          <a:noFill/>
          <a:ln/>
        </p:spPr>
        <p:txBody>
          <a:bodyPr wrap="square" lIns="0" tIns="0" rIns="0" bIns="0" rtlCol="0" anchor="ctr"/>
          <a:lstStyle/>
          <a:p>
            <a:pPr indent="0" marL="0">
              <a:buNone/>
            </a:pPr>
            <a:r>
              <a:rPr lang="en-US" sz="1000" b="1" dirty="0">
                <a:solidFill>
                  <a:srgbClr val="009B9B"/>
                </a:solidFill>
                <a:latin typeface="Calibri" pitchFamily="34" charset="0"/>
                <a:ea typeface="Calibri" pitchFamily="34" charset="-122"/>
                <a:cs typeface="Calibri" pitchFamily="34" charset="-120"/>
              </a:rPr>
              <a:t>Appears Dark</a:t>
            </a:r>
            <a:endParaRPr lang="en-US" sz="1000" dirty="0"/>
          </a:p>
        </p:txBody>
      </p:sp>
      <p:sp>
        <p:nvSpPr>
          <p:cNvPr id="17" name="Text 15"/>
          <p:cNvSpPr/>
          <p:nvPr/>
        </p:nvSpPr>
        <p:spPr>
          <a:xfrm>
            <a:off x="301752" y="3364992"/>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Normal CSF / Ventricles</a:t>
            </a:r>
            <a:endParaRPr lang="en-US" sz="1000" dirty="0"/>
          </a:p>
        </p:txBody>
      </p:sp>
      <p:sp>
        <p:nvSpPr>
          <p:cNvPr id="18" name="Shape 16"/>
          <p:cNvSpPr/>
          <p:nvPr/>
        </p:nvSpPr>
        <p:spPr>
          <a:xfrm>
            <a:off x="301752" y="3703320"/>
            <a:ext cx="1865376" cy="1115568"/>
          </a:xfrm>
          <a:prstGeom prst="rect">
            <a:avLst/>
          </a:prstGeom>
          <a:solidFill>
            <a:srgbClr val="F5F9FF"/>
          </a:solidFill>
          <a:ln w="12700">
            <a:solidFill>
              <a:srgbClr val="D0DCF0"/>
            </a:solidFill>
            <a:prstDash val="solid"/>
          </a:ln>
        </p:spPr>
      </p:sp>
      <p:sp>
        <p:nvSpPr>
          <p:cNvPr id="19" name="Text 17"/>
          <p:cNvSpPr/>
          <p:nvPr/>
        </p:nvSpPr>
        <p:spPr>
          <a:xfrm>
            <a:off x="338328" y="3739896"/>
            <a:ext cx="1792224" cy="201168"/>
          </a:xfrm>
          <a:prstGeom prst="rect">
            <a:avLst/>
          </a:prstGeom>
          <a:noFill/>
          <a:ln/>
        </p:spPr>
        <p:txBody>
          <a:bodyPr wrap="square" lIns="0" tIns="0" rIns="0" bIns="0" rtlCol="0" anchor="ctr"/>
          <a:lstStyle/>
          <a:p>
            <a:pPr indent="0" marL="0">
              <a:buNone/>
            </a:pPr>
            <a:r>
              <a:rPr lang="en-US" sz="950" b="1" dirty="0">
                <a:solidFill>
                  <a:srgbClr val="009B9B"/>
                </a:solidFill>
                <a:latin typeface="Calibri" pitchFamily="34" charset="0"/>
                <a:ea typeface="Calibri" pitchFamily="34" charset="-122"/>
                <a:cs typeface="Calibri" pitchFamily="34" charset="-120"/>
              </a:rPr>
              <a:t>Clinical Use</a:t>
            </a:r>
            <a:endParaRPr lang="en-US" sz="950" dirty="0"/>
          </a:p>
        </p:txBody>
      </p:sp>
      <p:sp>
        <p:nvSpPr>
          <p:cNvPr id="20" name="Text 18"/>
          <p:cNvSpPr/>
          <p:nvPr/>
        </p:nvSpPr>
        <p:spPr>
          <a:xfrm>
            <a:off x="338328" y="3931920"/>
            <a:ext cx="1792224" cy="80467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Most sensitive for detecting tumor infiltration beyond the visible core.</a:t>
            </a:r>
            <a:endParaRPr lang="en-US" sz="1000" dirty="0"/>
          </a:p>
        </p:txBody>
      </p:sp>
      <p:sp>
        <p:nvSpPr>
          <p:cNvPr id="21" name="Shape 19"/>
          <p:cNvSpPr/>
          <p:nvPr/>
        </p:nvSpPr>
        <p:spPr>
          <a:xfrm>
            <a:off x="2404872" y="777240"/>
            <a:ext cx="2011680" cy="457200"/>
          </a:xfrm>
          <a:prstGeom prst="rect">
            <a:avLst/>
          </a:prstGeom>
          <a:solidFill>
            <a:srgbClr val="3D5A80"/>
          </a:solidFill>
          <a:ln w="12700">
            <a:solidFill>
              <a:srgbClr val="3D5A80"/>
            </a:solidFill>
            <a:prstDash val="solid"/>
          </a:ln>
        </p:spPr>
      </p:sp>
      <p:sp>
        <p:nvSpPr>
          <p:cNvPr id="22" name="Text 20"/>
          <p:cNvSpPr/>
          <p:nvPr/>
        </p:nvSpPr>
        <p:spPr>
          <a:xfrm>
            <a:off x="2404872" y="777240"/>
            <a:ext cx="201168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T1w</a:t>
            </a:r>
            <a:endParaRPr lang="en-US" sz="1600" dirty="0"/>
          </a:p>
        </p:txBody>
      </p:sp>
      <p:sp>
        <p:nvSpPr>
          <p:cNvPr id="23" name="Text 21"/>
          <p:cNvSpPr/>
          <p:nvPr/>
        </p:nvSpPr>
        <p:spPr>
          <a:xfrm>
            <a:off x="2404872" y="1051560"/>
            <a:ext cx="2011680" cy="201168"/>
          </a:xfrm>
          <a:prstGeom prst="rect">
            <a:avLst/>
          </a:prstGeom>
          <a:noFill/>
          <a:ln/>
        </p:spPr>
        <p:txBody>
          <a:bodyPr wrap="square" lIns="0" tIns="0" rIns="0" bIns="0" rtlCol="0" anchor="ctr"/>
          <a:lstStyle/>
          <a:p>
            <a:pPr algn="ctr" indent="0" marL="0">
              <a:buNone/>
            </a:pPr>
            <a:r>
              <a:rPr lang="en-US" sz="800" i="1" dirty="0">
                <a:solidFill>
                  <a:srgbClr val="FFFFFF"/>
                </a:solidFill>
                <a:latin typeface="Calibri" pitchFamily="34" charset="0"/>
                <a:ea typeface="Calibri" pitchFamily="34" charset="-122"/>
                <a:cs typeface="Calibri" pitchFamily="34" charset="-120"/>
              </a:rPr>
              <a:t>T1-Weighted (Native)</a:t>
            </a:r>
            <a:endParaRPr lang="en-US" sz="800" dirty="0"/>
          </a:p>
        </p:txBody>
      </p:sp>
      <p:sp>
        <p:nvSpPr>
          <p:cNvPr id="24" name="Shape 22"/>
          <p:cNvSpPr/>
          <p:nvPr/>
        </p:nvSpPr>
        <p:spPr>
          <a:xfrm>
            <a:off x="2404872" y="1261872"/>
            <a:ext cx="2011680" cy="3630168"/>
          </a:xfrm>
          <a:prstGeom prst="rect">
            <a:avLst/>
          </a:prstGeom>
          <a:solidFill>
            <a:srgbClr val="FFFFFF"/>
          </a:solidFill>
          <a:ln w="12700">
            <a:solidFill>
              <a:srgbClr val="D0DCF0"/>
            </a:solidFill>
            <a:prstDash val="solid"/>
          </a:ln>
        </p:spPr>
      </p:sp>
      <p:sp>
        <p:nvSpPr>
          <p:cNvPr id="25" name="Text 23"/>
          <p:cNvSpPr/>
          <p:nvPr/>
        </p:nvSpPr>
        <p:spPr>
          <a:xfrm>
            <a:off x="2478024" y="1353312"/>
            <a:ext cx="1828800" cy="201168"/>
          </a:xfrm>
          <a:prstGeom prst="rect">
            <a:avLst/>
          </a:prstGeom>
          <a:noFill/>
          <a:ln/>
        </p:spPr>
        <p:txBody>
          <a:bodyPr wrap="square" lIns="0" tIns="0" rIns="0" bIns="0" rtlCol="0" anchor="ctr"/>
          <a:lstStyle/>
          <a:p>
            <a:pPr indent="0" marL="0">
              <a:buNone/>
            </a:pPr>
            <a:r>
              <a:rPr lang="en-US" sz="1000" b="1" dirty="0">
                <a:solidFill>
                  <a:srgbClr val="3D5A80"/>
                </a:solidFill>
                <a:latin typeface="Calibri" pitchFamily="34" charset="0"/>
                <a:ea typeface="Calibri" pitchFamily="34" charset="-122"/>
                <a:cs typeface="Calibri" pitchFamily="34" charset="-120"/>
              </a:rPr>
              <a:t>Clinical Role</a:t>
            </a:r>
            <a:endParaRPr lang="en-US" sz="1000" dirty="0"/>
          </a:p>
        </p:txBody>
      </p:sp>
      <p:sp>
        <p:nvSpPr>
          <p:cNvPr id="26" name="Text 24"/>
          <p:cNvSpPr/>
          <p:nvPr/>
        </p:nvSpPr>
        <p:spPr>
          <a:xfrm>
            <a:off x="2478024" y="1554480"/>
            <a:ext cx="1828800" cy="274320"/>
          </a:xfrm>
          <a:prstGeom prst="rect">
            <a:avLst/>
          </a:prstGeom>
          <a:noFill/>
          <a:ln/>
        </p:spPr>
        <p:txBody>
          <a:bodyPr wrap="square" lIns="0" tIns="0" rIns="0" bIns="0" rtlCol="0" anchor="ctr"/>
          <a:lstStyle/>
          <a:p>
            <a:pPr indent="0" marL="0">
              <a:buNone/>
            </a:pPr>
            <a:r>
              <a:rPr lang="en-US" sz="1000" dirty="0">
                <a:solidFill>
                  <a:srgbClr val="0B1E3D"/>
                </a:solidFill>
                <a:latin typeface="Calibri" pitchFamily="34" charset="0"/>
                <a:ea typeface="Calibri" pitchFamily="34" charset="-122"/>
                <a:cs typeface="Calibri" pitchFamily="34" charset="-120"/>
              </a:rPr>
              <a:t>Anatomical Reference</a:t>
            </a:r>
            <a:endParaRPr lang="en-US" sz="1000" dirty="0"/>
          </a:p>
        </p:txBody>
      </p:sp>
      <p:sp>
        <p:nvSpPr>
          <p:cNvPr id="27" name="Text 25"/>
          <p:cNvSpPr/>
          <p:nvPr/>
        </p:nvSpPr>
        <p:spPr>
          <a:xfrm>
            <a:off x="2478024" y="1901952"/>
            <a:ext cx="1828800" cy="201168"/>
          </a:xfrm>
          <a:prstGeom prst="rect">
            <a:avLst/>
          </a:prstGeom>
          <a:noFill/>
          <a:ln/>
        </p:spPr>
        <p:txBody>
          <a:bodyPr wrap="square" lIns="0" tIns="0" rIns="0" bIns="0" rtlCol="0" anchor="ctr"/>
          <a:lstStyle/>
          <a:p>
            <a:pPr indent="0" marL="0">
              <a:buNone/>
            </a:pPr>
            <a:r>
              <a:rPr lang="en-US" sz="1000" b="1" dirty="0">
                <a:solidFill>
                  <a:srgbClr val="3D5A80"/>
                </a:solidFill>
                <a:latin typeface="Calibri" pitchFamily="34" charset="0"/>
                <a:ea typeface="Calibri" pitchFamily="34" charset="-122"/>
                <a:cs typeface="Calibri" pitchFamily="34" charset="-120"/>
              </a:rPr>
              <a:t>Physics of Signal</a:t>
            </a:r>
            <a:endParaRPr lang="en-US" sz="1000" dirty="0"/>
          </a:p>
        </p:txBody>
      </p:sp>
      <p:sp>
        <p:nvSpPr>
          <p:cNvPr id="28" name="Text 26"/>
          <p:cNvSpPr/>
          <p:nvPr/>
        </p:nvSpPr>
        <p:spPr>
          <a:xfrm>
            <a:off x="2478024" y="2103120"/>
            <a:ext cx="1828800" cy="50292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Measures longitudinal relaxation. Fat and myelin appear bright, water appears dark.</a:t>
            </a:r>
            <a:endParaRPr lang="en-US" sz="1000" dirty="0"/>
          </a:p>
        </p:txBody>
      </p:sp>
      <p:sp>
        <p:nvSpPr>
          <p:cNvPr id="29" name="Text 27"/>
          <p:cNvSpPr/>
          <p:nvPr/>
        </p:nvSpPr>
        <p:spPr>
          <a:xfrm>
            <a:off x="2478024" y="2670048"/>
            <a:ext cx="1828800" cy="201168"/>
          </a:xfrm>
          <a:prstGeom prst="rect">
            <a:avLst/>
          </a:prstGeom>
          <a:noFill/>
          <a:ln/>
        </p:spPr>
        <p:txBody>
          <a:bodyPr wrap="square" lIns="0" tIns="0" rIns="0" bIns="0" rtlCol="0" anchor="ctr"/>
          <a:lstStyle/>
          <a:p>
            <a:pPr indent="0" marL="0">
              <a:buNone/>
            </a:pPr>
            <a:r>
              <a:rPr lang="en-US" sz="1000" b="1" dirty="0">
                <a:solidFill>
                  <a:srgbClr val="3D5A80"/>
                </a:solidFill>
                <a:latin typeface="Calibri" pitchFamily="34" charset="0"/>
                <a:ea typeface="Calibri" pitchFamily="34" charset="-122"/>
                <a:cs typeface="Calibri" pitchFamily="34" charset="-120"/>
              </a:rPr>
              <a:t>Appears Bright</a:t>
            </a:r>
            <a:endParaRPr lang="en-US" sz="1000" dirty="0"/>
          </a:p>
        </p:txBody>
      </p:sp>
      <p:sp>
        <p:nvSpPr>
          <p:cNvPr id="30" name="Text 28"/>
          <p:cNvSpPr/>
          <p:nvPr/>
        </p:nvSpPr>
        <p:spPr>
          <a:xfrm>
            <a:off x="2478024" y="2871216"/>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White matter, Fat</a:t>
            </a:r>
            <a:endParaRPr lang="en-US" sz="1000" dirty="0"/>
          </a:p>
        </p:txBody>
      </p:sp>
      <p:sp>
        <p:nvSpPr>
          <p:cNvPr id="31" name="Text 29"/>
          <p:cNvSpPr/>
          <p:nvPr/>
        </p:nvSpPr>
        <p:spPr>
          <a:xfrm>
            <a:off x="2478024" y="3172968"/>
            <a:ext cx="1828800" cy="201168"/>
          </a:xfrm>
          <a:prstGeom prst="rect">
            <a:avLst/>
          </a:prstGeom>
          <a:noFill/>
          <a:ln/>
        </p:spPr>
        <p:txBody>
          <a:bodyPr wrap="square" lIns="0" tIns="0" rIns="0" bIns="0" rtlCol="0" anchor="ctr"/>
          <a:lstStyle/>
          <a:p>
            <a:pPr indent="0" marL="0">
              <a:buNone/>
            </a:pPr>
            <a:r>
              <a:rPr lang="en-US" sz="1000" b="1" dirty="0">
                <a:solidFill>
                  <a:srgbClr val="3D5A80"/>
                </a:solidFill>
                <a:latin typeface="Calibri" pitchFamily="34" charset="0"/>
                <a:ea typeface="Calibri" pitchFamily="34" charset="-122"/>
                <a:cs typeface="Calibri" pitchFamily="34" charset="-120"/>
              </a:rPr>
              <a:t>Appears Dark</a:t>
            </a:r>
            <a:endParaRPr lang="en-US" sz="1000" dirty="0"/>
          </a:p>
        </p:txBody>
      </p:sp>
      <p:sp>
        <p:nvSpPr>
          <p:cNvPr id="32" name="Text 30"/>
          <p:cNvSpPr/>
          <p:nvPr/>
        </p:nvSpPr>
        <p:spPr>
          <a:xfrm>
            <a:off x="2478024" y="3364992"/>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Tumor mass, CSF</a:t>
            </a:r>
            <a:endParaRPr lang="en-US" sz="1000" dirty="0"/>
          </a:p>
        </p:txBody>
      </p:sp>
      <p:sp>
        <p:nvSpPr>
          <p:cNvPr id="33" name="Shape 31"/>
          <p:cNvSpPr/>
          <p:nvPr/>
        </p:nvSpPr>
        <p:spPr>
          <a:xfrm>
            <a:off x="2478024" y="3703320"/>
            <a:ext cx="1865376" cy="1115568"/>
          </a:xfrm>
          <a:prstGeom prst="rect">
            <a:avLst/>
          </a:prstGeom>
          <a:solidFill>
            <a:srgbClr val="F5F9FF"/>
          </a:solidFill>
          <a:ln w="12700">
            <a:solidFill>
              <a:srgbClr val="D0DCF0"/>
            </a:solidFill>
            <a:prstDash val="solid"/>
          </a:ln>
        </p:spPr>
      </p:sp>
      <p:sp>
        <p:nvSpPr>
          <p:cNvPr id="34" name="Text 32"/>
          <p:cNvSpPr/>
          <p:nvPr/>
        </p:nvSpPr>
        <p:spPr>
          <a:xfrm>
            <a:off x="2514600" y="3739896"/>
            <a:ext cx="1792224" cy="201168"/>
          </a:xfrm>
          <a:prstGeom prst="rect">
            <a:avLst/>
          </a:prstGeom>
          <a:noFill/>
          <a:ln/>
        </p:spPr>
        <p:txBody>
          <a:bodyPr wrap="square" lIns="0" tIns="0" rIns="0" bIns="0" rtlCol="0" anchor="ctr"/>
          <a:lstStyle/>
          <a:p>
            <a:pPr indent="0" marL="0">
              <a:buNone/>
            </a:pPr>
            <a:r>
              <a:rPr lang="en-US" sz="950" b="1" dirty="0">
                <a:solidFill>
                  <a:srgbClr val="3D5A80"/>
                </a:solidFill>
                <a:latin typeface="Calibri" pitchFamily="34" charset="0"/>
                <a:ea typeface="Calibri" pitchFamily="34" charset="-122"/>
                <a:cs typeface="Calibri" pitchFamily="34" charset="-120"/>
              </a:rPr>
              <a:t>Clinical Use</a:t>
            </a:r>
            <a:endParaRPr lang="en-US" sz="950" dirty="0"/>
          </a:p>
        </p:txBody>
      </p:sp>
      <p:sp>
        <p:nvSpPr>
          <p:cNvPr id="35" name="Text 33"/>
          <p:cNvSpPr/>
          <p:nvPr/>
        </p:nvSpPr>
        <p:spPr>
          <a:xfrm>
            <a:off x="2514600" y="3931920"/>
            <a:ext cx="1792224" cy="80467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Used to delineate brain anatomy and necrotic core before contrast.</a:t>
            </a:r>
            <a:endParaRPr lang="en-US" sz="1000" dirty="0"/>
          </a:p>
        </p:txBody>
      </p:sp>
      <p:sp>
        <p:nvSpPr>
          <p:cNvPr id="36" name="Shape 34"/>
          <p:cNvSpPr/>
          <p:nvPr/>
        </p:nvSpPr>
        <p:spPr>
          <a:xfrm>
            <a:off x="4581144" y="777240"/>
            <a:ext cx="2011680" cy="457200"/>
          </a:xfrm>
          <a:prstGeom prst="rect">
            <a:avLst/>
          </a:prstGeom>
          <a:solidFill>
            <a:srgbClr val="F5A623"/>
          </a:solidFill>
          <a:ln w="12700">
            <a:solidFill>
              <a:srgbClr val="F5A623"/>
            </a:solidFill>
            <a:prstDash val="solid"/>
          </a:ln>
        </p:spPr>
      </p:sp>
      <p:sp>
        <p:nvSpPr>
          <p:cNvPr id="37" name="Text 35"/>
          <p:cNvSpPr/>
          <p:nvPr/>
        </p:nvSpPr>
        <p:spPr>
          <a:xfrm>
            <a:off x="4581144" y="777240"/>
            <a:ext cx="2011680" cy="274320"/>
          </a:xfrm>
          <a:prstGeom prst="rect">
            <a:avLst/>
          </a:prstGeom>
          <a:noFill/>
          <a:ln/>
        </p:spPr>
        <p:txBody>
          <a:bodyPr wrap="square" lIns="0" tIns="0" rIns="0" bIns="0" rtlCol="0" anchor="ctr"/>
          <a:lstStyle/>
          <a:p>
            <a:pPr algn="ctr" indent="0" marL="0">
              <a:buNone/>
            </a:pPr>
            <a:r>
              <a:rPr lang="en-US" sz="1600" b="1" dirty="0">
                <a:solidFill>
                  <a:srgbClr val="0B1E3D"/>
                </a:solidFill>
                <a:latin typeface="Calibri" pitchFamily="34" charset="0"/>
                <a:ea typeface="Calibri" pitchFamily="34" charset="-122"/>
                <a:cs typeface="Calibri" pitchFamily="34" charset="-120"/>
              </a:rPr>
              <a:t>T1ce</a:t>
            </a:r>
            <a:endParaRPr lang="en-US" sz="1600" dirty="0"/>
          </a:p>
        </p:txBody>
      </p:sp>
      <p:sp>
        <p:nvSpPr>
          <p:cNvPr id="38" name="Text 36"/>
          <p:cNvSpPr/>
          <p:nvPr/>
        </p:nvSpPr>
        <p:spPr>
          <a:xfrm>
            <a:off x="4581144" y="1051560"/>
            <a:ext cx="2011680" cy="201168"/>
          </a:xfrm>
          <a:prstGeom prst="rect">
            <a:avLst/>
          </a:prstGeom>
          <a:noFill/>
          <a:ln/>
        </p:spPr>
        <p:txBody>
          <a:bodyPr wrap="square" lIns="0" tIns="0" rIns="0" bIns="0" rtlCol="0" anchor="ctr"/>
          <a:lstStyle/>
          <a:p>
            <a:pPr algn="ctr" indent="0" marL="0">
              <a:buNone/>
            </a:pPr>
            <a:r>
              <a:rPr lang="en-US" sz="800" i="1" dirty="0">
                <a:solidFill>
                  <a:srgbClr val="0B1E3D"/>
                </a:solidFill>
                <a:latin typeface="Calibri" pitchFamily="34" charset="0"/>
                <a:ea typeface="Calibri" pitchFamily="34" charset="-122"/>
                <a:cs typeface="Calibri" pitchFamily="34" charset="-120"/>
              </a:rPr>
              <a:t>T1-Weighted Contrast-Enhanced</a:t>
            </a:r>
            <a:endParaRPr lang="en-US" sz="800" dirty="0"/>
          </a:p>
        </p:txBody>
      </p:sp>
      <p:sp>
        <p:nvSpPr>
          <p:cNvPr id="39" name="Shape 37"/>
          <p:cNvSpPr/>
          <p:nvPr/>
        </p:nvSpPr>
        <p:spPr>
          <a:xfrm>
            <a:off x="4581144" y="1261872"/>
            <a:ext cx="2011680" cy="3630168"/>
          </a:xfrm>
          <a:prstGeom prst="rect">
            <a:avLst/>
          </a:prstGeom>
          <a:solidFill>
            <a:srgbClr val="FFFFFF"/>
          </a:solidFill>
          <a:ln w="12700">
            <a:solidFill>
              <a:srgbClr val="D0DCF0"/>
            </a:solidFill>
            <a:prstDash val="solid"/>
          </a:ln>
        </p:spPr>
      </p:sp>
      <p:sp>
        <p:nvSpPr>
          <p:cNvPr id="40" name="Text 38"/>
          <p:cNvSpPr/>
          <p:nvPr/>
        </p:nvSpPr>
        <p:spPr>
          <a:xfrm>
            <a:off x="4654296" y="1353312"/>
            <a:ext cx="1828800" cy="201168"/>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Clinical Role</a:t>
            </a:r>
            <a:endParaRPr lang="en-US" sz="1000" dirty="0"/>
          </a:p>
        </p:txBody>
      </p:sp>
      <p:sp>
        <p:nvSpPr>
          <p:cNvPr id="41" name="Text 39"/>
          <p:cNvSpPr/>
          <p:nvPr/>
        </p:nvSpPr>
        <p:spPr>
          <a:xfrm>
            <a:off x="4654296" y="1554480"/>
            <a:ext cx="1828800" cy="274320"/>
          </a:xfrm>
          <a:prstGeom prst="rect">
            <a:avLst/>
          </a:prstGeom>
          <a:noFill/>
          <a:ln/>
        </p:spPr>
        <p:txBody>
          <a:bodyPr wrap="square" lIns="0" tIns="0" rIns="0" bIns="0" rtlCol="0" anchor="ctr"/>
          <a:lstStyle/>
          <a:p>
            <a:pPr indent="0" marL="0">
              <a:buNone/>
            </a:pPr>
            <a:r>
              <a:rPr lang="en-US" sz="1000" dirty="0">
                <a:solidFill>
                  <a:srgbClr val="0B1E3D"/>
                </a:solidFill>
                <a:latin typeface="Calibri" pitchFamily="34" charset="0"/>
                <a:ea typeface="Calibri" pitchFamily="34" charset="-122"/>
                <a:cs typeface="Calibri" pitchFamily="34" charset="-120"/>
              </a:rPr>
              <a:t>Active Tumor Marker</a:t>
            </a:r>
            <a:endParaRPr lang="en-US" sz="1000" dirty="0"/>
          </a:p>
        </p:txBody>
      </p:sp>
      <p:sp>
        <p:nvSpPr>
          <p:cNvPr id="42" name="Text 40"/>
          <p:cNvSpPr/>
          <p:nvPr/>
        </p:nvSpPr>
        <p:spPr>
          <a:xfrm>
            <a:off x="4654296" y="1901952"/>
            <a:ext cx="1828800" cy="201168"/>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Physics of Signal</a:t>
            </a:r>
            <a:endParaRPr lang="en-US" sz="1000" dirty="0"/>
          </a:p>
        </p:txBody>
      </p:sp>
      <p:sp>
        <p:nvSpPr>
          <p:cNvPr id="43" name="Text 41"/>
          <p:cNvSpPr/>
          <p:nvPr/>
        </p:nvSpPr>
        <p:spPr>
          <a:xfrm>
            <a:off x="4654296" y="2103120"/>
            <a:ext cx="1828800" cy="50292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Gadolinium dye injected IV. Leaks through disrupted blood-brain barrier in active tumor.</a:t>
            </a:r>
            <a:endParaRPr lang="en-US" sz="1000" dirty="0"/>
          </a:p>
        </p:txBody>
      </p:sp>
      <p:sp>
        <p:nvSpPr>
          <p:cNvPr id="44" name="Text 42"/>
          <p:cNvSpPr/>
          <p:nvPr/>
        </p:nvSpPr>
        <p:spPr>
          <a:xfrm>
            <a:off x="4654296" y="2670048"/>
            <a:ext cx="1828800" cy="201168"/>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Appears Bright</a:t>
            </a:r>
            <a:endParaRPr lang="en-US" sz="1000" dirty="0"/>
          </a:p>
        </p:txBody>
      </p:sp>
      <p:sp>
        <p:nvSpPr>
          <p:cNvPr id="45" name="Text 43"/>
          <p:cNvSpPr/>
          <p:nvPr/>
        </p:nvSpPr>
        <p:spPr>
          <a:xfrm>
            <a:off x="4654296" y="2871216"/>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Enhancing Tumor (ET) — active cells</a:t>
            </a:r>
            <a:endParaRPr lang="en-US" sz="1000" dirty="0"/>
          </a:p>
        </p:txBody>
      </p:sp>
      <p:sp>
        <p:nvSpPr>
          <p:cNvPr id="46" name="Text 44"/>
          <p:cNvSpPr/>
          <p:nvPr/>
        </p:nvSpPr>
        <p:spPr>
          <a:xfrm>
            <a:off x="4654296" y="3172968"/>
            <a:ext cx="1828800" cy="201168"/>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Appears Dark</a:t>
            </a:r>
            <a:endParaRPr lang="en-US" sz="1000" dirty="0"/>
          </a:p>
        </p:txBody>
      </p:sp>
      <p:sp>
        <p:nvSpPr>
          <p:cNvPr id="47" name="Text 45"/>
          <p:cNvSpPr/>
          <p:nvPr/>
        </p:nvSpPr>
        <p:spPr>
          <a:xfrm>
            <a:off x="4654296" y="3364992"/>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Healthy tissue</a:t>
            </a:r>
            <a:endParaRPr lang="en-US" sz="1000" dirty="0"/>
          </a:p>
        </p:txBody>
      </p:sp>
      <p:sp>
        <p:nvSpPr>
          <p:cNvPr id="48" name="Shape 46"/>
          <p:cNvSpPr/>
          <p:nvPr/>
        </p:nvSpPr>
        <p:spPr>
          <a:xfrm>
            <a:off x="4654296" y="3703320"/>
            <a:ext cx="1865376" cy="1115568"/>
          </a:xfrm>
          <a:prstGeom prst="rect">
            <a:avLst/>
          </a:prstGeom>
          <a:solidFill>
            <a:srgbClr val="F5F9FF"/>
          </a:solidFill>
          <a:ln w="12700">
            <a:solidFill>
              <a:srgbClr val="D0DCF0"/>
            </a:solidFill>
            <a:prstDash val="solid"/>
          </a:ln>
        </p:spPr>
      </p:sp>
      <p:sp>
        <p:nvSpPr>
          <p:cNvPr id="49" name="Text 47"/>
          <p:cNvSpPr/>
          <p:nvPr/>
        </p:nvSpPr>
        <p:spPr>
          <a:xfrm>
            <a:off x="4690872" y="3739896"/>
            <a:ext cx="1792224" cy="201168"/>
          </a:xfrm>
          <a:prstGeom prst="rect">
            <a:avLst/>
          </a:prstGeom>
          <a:noFill/>
          <a:ln/>
        </p:spPr>
        <p:txBody>
          <a:bodyPr wrap="square" lIns="0" tIns="0" rIns="0" bIns="0" rtlCol="0" anchor="ctr"/>
          <a:lstStyle/>
          <a:p>
            <a:pPr indent="0" marL="0">
              <a:buNone/>
            </a:pPr>
            <a:r>
              <a:rPr lang="en-US" sz="950" b="1" dirty="0">
                <a:solidFill>
                  <a:srgbClr val="F5A623"/>
                </a:solidFill>
                <a:latin typeface="Calibri" pitchFamily="34" charset="0"/>
                <a:ea typeface="Calibri" pitchFamily="34" charset="-122"/>
                <a:cs typeface="Calibri" pitchFamily="34" charset="-120"/>
              </a:rPr>
              <a:t>Clinical Use</a:t>
            </a:r>
            <a:endParaRPr lang="en-US" sz="950" dirty="0"/>
          </a:p>
        </p:txBody>
      </p:sp>
      <p:sp>
        <p:nvSpPr>
          <p:cNvPr id="50" name="Text 48"/>
          <p:cNvSpPr/>
          <p:nvPr/>
        </p:nvSpPr>
        <p:spPr>
          <a:xfrm>
            <a:off x="4690872" y="3931920"/>
            <a:ext cx="1792224" cy="80467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Gold standard for identifying the highly proliferative tumor margin.</a:t>
            </a:r>
            <a:endParaRPr lang="en-US" sz="1000" dirty="0"/>
          </a:p>
        </p:txBody>
      </p:sp>
      <p:sp>
        <p:nvSpPr>
          <p:cNvPr id="51" name="Shape 49"/>
          <p:cNvSpPr/>
          <p:nvPr/>
        </p:nvSpPr>
        <p:spPr>
          <a:xfrm>
            <a:off x="6757416" y="777240"/>
            <a:ext cx="2011680" cy="457200"/>
          </a:xfrm>
          <a:prstGeom prst="rect">
            <a:avLst/>
          </a:prstGeom>
          <a:solidFill>
            <a:srgbClr val="0E6655"/>
          </a:solidFill>
          <a:ln w="12700">
            <a:solidFill>
              <a:srgbClr val="0E6655"/>
            </a:solidFill>
            <a:prstDash val="solid"/>
          </a:ln>
        </p:spPr>
      </p:sp>
      <p:sp>
        <p:nvSpPr>
          <p:cNvPr id="52" name="Text 50"/>
          <p:cNvSpPr/>
          <p:nvPr/>
        </p:nvSpPr>
        <p:spPr>
          <a:xfrm>
            <a:off x="6757416" y="777240"/>
            <a:ext cx="201168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T2w</a:t>
            </a:r>
            <a:endParaRPr lang="en-US" sz="1600" dirty="0"/>
          </a:p>
        </p:txBody>
      </p:sp>
      <p:sp>
        <p:nvSpPr>
          <p:cNvPr id="53" name="Text 51"/>
          <p:cNvSpPr/>
          <p:nvPr/>
        </p:nvSpPr>
        <p:spPr>
          <a:xfrm>
            <a:off x="6757416" y="1051560"/>
            <a:ext cx="2011680" cy="201168"/>
          </a:xfrm>
          <a:prstGeom prst="rect">
            <a:avLst/>
          </a:prstGeom>
          <a:noFill/>
          <a:ln/>
        </p:spPr>
        <p:txBody>
          <a:bodyPr wrap="square" lIns="0" tIns="0" rIns="0" bIns="0" rtlCol="0" anchor="ctr"/>
          <a:lstStyle/>
          <a:p>
            <a:pPr algn="ctr" indent="0" marL="0">
              <a:buNone/>
            </a:pPr>
            <a:r>
              <a:rPr lang="en-US" sz="800" i="1" dirty="0">
                <a:solidFill>
                  <a:srgbClr val="FFFFFF"/>
                </a:solidFill>
                <a:latin typeface="Calibri" pitchFamily="34" charset="0"/>
                <a:ea typeface="Calibri" pitchFamily="34" charset="-122"/>
                <a:cs typeface="Calibri" pitchFamily="34" charset="-120"/>
              </a:rPr>
              <a:t>T2-Weighted</a:t>
            </a:r>
            <a:endParaRPr lang="en-US" sz="800" dirty="0"/>
          </a:p>
        </p:txBody>
      </p:sp>
      <p:sp>
        <p:nvSpPr>
          <p:cNvPr id="54" name="Shape 52"/>
          <p:cNvSpPr/>
          <p:nvPr/>
        </p:nvSpPr>
        <p:spPr>
          <a:xfrm>
            <a:off x="6757416" y="1261872"/>
            <a:ext cx="2011680" cy="3630168"/>
          </a:xfrm>
          <a:prstGeom prst="rect">
            <a:avLst/>
          </a:prstGeom>
          <a:solidFill>
            <a:srgbClr val="FFFFFF"/>
          </a:solidFill>
          <a:ln w="12700">
            <a:solidFill>
              <a:srgbClr val="D0DCF0"/>
            </a:solidFill>
            <a:prstDash val="solid"/>
          </a:ln>
        </p:spPr>
      </p:sp>
      <p:sp>
        <p:nvSpPr>
          <p:cNvPr id="55" name="Text 53"/>
          <p:cNvSpPr/>
          <p:nvPr/>
        </p:nvSpPr>
        <p:spPr>
          <a:xfrm>
            <a:off x="6830568" y="1353312"/>
            <a:ext cx="1828800" cy="201168"/>
          </a:xfrm>
          <a:prstGeom prst="rect">
            <a:avLst/>
          </a:prstGeom>
          <a:noFill/>
          <a:ln/>
        </p:spPr>
        <p:txBody>
          <a:bodyPr wrap="square" lIns="0" tIns="0" rIns="0" bIns="0" rtlCol="0" anchor="ctr"/>
          <a:lstStyle/>
          <a:p>
            <a:pPr indent="0" marL="0">
              <a:buNone/>
            </a:pPr>
            <a:r>
              <a:rPr lang="en-US" sz="1000" b="1" dirty="0">
                <a:solidFill>
                  <a:srgbClr val="0E6655"/>
                </a:solidFill>
                <a:latin typeface="Calibri" pitchFamily="34" charset="0"/>
                <a:ea typeface="Calibri" pitchFamily="34" charset="-122"/>
                <a:cs typeface="Calibri" pitchFamily="34" charset="-120"/>
              </a:rPr>
              <a:t>Clinical Role</a:t>
            </a:r>
            <a:endParaRPr lang="en-US" sz="1000" dirty="0"/>
          </a:p>
        </p:txBody>
      </p:sp>
      <p:sp>
        <p:nvSpPr>
          <p:cNvPr id="56" name="Text 54"/>
          <p:cNvSpPr/>
          <p:nvPr/>
        </p:nvSpPr>
        <p:spPr>
          <a:xfrm>
            <a:off x="6830568" y="1554480"/>
            <a:ext cx="1828800" cy="274320"/>
          </a:xfrm>
          <a:prstGeom prst="rect">
            <a:avLst/>
          </a:prstGeom>
          <a:noFill/>
          <a:ln/>
        </p:spPr>
        <p:txBody>
          <a:bodyPr wrap="square" lIns="0" tIns="0" rIns="0" bIns="0" rtlCol="0" anchor="ctr"/>
          <a:lstStyle/>
          <a:p>
            <a:pPr indent="0" marL="0">
              <a:buNone/>
            </a:pPr>
            <a:r>
              <a:rPr lang="en-US" sz="1000" dirty="0">
                <a:solidFill>
                  <a:srgbClr val="0B1E3D"/>
                </a:solidFill>
                <a:latin typeface="Calibri" pitchFamily="34" charset="0"/>
                <a:ea typeface="Calibri" pitchFamily="34" charset="-122"/>
                <a:cs typeface="Calibri" pitchFamily="34" charset="-120"/>
              </a:rPr>
              <a:t>Water Content Map</a:t>
            </a:r>
            <a:endParaRPr lang="en-US" sz="1000" dirty="0"/>
          </a:p>
        </p:txBody>
      </p:sp>
      <p:sp>
        <p:nvSpPr>
          <p:cNvPr id="57" name="Text 55"/>
          <p:cNvSpPr/>
          <p:nvPr/>
        </p:nvSpPr>
        <p:spPr>
          <a:xfrm>
            <a:off x="6830568" y="1901952"/>
            <a:ext cx="1828800" cy="201168"/>
          </a:xfrm>
          <a:prstGeom prst="rect">
            <a:avLst/>
          </a:prstGeom>
          <a:noFill/>
          <a:ln/>
        </p:spPr>
        <p:txBody>
          <a:bodyPr wrap="square" lIns="0" tIns="0" rIns="0" bIns="0" rtlCol="0" anchor="ctr"/>
          <a:lstStyle/>
          <a:p>
            <a:pPr indent="0" marL="0">
              <a:buNone/>
            </a:pPr>
            <a:r>
              <a:rPr lang="en-US" sz="1000" b="1" dirty="0">
                <a:solidFill>
                  <a:srgbClr val="0E6655"/>
                </a:solidFill>
                <a:latin typeface="Calibri" pitchFamily="34" charset="0"/>
                <a:ea typeface="Calibri" pitchFamily="34" charset="-122"/>
                <a:cs typeface="Calibri" pitchFamily="34" charset="-120"/>
              </a:rPr>
              <a:t>Physics of Signal</a:t>
            </a:r>
            <a:endParaRPr lang="en-US" sz="1000" dirty="0"/>
          </a:p>
        </p:txBody>
      </p:sp>
      <p:sp>
        <p:nvSpPr>
          <p:cNvPr id="58" name="Text 56"/>
          <p:cNvSpPr/>
          <p:nvPr/>
        </p:nvSpPr>
        <p:spPr>
          <a:xfrm>
            <a:off x="6830568" y="2103120"/>
            <a:ext cx="1828800" cy="50292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Measures transverse relaxation. Any region with excess water (including edema) glows bright.</a:t>
            </a:r>
            <a:endParaRPr lang="en-US" sz="1000" dirty="0"/>
          </a:p>
        </p:txBody>
      </p:sp>
      <p:sp>
        <p:nvSpPr>
          <p:cNvPr id="59" name="Text 57"/>
          <p:cNvSpPr/>
          <p:nvPr/>
        </p:nvSpPr>
        <p:spPr>
          <a:xfrm>
            <a:off x="6830568" y="2670048"/>
            <a:ext cx="1828800" cy="201168"/>
          </a:xfrm>
          <a:prstGeom prst="rect">
            <a:avLst/>
          </a:prstGeom>
          <a:noFill/>
          <a:ln/>
        </p:spPr>
        <p:txBody>
          <a:bodyPr wrap="square" lIns="0" tIns="0" rIns="0" bIns="0" rtlCol="0" anchor="ctr"/>
          <a:lstStyle/>
          <a:p>
            <a:pPr indent="0" marL="0">
              <a:buNone/>
            </a:pPr>
            <a:r>
              <a:rPr lang="en-US" sz="1000" b="1" dirty="0">
                <a:solidFill>
                  <a:srgbClr val="0E6655"/>
                </a:solidFill>
                <a:latin typeface="Calibri" pitchFamily="34" charset="0"/>
                <a:ea typeface="Calibri" pitchFamily="34" charset="-122"/>
                <a:cs typeface="Calibri" pitchFamily="34" charset="-120"/>
              </a:rPr>
              <a:t>Appears Bright</a:t>
            </a:r>
            <a:endParaRPr lang="en-US" sz="1000" dirty="0"/>
          </a:p>
        </p:txBody>
      </p:sp>
      <p:sp>
        <p:nvSpPr>
          <p:cNvPr id="60" name="Text 58"/>
          <p:cNvSpPr/>
          <p:nvPr/>
        </p:nvSpPr>
        <p:spPr>
          <a:xfrm>
            <a:off x="6830568" y="2871216"/>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Edema, CSF, All fluid</a:t>
            </a:r>
            <a:endParaRPr lang="en-US" sz="1000" dirty="0"/>
          </a:p>
        </p:txBody>
      </p:sp>
      <p:sp>
        <p:nvSpPr>
          <p:cNvPr id="61" name="Text 59"/>
          <p:cNvSpPr/>
          <p:nvPr/>
        </p:nvSpPr>
        <p:spPr>
          <a:xfrm>
            <a:off x="6830568" y="3172968"/>
            <a:ext cx="1828800" cy="201168"/>
          </a:xfrm>
          <a:prstGeom prst="rect">
            <a:avLst/>
          </a:prstGeom>
          <a:noFill/>
          <a:ln/>
        </p:spPr>
        <p:txBody>
          <a:bodyPr wrap="square" lIns="0" tIns="0" rIns="0" bIns="0" rtlCol="0" anchor="ctr"/>
          <a:lstStyle/>
          <a:p>
            <a:pPr indent="0" marL="0">
              <a:buNone/>
            </a:pPr>
            <a:r>
              <a:rPr lang="en-US" sz="1000" b="1" dirty="0">
                <a:solidFill>
                  <a:srgbClr val="0E6655"/>
                </a:solidFill>
                <a:latin typeface="Calibri" pitchFamily="34" charset="0"/>
                <a:ea typeface="Calibri" pitchFamily="34" charset="-122"/>
                <a:cs typeface="Calibri" pitchFamily="34" charset="-120"/>
              </a:rPr>
              <a:t>Appears Dark</a:t>
            </a:r>
            <a:endParaRPr lang="en-US" sz="1000" dirty="0"/>
          </a:p>
        </p:txBody>
      </p:sp>
      <p:sp>
        <p:nvSpPr>
          <p:cNvPr id="62" name="Text 60"/>
          <p:cNvSpPr/>
          <p:nvPr/>
        </p:nvSpPr>
        <p:spPr>
          <a:xfrm>
            <a:off x="6830568" y="3364992"/>
            <a:ext cx="1828800" cy="25603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White matter</a:t>
            </a:r>
            <a:endParaRPr lang="en-US" sz="1000" dirty="0"/>
          </a:p>
        </p:txBody>
      </p:sp>
      <p:sp>
        <p:nvSpPr>
          <p:cNvPr id="63" name="Shape 61"/>
          <p:cNvSpPr/>
          <p:nvPr/>
        </p:nvSpPr>
        <p:spPr>
          <a:xfrm>
            <a:off x="6830568" y="3703320"/>
            <a:ext cx="1865376" cy="1115568"/>
          </a:xfrm>
          <a:prstGeom prst="rect">
            <a:avLst/>
          </a:prstGeom>
          <a:solidFill>
            <a:srgbClr val="F5F9FF"/>
          </a:solidFill>
          <a:ln w="12700">
            <a:solidFill>
              <a:srgbClr val="D0DCF0"/>
            </a:solidFill>
            <a:prstDash val="solid"/>
          </a:ln>
        </p:spPr>
      </p:sp>
      <p:sp>
        <p:nvSpPr>
          <p:cNvPr id="64" name="Text 62"/>
          <p:cNvSpPr/>
          <p:nvPr/>
        </p:nvSpPr>
        <p:spPr>
          <a:xfrm>
            <a:off x="6867144" y="3739896"/>
            <a:ext cx="1792224" cy="201168"/>
          </a:xfrm>
          <a:prstGeom prst="rect">
            <a:avLst/>
          </a:prstGeom>
          <a:noFill/>
          <a:ln/>
        </p:spPr>
        <p:txBody>
          <a:bodyPr wrap="square" lIns="0" tIns="0" rIns="0" bIns="0" rtlCol="0" anchor="ctr"/>
          <a:lstStyle/>
          <a:p>
            <a:pPr indent="0" marL="0">
              <a:buNone/>
            </a:pPr>
            <a:r>
              <a:rPr lang="en-US" sz="950" b="1" dirty="0">
                <a:solidFill>
                  <a:srgbClr val="0E6655"/>
                </a:solidFill>
                <a:latin typeface="Calibri" pitchFamily="34" charset="0"/>
                <a:ea typeface="Calibri" pitchFamily="34" charset="-122"/>
                <a:cs typeface="Calibri" pitchFamily="34" charset="-120"/>
              </a:rPr>
              <a:t>Clinical Use</a:t>
            </a:r>
            <a:endParaRPr lang="en-US" sz="950" dirty="0"/>
          </a:p>
        </p:txBody>
      </p:sp>
      <p:sp>
        <p:nvSpPr>
          <p:cNvPr id="65" name="Text 63"/>
          <p:cNvSpPr/>
          <p:nvPr/>
        </p:nvSpPr>
        <p:spPr>
          <a:xfrm>
            <a:off x="6867144" y="3931920"/>
            <a:ext cx="1792224" cy="804672"/>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Excellent for total tumor extent; best used combined with FLAIR.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Ground Truth Labels — Expert Segmentation Masks</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8 / 20</a:t>
            </a:r>
            <a:endParaRPr lang="en-US" sz="900" dirty="0"/>
          </a:p>
        </p:txBody>
      </p:sp>
      <p:sp>
        <p:nvSpPr>
          <p:cNvPr id="6" name="Shape 4"/>
          <p:cNvSpPr/>
          <p:nvPr/>
        </p:nvSpPr>
        <p:spPr>
          <a:xfrm>
            <a:off x="228600" y="804672"/>
            <a:ext cx="8686800" cy="987552"/>
          </a:xfrm>
          <a:prstGeom prst="rect">
            <a:avLst/>
          </a:prstGeom>
          <a:solidFill>
            <a:srgbClr val="E8F0FA"/>
          </a:solidFill>
          <a:ln w="12700">
            <a:solidFill>
              <a:srgbClr val="D0D8E8"/>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228600" y="804672"/>
            <a:ext cx="502920" cy="987552"/>
          </a:xfrm>
          <a:prstGeom prst="rect">
            <a:avLst/>
          </a:prstGeom>
          <a:solidFill>
            <a:srgbClr val="7090A8"/>
          </a:solidFill>
          <a:ln w="12700">
            <a:solidFill>
              <a:srgbClr val="7090A8"/>
            </a:solidFill>
            <a:prstDash val="solid"/>
          </a:ln>
        </p:spPr>
      </p:sp>
      <p:sp>
        <p:nvSpPr>
          <p:cNvPr id="8" name="Text 6"/>
          <p:cNvSpPr/>
          <p:nvPr/>
        </p:nvSpPr>
        <p:spPr>
          <a:xfrm>
            <a:off x="228600" y="804672"/>
            <a:ext cx="502920" cy="9875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9" name="Text 7"/>
          <p:cNvSpPr/>
          <p:nvPr/>
        </p:nvSpPr>
        <p:spPr>
          <a:xfrm>
            <a:off x="868680" y="850392"/>
            <a:ext cx="3200400" cy="292608"/>
          </a:xfrm>
          <a:prstGeom prst="rect">
            <a:avLst/>
          </a:prstGeom>
          <a:noFill/>
          <a:ln/>
        </p:spPr>
        <p:txBody>
          <a:bodyPr wrap="square" lIns="0" tIns="0" rIns="0" bIns="0" rtlCol="0" anchor="ctr"/>
          <a:lstStyle/>
          <a:p>
            <a:pPr indent="0" marL="0">
              <a:buNone/>
            </a:pPr>
            <a:r>
              <a:rPr lang="en-US" sz="1300" b="1" dirty="0">
                <a:solidFill>
                  <a:srgbClr val="7090A8"/>
                </a:solidFill>
                <a:latin typeface="Calibri" pitchFamily="34" charset="0"/>
                <a:ea typeface="Calibri" pitchFamily="34" charset="-122"/>
                <a:cs typeface="Calibri" pitchFamily="34" charset="-120"/>
              </a:rPr>
              <a:t>Background</a:t>
            </a:r>
            <a:endParaRPr lang="en-US" sz="1300" dirty="0"/>
          </a:p>
        </p:txBody>
      </p:sp>
      <p:sp>
        <p:nvSpPr>
          <p:cNvPr id="10" name="Shape 8"/>
          <p:cNvSpPr/>
          <p:nvPr/>
        </p:nvSpPr>
        <p:spPr>
          <a:xfrm>
            <a:off x="4160520" y="850392"/>
            <a:ext cx="1005840" cy="292608"/>
          </a:xfrm>
          <a:prstGeom prst="rect">
            <a:avLst/>
          </a:prstGeom>
          <a:solidFill>
            <a:srgbClr val="7090A8"/>
          </a:solidFill>
          <a:ln w="12700">
            <a:solidFill>
              <a:srgbClr val="7090A8"/>
            </a:solidFill>
            <a:prstDash val="solid"/>
          </a:ln>
        </p:spPr>
      </p:sp>
      <p:sp>
        <p:nvSpPr>
          <p:cNvPr id="11" name="Text 9"/>
          <p:cNvSpPr/>
          <p:nvPr/>
        </p:nvSpPr>
        <p:spPr>
          <a:xfrm>
            <a:off x="4160520" y="850392"/>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 = 0.00</a:t>
            </a:r>
            <a:endParaRPr lang="en-US" sz="1100" dirty="0"/>
          </a:p>
        </p:txBody>
      </p:sp>
      <p:sp>
        <p:nvSpPr>
          <p:cNvPr id="12" name="Text 10"/>
          <p:cNvSpPr/>
          <p:nvPr/>
        </p:nvSpPr>
        <p:spPr>
          <a:xfrm>
            <a:off x="5257800" y="877824"/>
            <a:ext cx="3474720" cy="228600"/>
          </a:xfrm>
          <a:prstGeom prst="rect">
            <a:avLst/>
          </a:prstGeom>
          <a:noFill/>
          <a:ln/>
        </p:spPr>
        <p:txBody>
          <a:bodyPr wrap="square" lIns="0" tIns="0" rIns="0" bIns="0" rtlCol="0" anchor="ctr"/>
          <a:lstStyle/>
          <a:p>
            <a:pPr indent="0" marL="0">
              <a:buNone/>
            </a:pPr>
            <a:r>
              <a:rPr lang="en-US" sz="950" i="1" dirty="0">
                <a:solidFill>
                  <a:srgbClr val="7A90A8"/>
                </a:solidFill>
                <a:latin typeface="Calibri" pitchFamily="34" charset="0"/>
                <a:ea typeface="Calibri" pitchFamily="34" charset="-122"/>
                <a:cs typeface="Calibri" pitchFamily="34" charset="-120"/>
              </a:rPr>
              <a:t>(Physics density assignment)</a:t>
            </a:r>
            <a:endParaRPr lang="en-US" sz="950" dirty="0"/>
          </a:p>
        </p:txBody>
      </p:sp>
      <p:sp>
        <p:nvSpPr>
          <p:cNvPr id="13" name="Text 11"/>
          <p:cNvSpPr/>
          <p:nvPr/>
        </p:nvSpPr>
        <p:spPr>
          <a:xfrm>
            <a:off x="868680" y="1161288"/>
            <a:ext cx="425196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Healthy brain tissue and non-brain regions. No tumor cells present.</a:t>
            </a:r>
            <a:endParaRPr lang="en-US" sz="1050" dirty="0"/>
          </a:p>
        </p:txBody>
      </p:sp>
      <p:sp>
        <p:nvSpPr>
          <p:cNvPr id="14" name="Text 12"/>
          <p:cNvSpPr/>
          <p:nvPr/>
        </p:nvSpPr>
        <p:spPr>
          <a:xfrm>
            <a:off x="5257800" y="1133856"/>
            <a:ext cx="3520440" cy="566928"/>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Region: Everything outside tumor zones.</a:t>
            </a:r>
            <a:endParaRPr lang="en-US" sz="1050" dirty="0"/>
          </a:p>
        </p:txBody>
      </p:sp>
      <p:sp>
        <p:nvSpPr>
          <p:cNvPr id="15" name="Shape 13"/>
          <p:cNvSpPr/>
          <p:nvPr/>
        </p:nvSpPr>
        <p:spPr>
          <a:xfrm>
            <a:off x="228600" y="1847088"/>
            <a:ext cx="8686800" cy="987552"/>
          </a:xfrm>
          <a:prstGeom prst="rect">
            <a:avLst/>
          </a:prstGeom>
          <a:solidFill>
            <a:srgbClr val="F0E8FF"/>
          </a:solidFill>
          <a:ln w="12700">
            <a:solidFill>
              <a:srgbClr val="D0D8E8"/>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228600" y="1847088"/>
            <a:ext cx="502920" cy="987552"/>
          </a:xfrm>
          <a:prstGeom prst="rect">
            <a:avLst/>
          </a:prstGeom>
          <a:solidFill>
            <a:srgbClr val="8060A0"/>
          </a:solidFill>
          <a:ln w="12700">
            <a:solidFill>
              <a:srgbClr val="8060A0"/>
            </a:solidFill>
            <a:prstDash val="solid"/>
          </a:ln>
        </p:spPr>
      </p:sp>
      <p:sp>
        <p:nvSpPr>
          <p:cNvPr id="17" name="Text 15"/>
          <p:cNvSpPr/>
          <p:nvPr/>
        </p:nvSpPr>
        <p:spPr>
          <a:xfrm>
            <a:off x="228600" y="1847088"/>
            <a:ext cx="502920" cy="9875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8" name="Text 16"/>
          <p:cNvSpPr/>
          <p:nvPr/>
        </p:nvSpPr>
        <p:spPr>
          <a:xfrm>
            <a:off x="868680" y="1892808"/>
            <a:ext cx="3200400" cy="292608"/>
          </a:xfrm>
          <a:prstGeom prst="rect">
            <a:avLst/>
          </a:prstGeom>
          <a:noFill/>
          <a:ln/>
        </p:spPr>
        <p:txBody>
          <a:bodyPr wrap="square" lIns="0" tIns="0" rIns="0" bIns="0" rtlCol="0" anchor="ctr"/>
          <a:lstStyle/>
          <a:p>
            <a:pPr indent="0" marL="0">
              <a:buNone/>
            </a:pPr>
            <a:r>
              <a:rPr lang="en-US" sz="1300" b="1" dirty="0">
                <a:solidFill>
                  <a:srgbClr val="8060A0"/>
                </a:solidFill>
                <a:latin typeface="Calibri" pitchFamily="34" charset="0"/>
                <a:ea typeface="Calibri" pitchFamily="34" charset="-122"/>
                <a:cs typeface="Calibri" pitchFamily="34" charset="-120"/>
              </a:rPr>
              <a:t>NCR/NET — Necrotic Core</a:t>
            </a:r>
            <a:endParaRPr lang="en-US" sz="1300" dirty="0"/>
          </a:p>
        </p:txBody>
      </p:sp>
      <p:sp>
        <p:nvSpPr>
          <p:cNvPr id="19" name="Shape 17"/>
          <p:cNvSpPr/>
          <p:nvPr/>
        </p:nvSpPr>
        <p:spPr>
          <a:xfrm>
            <a:off x="4160520" y="1892808"/>
            <a:ext cx="1005840" cy="292608"/>
          </a:xfrm>
          <a:prstGeom prst="rect">
            <a:avLst/>
          </a:prstGeom>
          <a:solidFill>
            <a:srgbClr val="8060A0"/>
          </a:solidFill>
          <a:ln w="12700">
            <a:solidFill>
              <a:srgbClr val="8060A0"/>
            </a:solidFill>
            <a:prstDash val="solid"/>
          </a:ln>
        </p:spPr>
      </p:sp>
      <p:sp>
        <p:nvSpPr>
          <p:cNvPr id="20" name="Text 18"/>
          <p:cNvSpPr/>
          <p:nvPr/>
        </p:nvSpPr>
        <p:spPr>
          <a:xfrm>
            <a:off x="4160520" y="189280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 = 0.60</a:t>
            </a:r>
            <a:endParaRPr lang="en-US" sz="1100" dirty="0"/>
          </a:p>
        </p:txBody>
      </p:sp>
      <p:sp>
        <p:nvSpPr>
          <p:cNvPr id="21" name="Text 19"/>
          <p:cNvSpPr/>
          <p:nvPr/>
        </p:nvSpPr>
        <p:spPr>
          <a:xfrm>
            <a:off x="5257800" y="1920240"/>
            <a:ext cx="3474720" cy="228600"/>
          </a:xfrm>
          <a:prstGeom prst="rect">
            <a:avLst/>
          </a:prstGeom>
          <a:noFill/>
          <a:ln/>
        </p:spPr>
        <p:txBody>
          <a:bodyPr wrap="square" lIns="0" tIns="0" rIns="0" bIns="0" rtlCol="0" anchor="ctr"/>
          <a:lstStyle/>
          <a:p>
            <a:pPr indent="0" marL="0">
              <a:buNone/>
            </a:pPr>
            <a:r>
              <a:rPr lang="en-US" sz="950" i="1" dirty="0">
                <a:solidFill>
                  <a:srgbClr val="7A90A8"/>
                </a:solidFill>
                <a:latin typeface="Calibri" pitchFamily="34" charset="0"/>
                <a:ea typeface="Calibri" pitchFamily="34" charset="-122"/>
                <a:cs typeface="Calibri" pitchFamily="34" charset="-120"/>
              </a:rPr>
              <a:t>(Physics density assignment)</a:t>
            </a:r>
            <a:endParaRPr lang="en-US" sz="950" dirty="0"/>
          </a:p>
        </p:txBody>
      </p:sp>
      <p:sp>
        <p:nvSpPr>
          <p:cNvPr id="22" name="Text 20"/>
          <p:cNvSpPr/>
          <p:nvPr/>
        </p:nvSpPr>
        <p:spPr>
          <a:xfrm>
            <a:off x="868680" y="2203704"/>
            <a:ext cx="425196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Dead tumor cells. Blood supply failed, cells died in place. Still physically dense.</a:t>
            </a:r>
            <a:endParaRPr lang="en-US" sz="1050" dirty="0"/>
          </a:p>
        </p:txBody>
      </p:sp>
      <p:sp>
        <p:nvSpPr>
          <p:cNvPr id="23" name="Text 21"/>
          <p:cNvSpPr/>
          <p:nvPr/>
        </p:nvSpPr>
        <p:spPr>
          <a:xfrm>
            <a:off x="5257800" y="2176272"/>
            <a:ext cx="3520440" cy="566928"/>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Region: Interior of large tumors where blood vessels were destroyed.</a:t>
            </a:r>
            <a:endParaRPr lang="en-US" sz="1050" dirty="0"/>
          </a:p>
        </p:txBody>
      </p:sp>
      <p:sp>
        <p:nvSpPr>
          <p:cNvPr id="24" name="Shape 22"/>
          <p:cNvSpPr/>
          <p:nvPr/>
        </p:nvSpPr>
        <p:spPr>
          <a:xfrm>
            <a:off x="228600" y="2889504"/>
            <a:ext cx="8686800" cy="987552"/>
          </a:xfrm>
          <a:prstGeom prst="rect">
            <a:avLst/>
          </a:prstGeom>
          <a:solidFill>
            <a:srgbClr val="FFF8E8"/>
          </a:solidFill>
          <a:ln w="12700">
            <a:solidFill>
              <a:srgbClr val="D0D8E8"/>
            </a:solidFill>
            <a:prstDash val="solid"/>
          </a:ln>
          <a:effectLst>
            <a:outerShdw sx="100000" sy="100000" kx="0" ky="0" algn="bl" rotWithShape="0" blurRad="50800" dist="25400" dir="8100000">
              <a:srgbClr val="000000">
                <a:alpha val="8000"/>
              </a:srgbClr>
            </a:outerShdw>
          </a:effectLst>
        </p:spPr>
      </p:sp>
      <p:sp>
        <p:nvSpPr>
          <p:cNvPr id="25" name="Shape 23"/>
          <p:cNvSpPr/>
          <p:nvPr/>
        </p:nvSpPr>
        <p:spPr>
          <a:xfrm>
            <a:off x="228600" y="2889504"/>
            <a:ext cx="502920" cy="987552"/>
          </a:xfrm>
          <a:prstGeom prst="rect">
            <a:avLst/>
          </a:prstGeom>
          <a:solidFill>
            <a:srgbClr val="F5A623"/>
          </a:solidFill>
          <a:ln w="12700">
            <a:solidFill>
              <a:srgbClr val="F5A623"/>
            </a:solidFill>
            <a:prstDash val="solid"/>
          </a:ln>
        </p:spPr>
      </p:sp>
      <p:sp>
        <p:nvSpPr>
          <p:cNvPr id="26" name="Text 24"/>
          <p:cNvSpPr/>
          <p:nvPr/>
        </p:nvSpPr>
        <p:spPr>
          <a:xfrm>
            <a:off x="228600" y="2889504"/>
            <a:ext cx="502920" cy="9875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7" name="Text 25"/>
          <p:cNvSpPr/>
          <p:nvPr/>
        </p:nvSpPr>
        <p:spPr>
          <a:xfrm>
            <a:off x="868680" y="2935224"/>
            <a:ext cx="3200400" cy="29260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ED — Peritumoral Edema</a:t>
            </a:r>
            <a:endParaRPr lang="en-US" sz="1300" dirty="0"/>
          </a:p>
        </p:txBody>
      </p:sp>
      <p:sp>
        <p:nvSpPr>
          <p:cNvPr id="28" name="Shape 26"/>
          <p:cNvSpPr/>
          <p:nvPr/>
        </p:nvSpPr>
        <p:spPr>
          <a:xfrm>
            <a:off x="4160520" y="2935224"/>
            <a:ext cx="1005840" cy="292608"/>
          </a:xfrm>
          <a:prstGeom prst="rect">
            <a:avLst/>
          </a:prstGeom>
          <a:solidFill>
            <a:srgbClr val="F5A623"/>
          </a:solidFill>
          <a:ln w="12700">
            <a:solidFill>
              <a:srgbClr val="F5A623"/>
            </a:solidFill>
            <a:prstDash val="solid"/>
          </a:ln>
        </p:spPr>
      </p:sp>
      <p:sp>
        <p:nvSpPr>
          <p:cNvPr id="29" name="Text 27"/>
          <p:cNvSpPr/>
          <p:nvPr/>
        </p:nvSpPr>
        <p:spPr>
          <a:xfrm>
            <a:off x="4160520" y="2935224"/>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 = 0.20</a:t>
            </a:r>
            <a:endParaRPr lang="en-US" sz="1100" dirty="0"/>
          </a:p>
        </p:txBody>
      </p:sp>
      <p:sp>
        <p:nvSpPr>
          <p:cNvPr id="30" name="Text 28"/>
          <p:cNvSpPr/>
          <p:nvPr/>
        </p:nvSpPr>
        <p:spPr>
          <a:xfrm>
            <a:off x="5257800" y="2962656"/>
            <a:ext cx="3474720" cy="228600"/>
          </a:xfrm>
          <a:prstGeom prst="rect">
            <a:avLst/>
          </a:prstGeom>
          <a:noFill/>
          <a:ln/>
        </p:spPr>
        <p:txBody>
          <a:bodyPr wrap="square" lIns="0" tIns="0" rIns="0" bIns="0" rtlCol="0" anchor="ctr"/>
          <a:lstStyle/>
          <a:p>
            <a:pPr indent="0" marL="0">
              <a:buNone/>
            </a:pPr>
            <a:r>
              <a:rPr lang="en-US" sz="950" i="1" dirty="0">
                <a:solidFill>
                  <a:srgbClr val="7A90A8"/>
                </a:solidFill>
                <a:latin typeface="Calibri" pitchFamily="34" charset="0"/>
                <a:ea typeface="Calibri" pitchFamily="34" charset="-122"/>
                <a:cs typeface="Calibri" pitchFamily="34" charset="-120"/>
              </a:rPr>
              <a:t>(Physics density assignment)</a:t>
            </a:r>
            <a:endParaRPr lang="en-US" sz="950" dirty="0"/>
          </a:p>
        </p:txBody>
      </p:sp>
      <p:sp>
        <p:nvSpPr>
          <p:cNvPr id="31" name="Text 29"/>
          <p:cNvSpPr/>
          <p:nvPr/>
        </p:nvSpPr>
        <p:spPr>
          <a:xfrm>
            <a:off x="868680" y="3246120"/>
            <a:ext cx="425196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Sparse tumor infiltration into surrounding brain tissue. Cells migrating outward along white matter.</a:t>
            </a:r>
            <a:endParaRPr lang="en-US" sz="1050" dirty="0"/>
          </a:p>
        </p:txBody>
      </p:sp>
      <p:sp>
        <p:nvSpPr>
          <p:cNvPr id="32" name="Text 30"/>
          <p:cNvSpPr/>
          <p:nvPr/>
        </p:nvSpPr>
        <p:spPr>
          <a:xfrm>
            <a:off x="5257800" y="3218688"/>
            <a:ext cx="3520440" cy="566928"/>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Region: The swollen 'halo' around the tumor core visible on FLAIR and T2.</a:t>
            </a:r>
            <a:endParaRPr lang="en-US" sz="1050" dirty="0"/>
          </a:p>
        </p:txBody>
      </p:sp>
      <p:sp>
        <p:nvSpPr>
          <p:cNvPr id="33" name="Shape 31"/>
          <p:cNvSpPr/>
          <p:nvPr/>
        </p:nvSpPr>
        <p:spPr>
          <a:xfrm>
            <a:off x="228600" y="3931920"/>
            <a:ext cx="8686800" cy="987552"/>
          </a:xfrm>
          <a:prstGeom prst="rect">
            <a:avLst/>
          </a:prstGeom>
          <a:solidFill>
            <a:srgbClr val="FFE8E8"/>
          </a:solidFill>
          <a:ln w="12700">
            <a:solidFill>
              <a:srgbClr val="D0D8E8"/>
            </a:solidFill>
            <a:prstDash val="solid"/>
          </a:ln>
          <a:effectLst>
            <a:outerShdw sx="100000" sy="100000" kx="0" ky="0" algn="bl" rotWithShape="0" blurRad="50800" dist="25400" dir="8100000">
              <a:srgbClr val="000000">
                <a:alpha val="8000"/>
              </a:srgbClr>
            </a:outerShdw>
          </a:effectLst>
        </p:spPr>
      </p:sp>
      <p:sp>
        <p:nvSpPr>
          <p:cNvPr id="34" name="Shape 32"/>
          <p:cNvSpPr/>
          <p:nvPr/>
        </p:nvSpPr>
        <p:spPr>
          <a:xfrm>
            <a:off x="228600" y="3931920"/>
            <a:ext cx="502920" cy="987552"/>
          </a:xfrm>
          <a:prstGeom prst="rect">
            <a:avLst/>
          </a:prstGeom>
          <a:solidFill>
            <a:srgbClr val="E74C3C"/>
          </a:solidFill>
          <a:ln w="12700">
            <a:solidFill>
              <a:srgbClr val="E74C3C"/>
            </a:solidFill>
            <a:prstDash val="solid"/>
          </a:ln>
        </p:spPr>
      </p:sp>
      <p:sp>
        <p:nvSpPr>
          <p:cNvPr id="35" name="Text 33"/>
          <p:cNvSpPr/>
          <p:nvPr/>
        </p:nvSpPr>
        <p:spPr>
          <a:xfrm>
            <a:off x="228600" y="3931920"/>
            <a:ext cx="502920" cy="9875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 (BraTS:4)</a:t>
            </a:r>
            <a:endParaRPr lang="en-US" sz="2000" dirty="0"/>
          </a:p>
        </p:txBody>
      </p:sp>
      <p:sp>
        <p:nvSpPr>
          <p:cNvPr id="36" name="Text 34"/>
          <p:cNvSpPr/>
          <p:nvPr/>
        </p:nvSpPr>
        <p:spPr>
          <a:xfrm>
            <a:off x="868680" y="3977640"/>
            <a:ext cx="3200400" cy="292608"/>
          </a:xfrm>
          <a:prstGeom prst="rect">
            <a:avLst/>
          </a:prstGeom>
          <a:noFill/>
          <a:ln/>
        </p:spPr>
        <p:txBody>
          <a:bodyPr wrap="square" lIns="0" tIns="0" rIns="0" bIns="0" rtlCol="0" anchor="ctr"/>
          <a:lstStyle/>
          <a:p>
            <a:pPr indent="0" marL="0">
              <a:buNone/>
            </a:pPr>
            <a:r>
              <a:rPr lang="en-US" sz="1300" b="1" dirty="0">
                <a:solidFill>
                  <a:srgbClr val="E74C3C"/>
                </a:solidFill>
                <a:latin typeface="Calibri" pitchFamily="34" charset="0"/>
                <a:ea typeface="Calibri" pitchFamily="34" charset="-122"/>
                <a:cs typeface="Calibri" pitchFamily="34" charset="-120"/>
              </a:rPr>
              <a:t>ET — Enhancing Tumor</a:t>
            </a:r>
            <a:endParaRPr lang="en-US" sz="1300" dirty="0"/>
          </a:p>
        </p:txBody>
      </p:sp>
      <p:sp>
        <p:nvSpPr>
          <p:cNvPr id="37" name="Shape 35"/>
          <p:cNvSpPr/>
          <p:nvPr/>
        </p:nvSpPr>
        <p:spPr>
          <a:xfrm>
            <a:off x="4160520" y="3977640"/>
            <a:ext cx="1005840" cy="292608"/>
          </a:xfrm>
          <a:prstGeom prst="rect">
            <a:avLst/>
          </a:prstGeom>
          <a:solidFill>
            <a:srgbClr val="E74C3C"/>
          </a:solidFill>
          <a:ln w="12700">
            <a:solidFill>
              <a:srgbClr val="E74C3C"/>
            </a:solidFill>
            <a:prstDash val="solid"/>
          </a:ln>
        </p:spPr>
      </p:sp>
      <p:sp>
        <p:nvSpPr>
          <p:cNvPr id="38" name="Text 36"/>
          <p:cNvSpPr/>
          <p:nvPr/>
        </p:nvSpPr>
        <p:spPr>
          <a:xfrm>
            <a:off x="4160520" y="3977640"/>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 = 1.00</a:t>
            </a:r>
            <a:endParaRPr lang="en-US" sz="1100" dirty="0"/>
          </a:p>
        </p:txBody>
      </p:sp>
      <p:sp>
        <p:nvSpPr>
          <p:cNvPr id="39" name="Text 37"/>
          <p:cNvSpPr/>
          <p:nvPr/>
        </p:nvSpPr>
        <p:spPr>
          <a:xfrm>
            <a:off x="5257800" y="4005072"/>
            <a:ext cx="3474720" cy="228600"/>
          </a:xfrm>
          <a:prstGeom prst="rect">
            <a:avLst/>
          </a:prstGeom>
          <a:noFill/>
          <a:ln/>
        </p:spPr>
        <p:txBody>
          <a:bodyPr wrap="square" lIns="0" tIns="0" rIns="0" bIns="0" rtlCol="0" anchor="ctr"/>
          <a:lstStyle/>
          <a:p>
            <a:pPr indent="0" marL="0">
              <a:buNone/>
            </a:pPr>
            <a:r>
              <a:rPr lang="en-US" sz="950" i="1" dirty="0">
                <a:solidFill>
                  <a:srgbClr val="7A90A8"/>
                </a:solidFill>
                <a:latin typeface="Calibri" pitchFamily="34" charset="0"/>
                <a:ea typeface="Calibri" pitchFamily="34" charset="-122"/>
                <a:cs typeface="Calibri" pitchFamily="34" charset="-120"/>
              </a:rPr>
              <a:t>(Physics density assignment)</a:t>
            </a:r>
            <a:endParaRPr lang="en-US" sz="950" dirty="0"/>
          </a:p>
        </p:txBody>
      </p:sp>
      <p:sp>
        <p:nvSpPr>
          <p:cNvPr id="40" name="Text 38"/>
          <p:cNvSpPr/>
          <p:nvPr/>
        </p:nvSpPr>
        <p:spPr>
          <a:xfrm>
            <a:off x="868680" y="4288536"/>
            <a:ext cx="425196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Maximally active, proliferating tumor cells. Blood-brain barrier broken — Gadolinium leaks in.</a:t>
            </a:r>
            <a:endParaRPr lang="en-US" sz="1050" dirty="0"/>
          </a:p>
        </p:txBody>
      </p:sp>
      <p:sp>
        <p:nvSpPr>
          <p:cNvPr id="41" name="Text 39"/>
          <p:cNvSpPr/>
          <p:nvPr/>
        </p:nvSpPr>
        <p:spPr>
          <a:xfrm>
            <a:off x="5257800" y="4261104"/>
            <a:ext cx="3520440" cy="566928"/>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Region: Bright region on T1ce. The most dangerous and aggressive zone.</a:t>
            </a:r>
            <a:endParaRPr lang="en-US" sz="1050" dirty="0"/>
          </a:p>
        </p:txBody>
      </p:sp>
      <p:sp>
        <p:nvSpPr>
          <p:cNvPr id="42" name="Text 40"/>
          <p:cNvSpPr/>
          <p:nvPr/>
        </p:nvSpPr>
        <p:spPr>
          <a:xfrm>
            <a:off x="228600" y="4965192"/>
            <a:ext cx="8686800" cy="201168"/>
          </a:xfrm>
          <a:prstGeom prst="rect">
            <a:avLst/>
          </a:prstGeom>
          <a:noFill/>
          <a:ln/>
        </p:spPr>
        <p:txBody>
          <a:bodyPr wrap="square" lIns="0" tIns="0" rIns="0" bIns="0" rtlCol="0" anchor="ctr"/>
          <a:lstStyle/>
          <a:p>
            <a:pPr indent="0" marL="0">
              <a:buNone/>
            </a:pPr>
            <a:r>
              <a:rPr lang="en-US" sz="1000" b="1" dirty="0">
                <a:solidFill>
                  <a:srgbClr val="0B1E3D"/>
                </a:solidFill>
                <a:latin typeface="Calibri" pitchFamily="34" charset="0"/>
                <a:ea typeface="Calibri" pitchFamily="34" charset="-122"/>
                <a:cs typeface="Calibri" pitchFamily="34" charset="-120"/>
              </a:rPr>
              <a:t>★  These integer labels are converted to continuous tumor density u(x) ∈ [0,1] for physics-informed training (see Slide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the Output Looks Like — Four Prediction Heads</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9 / 20</a:t>
            </a:r>
            <a:endParaRPr lang="en-US" sz="900" dirty="0"/>
          </a:p>
        </p:txBody>
      </p:sp>
      <p:sp>
        <p:nvSpPr>
          <p:cNvPr id="6" name="Shape 4"/>
          <p:cNvSpPr/>
          <p:nvPr/>
        </p:nvSpPr>
        <p:spPr>
          <a:xfrm>
            <a:off x="228600" y="804672"/>
            <a:ext cx="4251960" cy="2011680"/>
          </a:xfrm>
          <a:prstGeom prst="rect">
            <a:avLst/>
          </a:prstGeom>
          <a:solidFill>
            <a:srgbClr val="EEF3FF"/>
          </a:solidFill>
          <a:ln w="12700">
            <a:solidFill>
              <a:srgbClr val="D0DCF0"/>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228600" y="804672"/>
            <a:ext cx="4251960" cy="365760"/>
          </a:xfrm>
          <a:prstGeom prst="rect">
            <a:avLst/>
          </a:prstGeom>
          <a:solidFill>
            <a:srgbClr val="0B1E3D"/>
          </a:solidFill>
          <a:ln w="12700">
            <a:solidFill>
              <a:srgbClr val="0B1E3D"/>
            </a:solidFill>
            <a:prstDash val="solid"/>
          </a:ln>
        </p:spPr>
      </p:sp>
      <p:pic>
        <p:nvPicPr>
          <p:cNvPr id="8" name="Image 0" descr="preencoded.png">    </p:cNvPr>
          <p:cNvPicPr>
            <a:picLocks noChangeAspect="1"/>
          </p:cNvPicPr>
          <p:nvPr/>
        </p:nvPicPr>
        <p:blipFill>
          <a:blip r:embed="rId1"/>
          <a:stretch>
            <a:fillRect/>
          </a:stretch>
        </p:blipFill>
        <p:spPr>
          <a:xfrm>
            <a:off x="320040" y="850392"/>
            <a:ext cx="292608" cy="292608"/>
          </a:xfrm>
          <a:prstGeom prst="rect">
            <a:avLst/>
          </a:prstGeom>
        </p:spPr>
      </p:pic>
      <p:sp>
        <p:nvSpPr>
          <p:cNvPr id="9" name="Text 6"/>
          <p:cNvSpPr/>
          <p:nvPr/>
        </p:nvSpPr>
        <p:spPr>
          <a:xfrm>
            <a:off x="685800" y="804672"/>
            <a:ext cx="3703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① Tumor Density  u(x,t)</a:t>
            </a:r>
            <a:endParaRPr lang="en-US" sz="1200" dirty="0"/>
          </a:p>
        </p:txBody>
      </p:sp>
      <p:sp>
        <p:nvSpPr>
          <p:cNvPr id="10" name="Text 7"/>
          <p:cNvSpPr/>
          <p:nvPr/>
        </p:nvSpPr>
        <p:spPr>
          <a:xfrm>
            <a:off x="365760" y="1234440"/>
            <a:ext cx="3977640" cy="365760"/>
          </a:xfrm>
          <a:prstGeom prst="rect">
            <a:avLst/>
          </a:prstGeom>
          <a:noFill/>
          <a:ln/>
        </p:spPr>
        <p:txBody>
          <a:bodyPr wrap="square" lIns="0" tIns="0" rIns="0" bIns="0" rtlCol="0" anchor="ctr"/>
          <a:lstStyle/>
          <a:p>
            <a:pPr indent="0" marL="0">
              <a:buNone/>
            </a:pPr>
            <a:r>
              <a:rPr lang="en-US" sz="1100" dirty="0">
                <a:solidFill>
                  <a:srgbClr val="0B1E3D"/>
                </a:solidFill>
                <a:latin typeface="Calibri" pitchFamily="34" charset="0"/>
                <a:ea typeface="Calibri" pitchFamily="34" charset="-122"/>
                <a:cs typeface="Calibri" pitchFamily="34" charset="-120"/>
              </a:rPr>
              <a:t>Continuous 3D probability map (0→1) of tumor cell concentration at every voxel.</a:t>
            </a:r>
            <a:endParaRPr lang="en-US" sz="1100" dirty="0"/>
          </a:p>
        </p:txBody>
      </p:sp>
      <p:sp>
        <p:nvSpPr>
          <p:cNvPr id="11" name="Text 8"/>
          <p:cNvSpPr/>
          <p:nvPr/>
        </p:nvSpPr>
        <p:spPr>
          <a:xfrm>
            <a:off x="365760" y="1627632"/>
            <a:ext cx="3977640" cy="228600"/>
          </a:xfrm>
          <a:prstGeom prst="rect">
            <a:avLst/>
          </a:prstGeom>
          <a:noFill/>
          <a:ln/>
        </p:spPr>
        <p:txBody>
          <a:bodyPr wrap="square" lIns="0" tIns="0" rIns="0" bIns="0" rtlCol="0" anchor="ctr"/>
          <a:lstStyle/>
          <a:p>
            <a:pPr indent="0" marL="0">
              <a:buNone/>
            </a:pPr>
            <a:r>
              <a:rPr lang="en-US" sz="1000" b="1" dirty="0">
                <a:solidFill>
                  <a:srgbClr val="0B1E3D"/>
                </a:solidFill>
                <a:latin typeface="Calibri" pitchFamily="34" charset="0"/>
                <a:ea typeface="Calibri" pitchFamily="34" charset="-122"/>
                <a:cs typeface="Calibri" pitchFamily="34" charset="-120"/>
              </a:rPr>
              <a:t>Format: Shape: [B, 1, D, H, W]  |  Range: [0.0, 1.0]</a:t>
            </a:r>
            <a:endParaRPr lang="en-US" sz="1000" dirty="0"/>
          </a:p>
        </p:txBody>
      </p:sp>
      <p:sp>
        <p:nvSpPr>
          <p:cNvPr id="12" name="Text 9"/>
          <p:cNvSpPr/>
          <p:nvPr/>
        </p:nvSpPr>
        <p:spPr>
          <a:xfrm>
            <a:off x="365760" y="1883664"/>
            <a:ext cx="3977640" cy="22860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Visual: Hot colormap: dark blue (0) → yellow → red (1.0)</a:t>
            </a:r>
            <a:endParaRPr lang="en-US" sz="1000" dirty="0"/>
          </a:p>
        </p:txBody>
      </p:sp>
      <p:sp>
        <p:nvSpPr>
          <p:cNvPr id="13" name="Text 10"/>
          <p:cNvSpPr/>
          <p:nvPr/>
        </p:nvSpPr>
        <p:spPr>
          <a:xfrm>
            <a:off x="365760" y="2148840"/>
            <a:ext cx="3977640" cy="50292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Use: Core output — visualized as tumor density slices, used to compute volume metrics.</a:t>
            </a:r>
            <a:endParaRPr lang="en-US" sz="1000" dirty="0"/>
          </a:p>
        </p:txBody>
      </p:sp>
      <p:sp>
        <p:nvSpPr>
          <p:cNvPr id="14" name="Shape 11"/>
          <p:cNvSpPr/>
          <p:nvPr/>
        </p:nvSpPr>
        <p:spPr>
          <a:xfrm>
            <a:off x="4709160" y="804672"/>
            <a:ext cx="4251960" cy="2011680"/>
          </a:xfrm>
          <a:prstGeom prst="rect">
            <a:avLst/>
          </a:prstGeom>
          <a:solidFill>
            <a:srgbClr val="E8F8F8"/>
          </a:solidFill>
          <a:ln w="12700">
            <a:solidFill>
              <a:srgbClr val="D0DCF0"/>
            </a:solidFill>
            <a:prstDash val="solid"/>
          </a:ln>
          <a:effectLst>
            <a:outerShdw sx="100000" sy="100000" kx="0" ky="0" algn="bl" rotWithShape="0" blurRad="63500" dist="25400" dir="8100000">
              <a:srgbClr val="000000">
                <a:alpha val="10000"/>
              </a:srgbClr>
            </a:outerShdw>
          </a:effectLst>
        </p:spPr>
      </p:sp>
      <p:sp>
        <p:nvSpPr>
          <p:cNvPr id="15" name="Shape 12"/>
          <p:cNvSpPr/>
          <p:nvPr/>
        </p:nvSpPr>
        <p:spPr>
          <a:xfrm>
            <a:off x="4709160" y="804672"/>
            <a:ext cx="4251960" cy="365760"/>
          </a:xfrm>
          <a:prstGeom prst="rect">
            <a:avLst/>
          </a:prstGeom>
          <a:solidFill>
            <a:srgbClr val="009B9B"/>
          </a:solidFill>
          <a:ln w="12700">
            <a:solidFill>
              <a:srgbClr val="009B9B"/>
            </a:solidFill>
            <a:prstDash val="solid"/>
          </a:ln>
        </p:spPr>
      </p:sp>
      <p:pic>
        <p:nvPicPr>
          <p:cNvPr id="16" name="Image 1" descr="preencoded.png">    </p:cNvPr>
          <p:cNvPicPr>
            <a:picLocks noChangeAspect="1"/>
          </p:cNvPicPr>
          <p:nvPr/>
        </p:nvPicPr>
        <p:blipFill>
          <a:blip r:embed="rId2"/>
          <a:stretch>
            <a:fillRect/>
          </a:stretch>
        </p:blipFill>
        <p:spPr>
          <a:xfrm>
            <a:off x="4800600" y="850392"/>
            <a:ext cx="292608" cy="292608"/>
          </a:xfrm>
          <a:prstGeom prst="rect">
            <a:avLst/>
          </a:prstGeom>
        </p:spPr>
      </p:pic>
      <p:sp>
        <p:nvSpPr>
          <p:cNvPr id="17" name="Text 13"/>
          <p:cNvSpPr/>
          <p:nvPr/>
        </p:nvSpPr>
        <p:spPr>
          <a:xfrm>
            <a:off x="5166360" y="804672"/>
            <a:ext cx="3703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② Segmentation Mask</a:t>
            </a:r>
            <a:endParaRPr lang="en-US" sz="1200" dirty="0"/>
          </a:p>
        </p:txBody>
      </p:sp>
      <p:sp>
        <p:nvSpPr>
          <p:cNvPr id="18" name="Text 14"/>
          <p:cNvSpPr/>
          <p:nvPr/>
        </p:nvSpPr>
        <p:spPr>
          <a:xfrm>
            <a:off x="4846320" y="1234440"/>
            <a:ext cx="3977640" cy="365760"/>
          </a:xfrm>
          <a:prstGeom prst="rect">
            <a:avLst/>
          </a:prstGeom>
          <a:noFill/>
          <a:ln/>
        </p:spPr>
        <p:txBody>
          <a:bodyPr wrap="square" lIns="0" tIns="0" rIns="0" bIns="0" rtlCol="0" anchor="ctr"/>
          <a:lstStyle/>
          <a:p>
            <a:pPr indent="0" marL="0">
              <a:buNone/>
            </a:pPr>
            <a:r>
              <a:rPr lang="en-US" sz="1100" dirty="0">
                <a:solidFill>
                  <a:srgbClr val="0B1E3D"/>
                </a:solidFill>
                <a:latin typeface="Calibri" pitchFamily="34" charset="0"/>
                <a:ea typeface="Calibri" pitchFamily="34" charset="-122"/>
                <a:cs typeface="Calibri" pitchFamily="34" charset="-120"/>
              </a:rPr>
              <a:t>4-class discrete segmentation: Background, NCR/NET, Edema, Enhancing Tumor.</a:t>
            </a:r>
            <a:endParaRPr lang="en-US" sz="1100" dirty="0"/>
          </a:p>
        </p:txBody>
      </p:sp>
      <p:sp>
        <p:nvSpPr>
          <p:cNvPr id="19" name="Text 15"/>
          <p:cNvSpPr/>
          <p:nvPr/>
        </p:nvSpPr>
        <p:spPr>
          <a:xfrm>
            <a:off x="4846320" y="1627632"/>
            <a:ext cx="3977640" cy="228600"/>
          </a:xfrm>
          <a:prstGeom prst="rect">
            <a:avLst/>
          </a:prstGeom>
          <a:noFill/>
          <a:ln/>
        </p:spPr>
        <p:txBody>
          <a:bodyPr wrap="square" lIns="0" tIns="0" rIns="0" bIns="0" rtlCol="0" anchor="ctr"/>
          <a:lstStyle/>
          <a:p>
            <a:pPr indent="0" marL="0">
              <a:buNone/>
            </a:pPr>
            <a:r>
              <a:rPr lang="en-US" sz="1000" b="1" dirty="0">
                <a:solidFill>
                  <a:srgbClr val="009B9B"/>
                </a:solidFill>
                <a:latin typeface="Calibri" pitchFamily="34" charset="0"/>
                <a:ea typeface="Calibri" pitchFamily="34" charset="-122"/>
                <a:cs typeface="Calibri" pitchFamily="34" charset="-120"/>
              </a:rPr>
              <a:t>Format: Shape: [B, 4, D, H, W]  |  argmax → integer class per voxel</a:t>
            </a:r>
            <a:endParaRPr lang="en-US" sz="1000" dirty="0"/>
          </a:p>
        </p:txBody>
      </p:sp>
      <p:sp>
        <p:nvSpPr>
          <p:cNvPr id="20" name="Text 16"/>
          <p:cNvSpPr/>
          <p:nvPr/>
        </p:nvSpPr>
        <p:spPr>
          <a:xfrm>
            <a:off x="4846320" y="1883664"/>
            <a:ext cx="3977640" cy="22860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Visual: Color-coded class map: grey / purple / orange / red</a:t>
            </a:r>
            <a:endParaRPr lang="en-US" sz="1000" dirty="0"/>
          </a:p>
        </p:txBody>
      </p:sp>
      <p:sp>
        <p:nvSpPr>
          <p:cNvPr id="21" name="Text 17"/>
          <p:cNvSpPr/>
          <p:nvPr/>
        </p:nvSpPr>
        <p:spPr>
          <a:xfrm>
            <a:off x="4846320" y="2148840"/>
            <a:ext cx="3977640" cy="50292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Use: Evaluated with Dice Score (WT, TC, ET) and Hausdorff Distance.</a:t>
            </a:r>
            <a:endParaRPr lang="en-US" sz="1000" dirty="0"/>
          </a:p>
        </p:txBody>
      </p:sp>
      <p:sp>
        <p:nvSpPr>
          <p:cNvPr id="22" name="Shape 18"/>
          <p:cNvSpPr/>
          <p:nvPr/>
        </p:nvSpPr>
        <p:spPr>
          <a:xfrm>
            <a:off x="228600" y="2953512"/>
            <a:ext cx="4251960" cy="2011680"/>
          </a:xfrm>
          <a:prstGeom prst="rect">
            <a:avLst/>
          </a:prstGeom>
          <a:solidFill>
            <a:srgbClr val="F5EEF8"/>
          </a:solidFill>
          <a:ln w="12700">
            <a:solidFill>
              <a:srgbClr val="D0DCF0"/>
            </a:solidFill>
            <a:prstDash val="solid"/>
          </a:ln>
          <a:effectLst>
            <a:outerShdw sx="100000" sy="100000" kx="0" ky="0" algn="bl" rotWithShape="0" blurRad="63500" dist="25400" dir="8100000">
              <a:srgbClr val="000000">
                <a:alpha val="10000"/>
              </a:srgbClr>
            </a:outerShdw>
          </a:effectLst>
        </p:spPr>
      </p:sp>
      <p:sp>
        <p:nvSpPr>
          <p:cNvPr id="23" name="Shape 19"/>
          <p:cNvSpPr/>
          <p:nvPr/>
        </p:nvSpPr>
        <p:spPr>
          <a:xfrm>
            <a:off x="228600" y="2953512"/>
            <a:ext cx="4251960" cy="365760"/>
          </a:xfrm>
          <a:prstGeom prst="rect">
            <a:avLst/>
          </a:prstGeom>
          <a:solidFill>
            <a:srgbClr val="6A2C8C"/>
          </a:solidFill>
          <a:ln w="12700">
            <a:solidFill>
              <a:srgbClr val="6A2C8C"/>
            </a:solidFill>
            <a:prstDash val="solid"/>
          </a:ln>
        </p:spPr>
      </p:sp>
      <p:pic>
        <p:nvPicPr>
          <p:cNvPr id="24" name="Image 2" descr="preencoded.png">    </p:cNvPr>
          <p:cNvPicPr>
            <a:picLocks noChangeAspect="1"/>
          </p:cNvPicPr>
          <p:nvPr/>
        </p:nvPicPr>
        <p:blipFill>
          <a:blip r:embed="rId3"/>
          <a:stretch>
            <a:fillRect/>
          </a:stretch>
        </p:blipFill>
        <p:spPr>
          <a:xfrm>
            <a:off x="320040" y="2999232"/>
            <a:ext cx="292608" cy="292608"/>
          </a:xfrm>
          <a:prstGeom prst="rect">
            <a:avLst/>
          </a:prstGeom>
        </p:spPr>
      </p:pic>
      <p:sp>
        <p:nvSpPr>
          <p:cNvPr id="25" name="Text 20"/>
          <p:cNvSpPr/>
          <p:nvPr/>
        </p:nvSpPr>
        <p:spPr>
          <a:xfrm>
            <a:off x="685800" y="2953512"/>
            <a:ext cx="3703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③ Diffusion D(x)  [mm²/day]</a:t>
            </a:r>
            <a:endParaRPr lang="en-US" sz="1200" dirty="0"/>
          </a:p>
        </p:txBody>
      </p:sp>
      <p:sp>
        <p:nvSpPr>
          <p:cNvPr id="26" name="Text 21"/>
          <p:cNvSpPr/>
          <p:nvPr/>
        </p:nvSpPr>
        <p:spPr>
          <a:xfrm>
            <a:off x="365760" y="3383280"/>
            <a:ext cx="3977640" cy="365760"/>
          </a:xfrm>
          <a:prstGeom prst="rect">
            <a:avLst/>
          </a:prstGeom>
          <a:noFill/>
          <a:ln/>
        </p:spPr>
        <p:txBody>
          <a:bodyPr wrap="square" lIns="0" tIns="0" rIns="0" bIns="0" rtlCol="0" anchor="ctr"/>
          <a:lstStyle/>
          <a:p>
            <a:pPr indent="0" marL="0">
              <a:buNone/>
            </a:pPr>
            <a:r>
              <a:rPr lang="en-US" sz="1100" dirty="0">
                <a:solidFill>
                  <a:srgbClr val="0B1E3D"/>
                </a:solidFill>
                <a:latin typeface="Calibri" pitchFamily="34" charset="0"/>
                <a:ea typeface="Calibri" pitchFamily="34" charset="-122"/>
                <a:cs typeface="Calibri" pitchFamily="34" charset="-120"/>
              </a:rPr>
              <a:t>Spatially-varying diffusion coefficient — how fast tumor cells spread through tissue.</a:t>
            </a:r>
            <a:endParaRPr lang="en-US" sz="1100" dirty="0"/>
          </a:p>
        </p:txBody>
      </p:sp>
      <p:sp>
        <p:nvSpPr>
          <p:cNvPr id="27" name="Text 22"/>
          <p:cNvSpPr/>
          <p:nvPr/>
        </p:nvSpPr>
        <p:spPr>
          <a:xfrm>
            <a:off x="365760" y="3776472"/>
            <a:ext cx="3977640" cy="228600"/>
          </a:xfrm>
          <a:prstGeom prst="rect">
            <a:avLst/>
          </a:prstGeom>
          <a:noFill/>
          <a:ln/>
        </p:spPr>
        <p:txBody>
          <a:bodyPr wrap="square" lIns="0" tIns="0" rIns="0" bIns="0" rtlCol="0" anchor="ctr"/>
          <a:lstStyle/>
          <a:p>
            <a:pPr indent="0" marL="0">
              <a:buNone/>
            </a:pPr>
            <a:r>
              <a:rPr lang="en-US" sz="1000" b="1" dirty="0">
                <a:solidFill>
                  <a:srgbClr val="6A2C8C"/>
                </a:solidFill>
                <a:latin typeface="Calibri" pitchFamily="34" charset="0"/>
                <a:ea typeface="Calibri" pitchFamily="34" charset="-122"/>
                <a:cs typeface="Calibri" pitchFamily="34" charset="-120"/>
              </a:rPr>
              <a:t>Format: Shape: [B, 1, D, H, W]  |  Scaled to [0.0001, 0.5] mm²/day</a:t>
            </a:r>
            <a:endParaRPr lang="en-US" sz="1000" dirty="0"/>
          </a:p>
        </p:txBody>
      </p:sp>
      <p:sp>
        <p:nvSpPr>
          <p:cNvPr id="28" name="Text 23"/>
          <p:cNvSpPr/>
          <p:nvPr/>
        </p:nvSpPr>
        <p:spPr>
          <a:xfrm>
            <a:off x="365760" y="4032504"/>
            <a:ext cx="3977640" cy="22860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Visual: Hot colormap: high diffusion in white matter tracts (bright = fast spread)</a:t>
            </a:r>
            <a:endParaRPr lang="en-US" sz="1000" dirty="0"/>
          </a:p>
        </p:txBody>
      </p:sp>
      <p:sp>
        <p:nvSpPr>
          <p:cNvPr id="29" name="Text 24"/>
          <p:cNvSpPr/>
          <p:nvPr/>
        </p:nvSpPr>
        <p:spPr>
          <a:xfrm>
            <a:off x="365760" y="4297680"/>
            <a:ext cx="3977640" cy="50292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Use: Injected into Fisher-KPP PDE residual loss. ~0.05–0.10 in WM, ~0.016 in GM.</a:t>
            </a:r>
            <a:endParaRPr lang="en-US" sz="1000" dirty="0"/>
          </a:p>
        </p:txBody>
      </p:sp>
      <p:sp>
        <p:nvSpPr>
          <p:cNvPr id="30" name="Shape 25"/>
          <p:cNvSpPr/>
          <p:nvPr/>
        </p:nvSpPr>
        <p:spPr>
          <a:xfrm>
            <a:off x="4709160" y="2953512"/>
            <a:ext cx="4251960" cy="2011680"/>
          </a:xfrm>
          <a:prstGeom prst="rect">
            <a:avLst/>
          </a:prstGeom>
          <a:solidFill>
            <a:srgbClr val="FEF9E7"/>
          </a:solidFill>
          <a:ln w="12700">
            <a:solidFill>
              <a:srgbClr val="D0DCF0"/>
            </a:solidFill>
            <a:prstDash val="solid"/>
          </a:ln>
          <a:effectLst>
            <a:outerShdw sx="100000" sy="100000" kx="0" ky="0" algn="bl" rotWithShape="0" blurRad="63500" dist="25400" dir="8100000">
              <a:srgbClr val="000000">
                <a:alpha val="10000"/>
              </a:srgbClr>
            </a:outerShdw>
          </a:effectLst>
        </p:spPr>
      </p:sp>
      <p:sp>
        <p:nvSpPr>
          <p:cNvPr id="31" name="Shape 26"/>
          <p:cNvSpPr/>
          <p:nvPr/>
        </p:nvSpPr>
        <p:spPr>
          <a:xfrm>
            <a:off x="4709160" y="2953512"/>
            <a:ext cx="4251960" cy="365760"/>
          </a:xfrm>
          <a:prstGeom prst="rect">
            <a:avLst/>
          </a:prstGeom>
          <a:solidFill>
            <a:srgbClr val="E67E22"/>
          </a:solidFill>
          <a:ln w="12700">
            <a:solidFill>
              <a:srgbClr val="E67E22"/>
            </a:solidFill>
            <a:prstDash val="solid"/>
          </a:ln>
        </p:spPr>
      </p:sp>
      <p:pic>
        <p:nvPicPr>
          <p:cNvPr id="32" name="Image 3" descr="preencoded.png">    </p:cNvPr>
          <p:cNvPicPr>
            <a:picLocks noChangeAspect="1"/>
          </p:cNvPicPr>
          <p:nvPr/>
        </p:nvPicPr>
        <p:blipFill>
          <a:blip r:embed="rId4"/>
          <a:stretch>
            <a:fillRect/>
          </a:stretch>
        </p:blipFill>
        <p:spPr>
          <a:xfrm>
            <a:off x="4800600" y="2999232"/>
            <a:ext cx="292608" cy="292608"/>
          </a:xfrm>
          <a:prstGeom prst="rect">
            <a:avLst/>
          </a:prstGeom>
        </p:spPr>
      </p:pic>
      <p:sp>
        <p:nvSpPr>
          <p:cNvPr id="33" name="Text 27"/>
          <p:cNvSpPr/>
          <p:nvPr/>
        </p:nvSpPr>
        <p:spPr>
          <a:xfrm>
            <a:off x="5166360" y="2953512"/>
            <a:ext cx="3703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④ Proliferation ρ(x)  [/day]</a:t>
            </a:r>
            <a:endParaRPr lang="en-US" sz="1200" dirty="0"/>
          </a:p>
        </p:txBody>
      </p:sp>
      <p:sp>
        <p:nvSpPr>
          <p:cNvPr id="34" name="Text 28"/>
          <p:cNvSpPr/>
          <p:nvPr/>
        </p:nvSpPr>
        <p:spPr>
          <a:xfrm>
            <a:off x="4846320" y="3383280"/>
            <a:ext cx="3977640" cy="365760"/>
          </a:xfrm>
          <a:prstGeom prst="rect">
            <a:avLst/>
          </a:prstGeom>
          <a:noFill/>
          <a:ln/>
        </p:spPr>
        <p:txBody>
          <a:bodyPr wrap="square" lIns="0" tIns="0" rIns="0" bIns="0" rtlCol="0" anchor="ctr"/>
          <a:lstStyle/>
          <a:p>
            <a:pPr indent="0" marL="0">
              <a:buNone/>
            </a:pPr>
            <a:r>
              <a:rPr lang="en-US" sz="1100" dirty="0">
                <a:solidFill>
                  <a:srgbClr val="0B1E3D"/>
                </a:solidFill>
                <a:latin typeface="Calibri" pitchFamily="34" charset="0"/>
                <a:ea typeface="Calibri" pitchFamily="34" charset="-122"/>
                <a:cs typeface="Calibri" pitchFamily="34" charset="-120"/>
              </a:rPr>
              <a:t>Local cell division rate — how rapidly tumor cells multiply at each voxel.</a:t>
            </a:r>
            <a:endParaRPr lang="en-US" sz="1100" dirty="0"/>
          </a:p>
        </p:txBody>
      </p:sp>
      <p:sp>
        <p:nvSpPr>
          <p:cNvPr id="35" name="Text 29"/>
          <p:cNvSpPr/>
          <p:nvPr/>
        </p:nvSpPr>
        <p:spPr>
          <a:xfrm>
            <a:off x="4846320" y="3776472"/>
            <a:ext cx="3977640" cy="228600"/>
          </a:xfrm>
          <a:prstGeom prst="rect">
            <a:avLst/>
          </a:prstGeom>
          <a:noFill/>
          <a:ln/>
        </p:spPr>
        <p:txBody>
          <a:bodyPr wrap="square" lIns="0" tIns="0" rIns="0" bIns="0"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Format: Shape: [B, 1, D, H, W]  |  Scaled to [0.001, 0.5] /day</a:t>
            </a:r>
            <a:endParaRPr lang="en-US" sz="1000" dirty="0"/>
          </a:p>
        </p:txBody>
      </p:sp>
      <p:sp>
        <p:nvSpPr>
          <p:cNvPr id="36" name="Text 30"/>
          <p:cNvSpPr/>
          <p:nvPr/>
        </p:nvSpPr>
        <p:spPr>
          <a:xfrm>
            <a:off x="4846320" y="4032504"/>
            <a:ext cx="3977640" cy="228600"/>
          </a:xfrm>
          <a:prstGeom prst="rect">
            <a:avLst/>
          </a:prstGeom>
          <a:noFill/>
          <a:ln/>
        </p:spPr>
        <p:txBody>
          <a:bodyPr wrap="square" lIns="0" tIns="0" rIns="0" bIns="0" rtlCol="0" anchor="ctr"/>
          <a:lstStyle/>
          <a:p>
            <a:pPr indent="0" marL="0">
              <a:buNone/>
            </a:pPr>
            <a:r>
              <a:rPr lang="en-US" sz="1000" dirty="0">
                <a:solidFill>
                  <a:srgbClr val="3A5070"/>
                </a:solidFill>
                <a:latin typeface="Calibri" pitchFamily="34" charset="0"/>
                <a:ea typeface="Calibri" pitchFamily="34" charset="-122"/>
                <a:cs typeface="Calibri" pitchFamily="34" charset="-120"/>
              </a:rPr>
              <a:t>Visual: Hot colormap: high in active enhancing tumor region</a:t>
            </a:r>
            <a:endParaRPr lang="en-US" sz="1000" dirty="0"/>
          </a:p>
        </p:txBody>
      </p:sp>
      <p:sp>
        <p:nvSpPr>
          <p:cNvPr id="37" name="Text 31"/>
          <p:cNvSpPr/>
          <p:nvPr/>
        </p:nvSpPr>
        <p:spPr>
          <a:xfrm>
            <a:off x="4846320" y="4297680"/>
            <a:ext cx="3977640" cy="50292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Use: Logistic growth term ρ·u·(1−u) in Fisher-KPP. Biophysical range: 0.012–0.025/day.</a:t>
            </a:r>
            <a:endParaRPr lang="en-US" sz="1000" dirty="0"/>
          </a:p>
        </p:txBody>
      </p:sp>
      <p:sp>
        <p:nvSpPr>
          <p:cNvPr id="38" name="Text 32"/>
          <p:cNvSpPr/>
          <p:nvPr/>
        </p:nvSpPr>
        <p:spPr>
          <a:xfrm>
            <a:off x="228600" y="4956048"/>
            <a:ext cx="8686800" cy="201168"/>
          </a:xfrm>
          <a:prstGeom prst="rect">
            <a:avLst/>
          </a:prstGeom>
          <a:noFill/>
          <a:ln/>
        </p:spPr>
        <p:txBody>
          <a:bodyPr wrap="square" lIns="0" tIns="0" rIns="0" bIns="0" rtlCol="0" anchor="ctr"/>
          <a:lstStyle/>
          <a:p>
            <a:pPr indent="0" marL="0">
              <a:buNone/>
            </a:pPr>
            <a:r>
              <a:rPr lang="en-US" sz="1000" b="1" dirty="0">
                <a:solidFill>
                  <a:srgbClr val="0B1E3D"/>
                </a:solidFill>
                <a:latin typeface="Calibri" pitchFamily="34" charset="0"/>
                <a:ea typeface="Calibri" pitchFamily="34" charset="-122"/>
                <a:cs typeface="Calibri" pitchFamily="34" charset="-120"/>
              </a:rPr>
              <a:t>★  Bonus output (if MC Dropout active): Uncertainty Map — standard deviation across multiple forward passes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Input → Model → Output: The Complete Data Journey</a:t>
            </a:r>
            <a:endParaRPr lang="en-US" sz="2200" dirty="0"/>
          </a:p>
        </p:txBody>
      </p:sp>
      <p:sp>
        <p:nvSpPr>
          <p:cNvPr id="5" name="Shape 3"/>
          <p:cNvSpPr/>
          <p:nvPr/>
        </p:nvSpPr>
        <p:spPr>
          <a:xfrm>
            <a:off x="0" y="685800"/>
            <a:ext cx="9144000" cy="36576"/>
          </a:xfrm>
          <a:prstGeom prst="rect">
            <a:avLst/>
          </a:prstGeom>
          <a:solidFill>
            <a:srgbClr val="00C9C8"/>
          </a:solidFill>
          <a:ln w="12700">
            <a:solidFill>
              <a:srgbClr val="00C9C8"/>
            </a:solidFill>
            <a:prstDash val="solid"/>
          </a:ln>
        </p:spPr>
      </p:sp>
      <p:sp>
        <p:nvSpPr>
          <p:cNvPr id="6" name="Text 4"/>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10 / 20</a:t>
            </a:r>
            <a:endParaRPr lang="en-US" sz="900" dirty="0"/>
          </a:p>
        </p:txBody>
      </p:sp>
      <p:sp>
        <p:nvSpPr>
          <p:cNvPr id="7" name="Shape 5"/>
          <p:cNvSpPr/>
          <p:nvPr/>
        </p:nvSpPr>
        <p:spPr>
          <a:xfrm>
            <a:off x="137160" y="804672"/>
            <a:ext cx="73152" cy="4206240"/>
          </a:xfrm>
          <a:prstGeom prst="rect">
            <a:avLst/>
          </a:prstGeom>
          <a:solidFill>
            <a:srgbClr val="00C9C8"/>
          </a:solidFill>
          <a:ln w="12700">
            <a:solidFill>
              <a:srgbClr val="00C9C8"/>
            </a:solidFill>
            <a:prstDash val="solid"/>
          </a:ln>
        </p:spPr>
      </p:sp>
      <p:sp>
        <p:nvSpPr>
          <p:cNvPr id="8" name="Text 6"/>
          <p:cNvSpPr/>
          <p:nvPr/>
        </p:nvSpPr>
        <p:spPr>
          <a:xfrm>
            <a:off x="274320" y="841248"/>
            <a:ext cx="2743200" cy="320040"/>
          </a:xfrm>
          <a:prstGeom prst="rect">
            <a:avLst/>
          </a:prstGeom>
          <a:noFill/>
          <a:ln/>
        </p:spPr>
        <p:txBody>
          <a:bodyPr wrap="square" lIns="0" tIns="0" rIns="0" bIns="0" rtlCol="0" anchor="ctr"/>
          <a:lstStyle/>
          <a:p>
            <a:pPr indent="0" marL="0">
              <a:buNone/>
            </a:pPr>
            <a:r>
              <a:rPr lang="en-US" sz="1300" b="1" spc="400" kern="0" dirty="0">
                <a:solidFill>
                  <a:srgbClr val="00C9C8"/>
                </a:solidFill>
                <a:latin typeface="Calibri" pitchFamily="34" charset="0"/>
                <a:ea typeface="Calibri" pitchFamily="34" charset="-122"/>
                <a:cs typeface="Calibri" pitchFamily="34" charset="-120"/>
              </a:rPr>
              <a:t>INPUT</a:t>
            </a:r>
            <a:endParaRPr lang="en-US" sz="1300" dirty="0"/>
          </a:p>
        </p:txBody>
      </p:sp>
      <p:pic>
        <p:nvPicPr>
          <p:cNvPr id="9" name="Image 0" descr="preencoded.png">    </p:cNvPr>
          <p:cNvPicPr>
            <a:picLocks noChangeAspect="1"/>
          </p:cNvPicPr>
          <p:nvPr/>
        </p:nvPicPr>
        <p:blipFill>
          <a:blip r:embed="rId1"/>
          <a:stretch>
            <a:fillRect/>
          </a:stretch>
        </p:blipFill>
        <p:spPr>
          <a:xfrm>
            <a:off x="274320" y="1207008"/>
            <a:ext cx="3108960" cy="777240"/>
          </a:xfrm>
          <a:prstGeom prst="rect">
            <a:avLst/>
          </a:prstGeom>
        </p:spPr>
      </p:pic>
      <p:sp>
        <p:nvSpPr>
          <p:cNvPr id="10" name="Text 7"/>
          <p:cNvSpPr/>
          <p:nvPr/>
        </p:nvSpPr>
        <p:spPr>
          <a:xfrm>
            <a:off x="274320" y="2057400"/>
            <a:ext cx="3108960" cy="292608"/>
          </a:xfrm>
          <a:prstGeom prst="rect">
            <a:avLst/>
          </a:prstGeom>
          <a:noFill/>
          <a:ln/>
        </p:spPr>
        <p:txBody>
          <a:bodyPr wrap="square" lIns="0" tIns="0" rIns="0" bIns="0" rtlCol="0" anchor="ctr"/>
          <a:lstStyle/>
          <a:p>
            <a:pPr indent="0" marL="0">
              <a:buNone/>
            </a:pPr>
            <a:r>
              <a:rPr lang="en-US" sz="1100" dirty="0">
                <a:solidFill>
                  <a:srgbClr val="88A8C8"/>
                </a:solidFill>
                <a:latin typeface="Calibri" pitchFamily="34" charset="0"/>
                <a:ea typeface="Calibri" pitchFamily="34" charset="-122"/>
                <a:cs typeface="Calibri" pitchFamily="34" charset="-120"/>
              </a:rPr>
              <a:t>1. FLAIR — Edema boundary</a:t>
            </a:r>
            <a:endParaRPr lang="en-US" sz="1100" dirty="0"/>
          </a:p>
        </p:txBody>
      </p:sp>
      <p:sp>
        <p:nvSpPr>
          <p:cNvPr id="11" name="Text 8"/>
          <p:cNvSpPr/>
          <p:nvPr/>
        </p:nvSpPr>
        <p:spPr>
          <a:xfrm>
            <a:off x="274320" y="2404872"/>
            <a:ext cx="3108960" cy="292608"/>
          </a:xfrm>
          <a:prstGeom prst="rect">
            <a:avLst/>
          </a:prstGeom>
          <a:noFill/>
          <a:ln/>
        </p:spPr>
        <p:txBody>
          <a:bodyPr wrap="square" lIns="0" tIns="0" rIns="0" bIns="0" rtlCol="0" anchor="ctr"/>
          <a:lstStyle/>
          <a:p>
            <a:pPr indent="0" marL="0">
              <a:buNone/>
            </a:pPr>
            <a:r>
              <a:rPr lang="en-US" sz="1100" dirty="0">
                <a:solidFill>
                  <a:srgbClr val="88A8C8"/>
                </a:solidFill>
                <a:latin typeface="Calibri" pitchFamily="34" charset="0"/>
                <a:ea typeface="Calibri" pitchFamily="34" charset="-122"/>
                <a:cs typeface="Calibri" pitchFamily="34" charset="-120"/>
              </a:rPr>
              <a:t>2. T1 — Anatomy</a:t>
            </a:r>
            <a:endParaRPr lang="en-US" sz="1100" dirty="0"/>
          </a:p>
        </p:txBody>
      </p:sp>
      <p:sp>
        <p:nvSpPr>
          <p:cNvPr id="12" name="Text 9"/>
          <p:cNvSpPr/>
          <p:nvPr/>
        </p:nvSpPr>
        <p:spPr>
          <a:xfrm>
            <a:off x="274320" y="2752344"/>
            <a:ext cx="3108960" cy="292608"/>
          </a:xfrm>
          <a:prstGeom prst="rect">
            <a:avLst/>
          </a:prstGeom>
          <a:noFill/>
          <a:ln/>
        </p:spPr>
        <p:txBody>
          <a:bodyPr wrap="square" lIns="0" tIns="0" rIns="0" bIns="0" rtlCol="0" anchor="ctr"/>
          <a:lstStyle/>
          <a:p>
            <a:pPr indent="0" marL="0">
              <a:buNone/>
            </a:pPr>
            <a:r>
              <a:rPr lang="en-US" sz="1100" dirty="0">
                <a:solidFill>
                  <a:srgbClr val="F5A623"/>
                </a:solidFill>
                <a:latin typeface="Calibri" pitchFamily="34" charset="0"/>
                <a:ea typeface="Calibri" pitchFamily="34" charset="-122"/>
                <a:cs typeface="Calibri" pitchFamily="34" charset="-120"/>
              </a:rPr>
              <a:t>3. T1ce — Active core</a:t>
            </a:r>
            <a:endParaRPr lang="en-US" sz="1100" dirty="0"/>
          </a:p>
        </p:txBody>
      </p:sp>
      <p:sp>
        <p:nvSpPr>
          <p:cNvPr id="13" name="Text 10"/>
          <p:cNvSpPr/>
          <p:nvPr/>
        </p:nvSpPr>
        <p:spPr>
          <a:xfrm>
            <a:off x="274320" y="3099816"/>
            <a:ext cx="3108960" cy="292608"/>
          </a:xfrm>
          <a:prstGeom prst="rect">
            <a:avLst/>
          </a:prstGeom>
          <a:noFill/>
          <a:ln/>
        </p:spPr>
        <p:txBody>
          <a:bodyPr wrap="square" lIns="0" tIns="0" rIns="0" bIns="0" rtlCol="0" anchor="ctr"/>
          <a:lstStyle/>
          <a:p>
            <a:pPr indent="0" marL="0">
              <a:buNone/>
            </a:pPr>
            <a:r>
              <a:rPr lang="en-US" sz="1100" dirty="0">
                <a:solidFill>
                  <a:srgbClr val="88A8C8"/>
                </a:solidFill>
                <a:latin typeface="Calibri" pitchFamily="34" charset="0"/>
                <a:ea typeface="Calibri" pitchFamily="34" charset="-122"/>
                <a:cs typeface="Calibri" pitchFamily="34" charset="-120"/>
              </a:rPr>
              <a:t>4. T2 — Water content</a:t>
            </a:r>
            <a:endParaRPr lang="en-US" sz="1100" dirty="0"/>
          </a:p>
        </p:txBody>
      </p:sp>
      <p:sp>
        <p:nvSpPr>
          <p:cNvPr id="14" name="Text 11"/>
          <p:cNvSpPr/>
          <p:nvPr/>
        </p:nvSpPr>
        <p:spPr>
          <a:xfrm>
            <a:off x="274320" y="3456432"/>
            <a:ext cx="3108960" cy="548640"/>
          </a:xfrm>
          <a:prstGeom prst="rect">
            <a:avLst/>
          </a:prstGeom>
          <a:noFill/>
          <a:ln/>
        </p:spPr>
        <p:txBody>
          <a:bodyPr wrap="square" lIns="0" tIns="0" rIns="0" bIns="0" rtlCol="0" anchor="ctr"/>
          <a:lstStyle/>
          <a:p>
            <a:pPr indent="0" marL="0">
              <a:buNone/>
            </a:pPr>
            <a:r>
              <a:rPr lang="en-US" sz="1000" dirty="0">
                <a:solidFill>
                  <a:srgbClr val="6080A0"/>
                </a:solidFill>
                <a:latin typeface="Calibri" pitchFamily="34" charset="0"/>
                <a:ea typeface="Calibri" pitchFamily="34" charset="-122"/>
                <a:cs typeface="Calibri" pitchFamily="34" charset="-120"/>
              </a:rPr>
              <a:t>4D Tensor: [1, 4, D, H, W]</a:t>
            </a:r>
            <a:endParaRPr lang="en-US" sz="1000" dirty="0"/>
          </a:p>
          <a:p>
            <a:pPr indent="0" marL="0">
              <a:buNone/>
            </a:pPr>
            <a:r>
              <a:rPr lang="en-US" sz="1000" dirty="0">
                <a:solidFill>
                  <a:srgbClr val="6080A0"/>
                </a:solidFill>
                <a:latin typeface="Calibri" pitchFamily="34" charset="0"/>
                <a:ea typeface="Calibri" pitchFamily="34" charset="-122"/>
                <a:cs typeface="Calibri" pitchFamily="34" charset="-120"/>
              </a:rPr>
              <a:t>Voxel = 1 mm³ · Normalized per channel</a:t>
            </a:r>
            <a:endParaRPr lang="en-US" sz="1000" dirty="0"/>
          </a:p>
        </p:txBody>
      </p:sp>
      <p:sp>
        <p:nvSpPr>
          <p:cNvPr id="15" name="Shape 12"/>
          <p:cNvSpPr/>
          <p:nvPr/>
        </p:nvSpPr>
        <p:spPr>
          <a:xfrm>
            <a:off x="3520440" y="1188720"/>
            <a:ext cx="2103120" cy="3200400"/>
          </a:xfrm>
          <a:prstGeom prst="rect">
            <a:avLst/>
          </a:prstGeom>
          <a:solidFill>
            <a:srgbClr val="0D2748"/>
          </a:solidFill>
          <a:ln w="12700">
            <a:solidFill>
              <a:srgbClr val="00C9C8"/>
            </a:solidFill>
            <a:prstDash val="solid"/>
          </a:ln>
        </p:spPr>
      </p:sp>
      <p:sp>
        <p:nvSpPr>
          <p:cNvPr id="16" name="Text 13"/>
          <p:cNvSpPr/>
          <p:nvPr/>
        </p:nvSpPr>
        <p:spPr>
          <a:xfrm>
            <a:off x="3520440" y="1188720"/>
            <a:ext cx="2103120" cy="347472"/>
          </a:xfrm>
          <a:prstGeom prst="rect">
            <a:avLst/>
          </a:prstGeom>
          <a:noFill/>
          <a:ln/>
        </p:spPr>
        <p:txBody>
          <a:bodyPr wrap="square" lIns="0" tIns="0" rIns="0" bIns="0" rtlCol="0" anchor="ctr"/>
          <a:lstStyle/>
          <a:p>
            <a:pPr algn="ctr" indent="0" marL="0">
              <a:buNone/>
            </a:pPr>
            <a:r>
              <a:rPr lang="en-US" sz="1100" b="1" spc="200" kern="0" dirty="0">
                <a:solidFill>
                  <a:srgbClr val="00C9C8"/>
                </a:solidFill>
                <a:latin typeface="Calibri" pitchFamily="34" charset="0"/>
                <a:ea typeface="Calibri" pitchFamily="34" charset="-122"/>
                <a:cs typeface="Calibri" pitchFamily="34" charset="-120"/>
              </a:rPr>
              <a:t>HYBRID MODEL</a:t>
            </a:r>
            <a:endParaRPr lang="en-US" sz="1100" dirty="0"/>
          </a:p>
        </p:txBody>
      </p:sp>
      <p:sp>
        <p:nvSpPr>
          <p:cNvPr id="17" name="Shape 14"/>
          <p:cNvSpPr/>
          <p:nvPr/>
        </p:nvSpPr>
        <p:spPr>
          <a:xfrm>
            <a:off x="3657600" y="1600200"/>
            <a:ext cx="1828800" cy="365760"/>
          </a:xfrm>
          <a:prstGeom prst="rect">
            <a:avLst/>
          </a:prstGeom>
          <a:solidFill>
            <a:srgbClr val="0F3060"/>
          </a:solidFill>
          <a:ln w="12700">
            <a:solidFill>
              <a:srgbClr val="1A4A7A"/>
            </a:solidFill>
            <a:prstDash val="solid"/>
          </a:ln>
        </p:spPr>
      </p:sp>
      <p:sp>
        <p:nvSpPr>
          <p:cNvPr id="18" name="Text 15"/>
          <p:cNvSpPr/>
          <p:nvPr/>
        </p:nvSpPr>
        <p:spPr>
          <a:xfrm>
            <a:off x="3657600" y="1600200"/>
            <a:ext cx="1828800" cy="365760"/>
          </a:xfrm>
          <a:prstGeom prst="rect">
            <a:avLst/>
          </a:prstGeom>
          <a:noFill/>
          <a:ln/>
        </p:spPr>
        <p:txBody>
          <a:bodyPr wrap="square" lIns="0" tIns="0" rIns="0" bIns="0" rtlCol="0" anchor="ctr"/>
          <a:lstStyle/>
          <a:p>
            <a:pPr algn="ctr" indent="0" marL="0">
              <a:buNone/>
            </a:pPr>
            <a:r>
              <a:rPr lang="en-US" sz="950" dirty="0">
                <a:solidFill>
                  <a:srgbClr val="00C9C8"/>
                </a:solidFill>
                <a:latin typeface="Calibri" pitchFamily="34" charset="0"/>
                <a:ea typeface="Calibri" pitchFamily="34" charset="-122"/>
                <a:cs typeface="Calibri" pitchFamily="34" charset="-120"/>
              </a:rPr>
              <a:t>ResNet-10/50 Encoder</a:t>
            </a:r>
            <a:endParaRPr lang="en-US" sz="950" dirty="0"/>
          </a:p>
        </p:txBody>
      </p:sp>
      <p:sp>
        <p:nvSpPr>
          <p:cNvPr id="19" name="Shape 16"/>
          <p:cNvSpPr/>
          <p:nvPr/>
        </p:nvSpPr>
        <p:spPr>
          <a:xfrm>
            <a:off x="3657600" y="2057400"/>
            <a:ext cx="1828800" cy="365760"/>
          </a:xfrm>
          <a:prstGeom prst="rect">
            <a:avLst/>
          </a:prstGeom>
          <a:solidFill>
            <a:srgbClr val="142850"/>
          </a:solidFill>
          <a:ln w="12700">
            <a:solidFill>
              <a:srgbClr val="1A4A7A"/>
            </a:solidFill>
            <a:prstDash val="solid"/>
          </a:ln>
        </p:spPr>
      </p:sp>
      <p:sp>
        <p:nvSpPr>
          <p:cNvPr id="20" name="Text 17"/>
          <p:cNvSpPr/>
          <p:nvPr/>
        </p:nvSpPr>
        <p:spPr>
          <a:xfrm>
            <a:off x="3657600" y="2057400"/>
            <a:ext cx="1828800" cy="365760"/>
          </a:xfrm>
          <a:prstGeom prst="rect">
            <a:avLst/>
          </a:prstGeom>
          <a:noFill/>
          <a:ln/>
        </p:spPr>
        <p:txBody>
          <a:bodyPr wrap="square" lIns="0" tIns="0" rIns="0" bIns="0" rtlCol="0" anchor="ctr"/>
          <a:lstStyle/>
          <a:p>
            <a:pPr algn="ctr" indent="0" marL="0">
              <a:buNone/>
            </a:pPr>
            <a:r>
              <a:rPr lang="en-US" sz="950" dirty="0">
                <a:solidFill>
                  <a:srgbClr val="00C9C8"/>
                </a:solidFill>
                <a:latin typeface="Calibri" pitchFamily="34" charset="0"/>
                <a:ea typeface="Calibri" pitchFamily="34" charset="-122"/>
                <a:cs typeface="Calibri" pitchFamily="34" charset="-120"/>
              </a:rPr>
              <a:t>Multi-scale skip features</a:t>
            </a:r>
            <a:endParaRPr lang="en-US" sz="950" dirty="0"/>
          </a:p>
        </p:txBody>
      </p:sp>
      <p:sp>
        <p:nvSpPr>
          <p:cNvPr id="21" name="Shape 18"/>
          <p:cNvSpPr/>
          <p:nvPr/>
        </p:nvSpPr>
        <p:spPr>
          <a:xfrm>
            <a:off x="3657600" y="2514600"/>
            <a:ext cx="1828800" cy="365760"/>
          </a:xfrm>
          <a:prstGeom prst="rect">
            <a:avLst/>
          </a:prstGeom>
          <a:solidFill>
            <a:srgbClr val="0F3060"/>
          </a:solidFill>
          <a:ln w="12700">
            <a:solidFill>
              <a:srgbClr val="1A4A7A"/>
            </a:solidFill>
            <a:prstDash val="solid"/>
          </a:ln>
        </p:spPr>
      </p:sp>
      <p:sp>
        <p:nvSpPr>
          <p:cNvPr id="22" name="Text 19"/>
          <p:cNvSpPr/>
          <p:nvPr/>
        </p:nvSpPr>
        <p:spPr>
          <a:xfrm>
            <a:off x="3657600" y="2514600"/>
            <a:ext cx="1828800" cy="3657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Tumor Density Decoder</a:t>
            </a:r>
            <a:endParaRPr lang="en-US" sz="950" dirty="0"/>
          </a:p>
        </p:txBody>
      </p:sp>
      <p:sp>
        <p:nvSpPr>
          <p:cNvPr id="23" name="Shape 20"/>
          <p:cNvSpPr/>
          <p:nvPr/>
        </p:nvSpPr>
        <p:spPr>
          <a:xfrm>
            <a:off x="3657600" y="2971800"/>
            <a:ext cx="1828800" cy="365760"/>
          </a:xfrm>
          <a:prstGeom prst="rect">
            <a:avLst/>
          </a:prstGeom>
          <a:solidFill>
            <a:srgbClr val="142850"/>
          </a:solidFill>
          <a:ln w="12700">
            <a:solidFill>
              <a:srgbClr val="1A4A7A"/>
            </a:solidFill>
            <a:prstDash val="solid"/>
          </a:ln>
        </p:spPr>
      </p:sp>
      <p:sp>
        <p:nvSpPr>
          <p:cNvPr id="24" name="Text 21"/>
          <p:cNvSpPr/>
          <p:nvPr/>
        </p:nvSpPr>
        <p:spPr>
          <a:xfrm>
            <a:off x="3657600" y="2971800"/>
            <a:ext cx="1828800" cy="3657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Segmentation Head</a:t>
            </a:r>
            <a:endParaRPr lang="en-US" sz="950" dirty="0"/>
          </a:p>
        </p:txBody>
      </p:sp>
      <p:sp>
        <p:nvSpPr>
          <p:cNvPr id="25" name="Shape 22"/>
          <p:cNvSpPr/>
          <p:nvPr/>
        </p:nvSpPr>
        <p:spPr>
          <a:xfrm>
            <a:off x="3657600" y="3429000"/>
            <a:ext cx="1828800" cy="365760"/>
          </a:xfrm>
          <a:prstGeom prst="rect">
            <a:avLst/>
          </a:prstGeom>
          <a:solidFill>
            <a:srgbClr val="0F3060"/>
          </a:solidFill>
          <a:ln w="12700">
            <a:solidFill>
              <a:srgbClr val="1A4A7A"/>
            </a:solidFill>
            <a:prstDash val="solid"/>
          </a:ln>
        </p:spPr>
      </p:sp>
      <p:sp>
        <p:nvSpPr>
          <p:cNvPr id="26" name="Text 23"/>
          <p:cNvSpPr/>
          <p:nvPr/>
        </p:nvSpPr>
        <p:spPr>
          <a:xfrm>
            <a:off x="3657600" y="3429000"/>
            <a:ext cx="1828800" cy="3657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Physics Param Heads</a:t>
            </a:r>
            <a:endParaRPr lang="en-US" sz="950" dirty="0"/>
          </a:p>
        </p:txBody>
      </p:sp>
      <p:sp>
        <p:nvSpPr>
          <p:cNvPr id="27" name="Shape 24"/>
          <p:cNvSpPr/>
          <p:nvPr/>
        </p:nvSpPr>
        <p:spPr>
          <a:xfrm>
            <a:off x="3657600" y="3886200"/>
            <a:ext cx="1828800" cy="365760"/>
          </a:xfrm>
          <a:prstGeom prst="rect">
            <a:avLst/>
          </a:prstGeom>
          <a:solidFill>
            <a:srgbClr val="142850"/>
          </a:solidFill>
          <a:ln w="12700">
            <a:solidFill>
              <a:srgbClr val="1A4A7A"/>
            </a:solidFill>
            <a:prstDash val="solid"/>
          </a:ln>
        </p:spPr>
      </p:sp>
      <p:sp>
        <p:nvSpPr>
          <p:cNvPr id="28" name="Text 25"/>
          <p:cNvSpPr/>
          <p:nvPr/>
        </p:nvSpPr>
        <p:spPr>
          <a:xfrm>
            <a:off x="3657600" y="3886200"/>
            <a:ext cx="1828800" cy="3657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Fisher-KPP Loss</a:t>
            </a:r>
            <a:endParaRPr lang="en-US" sz="950" dirty="0"/>
          </a:p>
        </p:txBody>
      </p:sp>
      <p:sp>
        <p:nvSpPr>
          <p:cNvPr id="29" name="Shape 26"/>
          <p:cNvSpPr/>
          <p:nvPr/>
        </p:nvSpPr>
        <p:spPr>
          <a:xfrm>
            <a:off x="8933688" y="804672"/>
            <a:ext cx="73152" cy="4206240"/>
          </a:xfrm>
          <a:prstGeom prst="rect">
            <a:avLst/>
          </a:prstGeom>
          <a:solidFill>
            <a:srgbClr val="F5A623"/>
          </a:solidFill>
          <a:ln w="12700">
            <a:solidFill>
              <a:srgbClr val="F5A623"/>
            </a:solidFill>
            <a:prstDash val="solid"/>
          </a:ln>
        </p:spPr>
      </p:sp>
      <p:sp>
        <p:nvSpPr>
          <p:cNvPr id="30" name="Text 27"/>
          <p:cNvSpPr/>
          <p:nvPr/>
        </p:nvSpPr>
        <p:spPr>
          <a:xfrm>
            <a:off x="5806440" y="841248"/>
            <a:ext cx="3017520" cy="320040"/>
          </a:xfrm>
          <a:prstGeom prst="rect">
            <a:avLst/>
          </a:prstGeom>
          <a:noFill/>
          <a:ln/>
        </p:spPr>
        <p:txBody>
          <a:bodyPr wrap="square" lIns="0" tIns="0" rIns="0" bIns="0" rtlCol="0" anchor="ctr"/>
          <a:lstStyle/>
          <a:p>
            <a:pPr indent="0" marL="0">
              <a:buNone/>
            </a:pPr>
            <a:r>
              <a:rPr lang="en-US" sz="1300" b="1" spc="400" kern="0" dirty="0">
                <a:solidFill>
                  <a:srgbClr val="F5A623"/>
                </a:solidFill>
                <a:latin typeface="Calibri" pitchFamily="34" charset="0"/>
                <a:ea typeface="Calibri" pitchFamily="34" charset="-122"/>
                <a:cs typeface="Calibri" pitchFamily="34" charset="-120"/>
              </a:rPr>
              <a:t>OUTPUT</a:t>
            </a:r>
            <a:endParaRPr lang="en-US" sz="1300" dirty="0"/>
          </a:p>
        </p:txBody>
      </p:sp>
      <p:sp>
        <p:nvSpPr>
          <p:cNvPr id="31" name="Shape 28"/>
          <p:cNvSpPr/>
          <p:nvPr/>
        </p:nvSpPr>
        <p:spPr>
          <a:xfrm>
            <a:off x="5806440" y="1234440"/>
            <a:ext cx="3017520" cy="502920"/>
          </a:xfrm>
          <a:prstGeom prst="rect">
            <a:avLst/>
          </a:prstGeom>
          <a:solidFill>
            <a:srgbClr val="0D1A2D"/>
          </a:solidFill>
          <a:ln w="12700">
            <a:solidFill>
              <a:srgbClr val="00C9C8"/>
            </a:solidFill>
            <a:prstDash val="solid"/>
          </a:ln>
        </p:spPr>
      </p:sp>
      <p:sp>
        <p:nvSpPr>
          <p:cNvPr id="32" name="Shape 29"/>
          <p:cNvSpPr/>
          <p:nvPr/>
        </p:nvSpPr>
        <p:spPr>
          <a:xfrm>
            <a:off x="5806440" y="1234440"/>
            <a:ext cx="54864" cy="502920"/>
          </a:xfrm>
          <a:prstGeom prst="rect">
            <a:avLst/>
          </a:prstGeom>
          <a:solidFill>
            <a:srgbClr val="00C9C8"/>
          </a:solidFill>
          <a:ln w="12700">
            <a:solidFill>
              <a:srgbClr val="00C9C8"/>
            </a:solidFill>
            <a:prstDash val="solid"/>
          </a:ln>
        </p:spPr>
      </p:sp>
      <p:sp>
        <p:nvSpPr>
          <p:cNvPr id="33" name="Text 30"/>
          <p:cNvSpPr/>
          <p:nvPr/>
        </p:nvSpPr>
        <p:spPr>
          <a:xfrm>
            <a:off x="5943600" y="1261872"/>
            <a:ext cx="2286000" cy="228600"/>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Tumor Density u(x)</a:t>
            </a:r>
            <a:endParaRPr lang="en-US" sz="1100" dirty="0"/>
          </a:p>
        </p:txBody>
      </p:sp>
      <p:sp>
        <p:nvSpPr>
          <p:cNvPr id="34" name="Text 31"/>
          <p:cNvSpPr/>
          <p:nvPr/>
        </p:nvSpPr>
        <p:spPr>
          <a:xfrm>
            <a:off x="5943600" y="1490472"/>
            <a:ext cx="2286000" cy="182880"/>
          </a:xfrm>
          <a:prstGeom prst="rect">
            <a:avLst/>
          </a:prstGeom>
          <a:noFill/>
          <a:ln/>
        </p:spPr>
        <p:txBody>
          <a:bodyPr wrap="square" lIns="0" tIns="0" rIns="0" bIns="0" rtlCol="0" anchor="ctr"/>
          <a:lstStyle/>
          <a:p>
            <a:pPr indent="0" marL="0">
              <a:buNone/>
            </a:pPr>
            <a:r>
              <a:rPr lang="en-US" sz="950" dirty="0">
                <a:solidFill>
                  <a:srgbClr val="6090A0"/>
                </a:solidFill>
                <a:latin typeface="Calibri" pitchFamily="34" charset="0"/>
                <a:ea typeface="Calibri" pitchFamily="34" charset="-122"/>
                <a:cs typeface="Calibri" pitchFamily="34" charset="-120"/>
              </a:rPr>
              <a:t>Continuous [0,1] map</a:t>
            </a:r>
            <a:endParaRPr lang="en-US" sz="950" dirty="0"/>
          </a:p>
        </p:txBody>
      </p:sp>
      <p:sp>
        <p:nvSpPr>
          <p:cNvPr id="35" name="Shape 32"/>
          <p:cNvSpPr/>
          <p:nvPr/>
        </p:nvSpPr>
        <p:spPr>
          <a:xfrm>
            <a:off x="5806440" y="1801368"/>
            <a:ext cx="3017520" cy="502920"/>
          </a:xfrm>
          <a:prstGeom prst="rect">
            <a:avLst/>
          </a:prstGeom>
          <a:solidFill>
            <a:srgbClr val="0D1A2D"/>
          </a:solidFill>
          <a:ln w="12700">
            <a:solidFill>
              <a:srgbClr val="80D8B0"/>
            </a:solidFill>
            <a:prstDash val="solid"/>
          </a:ln>
        </p:spPr>
      </p:sp>
      <p:sp>
        <p:nvSpPr>
          <p:cNvPr id="36" name="Shape 33"/>
          <p:cNvSpPr/>
          <p:nvPr/>
        </p:nvSpPr>
        <p:spPr>
          <a:xfrm>
            <a:off x="5806440" y="1801368"/>
            <a:ext cx="54864" cy="502920"/>
          </a:xfrm>
          <a:prstGeom prst="rect">
            <a:avLst/>
          </a:prstGeom>
          <a:solidFill>
            <a:srgbClr val="80D8B0"/>
          </a:solidFill>
          <a:ln w="12700">
            <a:solidFill>
              <a:srgbClr val="80D8B0"/>
            </a:solidFill>
            <a:prstDash val="solid"/>
          </a:ln>
        </p:spPr>
      </p:sp>
      <p:sp>
        <p:nvSpPr>
          <p:cNvPr id="37" name="Text 34"/>
          <p:cNvSpPr/>
          <p:nvPr/>
        </p:nvSpPr>
        <p:spPr>
          <a:xfrm>
            <a:off x="5943600" y="1828800"/>
            <a:ext cx="2286000" cy="228600"/>
          </a:xfrm>
          <a:prstGeom prst="rect">
            <a:avLst/>
          </a:prstGeom>
          <a:noFill/>
          <a:ln/>
        </p:spPr>
        <p:txBody>
          <a:bodyPr wrap="square" lIns="0" tIns="0" rIns="0" bIns="0" rtlCol="0" anchor="ctr"/>
          <a:lstStyle/>
          <a:p>
            <a:pPr indent="0" marL="0">
              <a:buNone/>
            </a:pPr>
            <a:r>
              <a:rPr lang="en-US" sz="1100" b="1" dirty="0">
                <a:solidFill>
                  <a:srgbClr val="80D8B0"/>
                </a:solidFill>
                <a:latin typeface="Calibri" pitchFamily="34" charset="0"/>
                <a:ea typeface="Calibri" pitchFamily="34" charset="-122"/>
                <a:cs typeface="Calibri" pitchFamily="34" charset="-120"/>
              </a:rPr>
              <a:t>Segmentation Mask</a:t>
            </a:r>
            <a:endParaRPr lang="en-US" sz="1100" dirty="0"/>
          </a:p>
        </p:txBody>
      </p:sp>
      <p:sp>
        <p:nvSpPr>
          <p:cNvPr id="38" name="Text 35"/>
          <p:cNvSpPr/>
          <p:nvPr/>
        </p:nvSpPr>
        <p:spPr>
          <a:xfrm>
            <a:off x="5943600" y="2057400"/>
            <a:ext cx="2286000" cy="182880"/>
          </a:xfrm>
          <a:prstGeom prst="rect">
            <a:avLst/>
          </a:prstGeom>
          <a:noFill/>
          <a:ln/>
        </p:spPr>
        <p:txBody>
          <a:bodyPr wrap="square" lIns="0" tIns="0" rIns="0" bIns="0" rtlCol="0" anchor="ctr"/>
          <a:lstStyle/>
          <a:p>
            <a:pPr indent="0" marL="0">
              <a:buNone/>
            </a:pPr>
            <a:r>
              <a:rPr lang="en-US" sz="950" dirty="0">
                <a:solidFill>
                  <a:srgbClr val="6090A0"/>
                </a:solidFill>
                <a:latin typeface="Calibri" pitchFamily="34" charset="0"/>
                <a:ea typeface="Calibri" pitchFamily="34" charset="-122"/>
                <a:cs typeface="Calibri" pitchFamily="34" charset="-120"/>
              </a:rPr>
              <a:t>4-class sub-regions</a:t>
            </a:r>
            <a:endParaRPr lang="en-US" sz="950" dirty="0"/>
          </a:p>
        </p:txBody>
      </p:sp>
      <p:sp>
        <p:nvSpPr>
          <p:cNvPr id="39" name="Shape 36"/>
          <p:cNvSpPr/>
          <p:nvPr/>
        </p:nvSpPr>
        <p:spPr>
          <a:xfrm>
            <a:off x="5806440" y="2368296"/>
            <a:ext cx="3017520" cy="502920"/>
          </a:xfrm>
          <a:prstGeom prst="rect">
            <a:avLst/>
          </a:prstGeom>
          <a:solidFill>
            <a:srgbClr val="0D1A2D"/>
          </a:solidFill>
          <a:ln w="12700">
            <a:solidFill>
              <a:srgbClr val="C080F0"/>
            </a:solidFill>
            <a:prstDash val="solid"/>
          </a:ln>
        </p:spPr>
      </p:sp>
      <p:sp>
        <p:nvSpPr>
          <p:cNvPr id="40" name="Shape 37"/>
          <p:cNvSpPr/>
          <p:nvPr/>
        </p:nvSpPr>
        <p:spPr>
          <a:xfrm>
            <a:off x="5806440" y="2368296"/>
            <a:ext cx="54864" cy="502920"/>
          </a:xfrm>
          <a:prstGeom prst="rect">
            <a:avLst/>
          </a:prstGeom>
          <a:solidFill>
            <a:srgbClr val="C080F0"/>
          </a:solidFill>
          <a:ln w="12700">
            <a:solidFill>
              <a:srgbClr val="C080F0"/>
            </a:solidFill>
            <a:prstDash val="solid"/>
          </a:ln>
        </p:spPr>
      </p:sp>
      <p:sp>
        <p:nvSpPr>
          <p:cNvPr id="41" name="Text 38"/>
          <p:cNvSpPr/>
          <p:nvPr/>
        </p:nvSpPr>
        <p:spPr>
          <a:xfrm>
            <a:off x="5943600" y="2395728"/>
            <a:ext cx="2286000" cy="228600"/>
          </a:xfrm>
          <a:prstGeom prst="rect">
            <a:avLst/>
          </a:prstGeom>
          <a:noFill/>
          <a:ln/>
        </p:spPr>
        <p:txBody>
          <a:bodyPr wrap="square" lIns="0" tIns="0" rIns="0" bIns="0" rtlCol="0" anchor="ctr"/>
          <a:lstStyle/>
          <a:p>
            <a:pPr indent="0" marL="0">
              <a:buNone/>
            </a:pPr>
            <a:r>
              <a:rPr lang="en-US" sz="1100" b="1" dirty="0">
                <a:solidFill>
                  <a:srgbClr val="C080F0"/>
                </a:solidFill>
                <a:latin typeface="Calibri" pitchFamily="34" charset="0"/>
                <a:ea typeface="Calibri" pitchFamily="34" charset="-122"/>
                <a:cs typeface="Calibri" pitchFamily="34" charset="-120"/>
              </a:rPr>
              <a:t>Diffusion D(x)</a:t>
            </a:r>
            <a:endParaRPr lang="en-US" sz="1100" dirty="0"/>
          </a:p>
        </p:txBody>
      </p:sp>
      <p:sp>
        <p:nvSpPr>
          <p:cNvPr id="42" name="Text 39"/>
          <p:cNvSpPr/>
          <p:nvPr/>
        </p:nvSpPr>
        <p:spPr>
          <a:xfrm>
            <a:off x="5943600" y="2624328"/>
            <a:ext cx="2286000" cy="182880"/>
          </a:xfrm>
          <a:prstGeom prst="rect">
            <a:avLst/>
          </a:prstGeom>
          <a:noFill/>
          <a:ln/>
        </p:spPr>
        <p:txBody>
          <a:bodyPr wrap="square" lIns="0" tIns="0" rIns="0" bIns="0" rtlCol="0" anchor="ctr"/>
          <a:lstStyle/>
          <a:p>
            <a:pPr indent="0" marL="0">
              <a:buNone/>
            </a:pPr>
            <a:r>
              <a:rPr lang="en-US" sz="950" dirty="0">
                <a:solidFill>
                  <a:srgbClr val="6090A0"/>
                </a:solidFill>
                <a:latin typeface="Calibri" pitchFamily="34" charset="0"/>
                <a:ea typeface="Calibri" pitchFamily="34" charset="-122"/>
                <a:cs typeface="Calibri" pitchFamily="34" charset="-120"/>
              </a:rPr>
              <a:t>mm²/day per voxel</a:t>
            </a:r>
            <a:endParaRPr lang="en-US" sz="950" dirty="0"/>
          </a:p>
        </p:txBody>
      </p:sp>
      <p:sp>
        <p:nvSpPr>
          <p:cNvPr id="43" name="Shape 40"/>
          <p:cNvSpPr/>
          <p:nvPr/>
        </p:nvSpPr>
        <p:spPr>
          <a:xfrm>
            <a:off x="5806440" y="2935224"/>
            <a:ext cx="3017520" cy="502920"/>
          </a:xfrm>
          <a:prstGeom prst="rect">
            <a:avLst/>
          </a:prstGeom>
          <a:solidFill>
            <a:srgbClr val="0D1A2D"/>
          </a:solidFill>
          <a:ln w="12700">
            <a:solidFill>
              <a:srgbClr val="F5A623"/>
            </a:solidFill>
            <a:prstDash val="solid"/>
          </a:ln>
        </p:spPr>
      </p:sp>
      <p:sp>
        <p:nvSpPr>
          <p:cNvPr id="44" name="Shape 41"/>
          <p:cNvSpPr/>
          <p:nvPr/>
        </p:nvSpPr>
        <p:spPr>
          <a:xfrm>
            <a:off x="5806440" y="2935224"/>
            <a:ext cx="54864" cy="502920"/>
          </a:xfrm>
          <a:prstGeom prst="rect">
            <a:avLst/>
          </a:prstGeom>
          <a:solidFill>
            <a:srgbClr val="F5A623"/>
          </a:solidFill>
          <a:ln w="12700">
            <a:solidFill>
              <a:srgbClr val="F5A623"/>
            </a:solidFill>
            <a:prstDash val="solid"/>
          </a:ln>
        </p:spPr>
      </p:sp>
      <p:sp>
        <p:nvSpPr>
          <p:cNvPr id="45" name="Text 42"/>
          <p:cNvSpPr/>
          <p:nvPr/>
        </p:nvSpPr>
        <p:spPr>
          <a:xfrm>
            <a:off x="5943600" y="2962656"/>
            <a:ext cx="2286000" cy="22860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Proliferation ρ(x)</a:t>
            </a:r>
            <a:endParaRPr lang="en-US" sz="1100" dirty="0"/>
          </a:p>
        </p:txBody>
      </p:sp>
      <p:sp>
        <p:nvSpPr>
          <p:cNvPr id="46" name="Text 43"/>
          <p:cNvSpPr/>
          <p:nvPr/>
        </p:nvSpPr>
        <p:spPr>
          <a:xfrm>
            <a:off x="5943600" y="3191256"/>
            <a:ext cx="2286000" cy="182880"/>
          </a:xfrm>
          <a:prstGeom prst="rect">
            <a:avLst/>
          </a:prstGeom>
          <a:noFill/>
          <a:ln/>
        </p:spPr>
        <p:txBody>
          <a:bodyPr wrap="square" lIns="0" tIns="0" rIns="0" bIns="0" rtlCol="0" anchor="ctr"/>
          <a:lstStyle/>
          <a:p>
            <a:pPr indent="0" marL="0">
              <a:buNone/>
            </a:pPr>
            <a:r>
              <a:rPr lang="en-US" sz="950" dirty="0">
                <a:solidFill>
                  <a:srgbClr val="6090A0"/>
                </a:solidFill>
                <a:latin typeface="Calibri" pitchFamily="34" charset="0"/>
                <a:ea typeface="Calibri" pitchFamily="34" charset="-122"/>
                <a:cs typeface="Calibri" pitchFamily="34" charset="-120"/>
              </a:rPr>
              <a:t>/day per voxel</a:t>
            </a:r>
            <a:endParaRPr lang="en-US" sz="950" dirty="0"/>
          </a:p>
        </p:txBody>
      </p:sp>
      <p:sp>
        <p:nvSpPr>
          <p:cNvPr id="47" name="Shape 44"/>
          <p:cNvSpPr/>
          <p:nvPr/>
        </p:nvSpPr>
        <p:spPr>
          <a:xfrm>
            <a:off x="5806440" y="3502152"/>
            <a:ext cx="3017520" cy="502920"/>
          </a:xfrm>
          <a:prstGeom prst="rect">
            <a:avLst/>
          </a:prstGeom>
          <a:solidFill>
            <a:srgbClr val="0D1A2D"/>
          </a:solidFill>
          <a:ln w="12700">
            <a:solidFill>
              <a:srgbClr val="E74C3C"/>
            </a:solidFill>
            <a:prstDash val="solid"/>
          </a:ln>
        </p:spPr>
      </p:sp>
      <p:sp>
        <p:nvSpPr>
          <p:cNvPr id="48" name="Shape 45"/>
          <p:cNvSpPr/>
          <p:nvPr/>
        </p:nvSpPr>
        <p:spPr>
          <a:xfrm>
            <a:off x="5806440" y="3502152"/>
            <a:ext cx="54864" cy="502920"/>
          </a:xfrm>
          <a:prstGeom prst="rect">
            <a:avLst/>
          </a:prstGeom>
          <a:solidFill>
            <a:srgbClr val="E74C3C"/>
          </a:solidFill>
          <a:ln w="12700">
            <a:solidFill>
              <a:srgbClr val="E74C3C"/>
            </a:solidFill>
            <a:prstDash val="solid"/>
          </a:ln>
        </p:spPr>
      </p:sp>
      <p:sp>
        <p:nvSpPr>
          <p:cNvPr id="49" name="Text 46"/>
          <p:cNvSpPr/>
          <p:nvPr/>
        </p:nvSpPr>
        <p:spPr>
          <a:xfrm>
            <a:off x="5943600" y="3529584"/>
            <a:ext cx="2286000" cy="228600"/>
          </a:xfrm>
          <a:prstGeom prst="rect">
            <a:avLst/>
          </a:prstGeom>
          <a:noFill/>
          <a:ln/>
        </p:spPr>
        <p:txBody>
          <a:bodyPr wrap="square" lIns="0" tIns="0" rIns="0" bIns="0" rtlCol="0" anchor="ctr"/>
          <a:lstStyle/>
          <a:p>
            <a:pPr indent="0" marL="0">
              <a:buNone/>
            </a:pPr>
            <a:r>
              <a:rPr lang="en-US" sz="1100" b="1" dirty="0">
                <a:solidFill>
                  <a:srgbClr val="E74C3C"/>
                </a:solidFill>
                <a:latin typeface="Calibri" pitchFamily="34" charset="0"/>
                <a:ea typeface="Calibri" pitchFamily="34" charset="-122"/>
                <a:cs typeface="Calibri" pitchFamily="34" charset="-120"/>
              </a:rPr>
              <a:t>+30-day Growth Sim</a:t>
            </a:r>
            <a:endParaRPr lang="en-US" sz="1100" dirty="0"/>
          </a:p>
        </p:txBody>
      </p:sp>
      <p:sp>
        <p:nvSpPr>
          <p:cNvPr id="50" name="Text 47"/>
          <p:cNvSpPr/>
          <p:nvPr/>
        </p:nvSpPr>
        <p:spPr>
          <a:xfrm>
            <a:off x="5943600" y="3758184"/>
            <a:ext cx="2286000" cy="182880"/>
          </a:xfrm>
          <a:prstGeom prst="rect">
            <a:avLst/>
          </a:prstGeom>
          <a:noFill/>
          <a:ln/>
        </p:spPr>
        <p:txBody>
          <a:bodyPr wrap="square" lIns="0" tIns="0" rIns="0" bIns="0" rtlCol="0" anchor="ctr"/>
          <a:lstStyle/>
          <a:p>
            <a:pPr indent="0" marL="0">
              <a:buNone/>
            </a:pPr>
            <a:r>
              <a:rPr lang="en-US" sz="950" dirty="0">
                <a:solidFill>
                  <a:srgbClr val="6090A0"/>
                </a:solidFill>
                <a:latin typeface="Calibri" pitchFamily="34" charset="0"/>
                <a:ea typeface="Calibri" pitchFamily="34" charset="-122"/>
                <a:cs typeface="Calibri" pitchFamily="34" charset="-120"/>
              </a:rPr>
              <a:t>RK4 PDE forward</a:t>
            </a:r>
            <a:endParaRPr lang="en-US" sz="950" dirty="0"/>
          </a:p>
        </p:txBody>
      </p:sp>
      <p:sp>
        <p:nvSpPr>
          <p:cNvPr id="51" name="Text 48"/>
          <p:cNvSpPr/>
          <p:nvPr/>
        </p:nvSpPr>
        <p:spPr>
          <a:xfrm>
            <a:off x="137160" y="4919472"/>
            <a:ext cx="8778240" cy="201168"/>
          </a:xfrm>
          <a:prstGeom prst="rect">
            <a:avLst/>
          </a:prstGeom>
          <a:noFill/>
          <a:ln/>
        </p:spPr>
        <p:txBody>
          <a:bodyPr wrap="square" lIns="0" tIns="0" rIns="0" bIns="0" rtlCol="0" anchor="ctr"/>
          <a:lstStyle/>
          <a:p>
            <a:pPr algn="ctr" indent="0" marL="0">
              <a:buNone/>
            </a:pPr>
            <a:r>
              <a:rPr lang="en-US" sz="950" i="1" dirty="0">
                <a:solidFill>
                  <a:srgbClr val="4080A0"/>
                </a:solidFill>
                <a:latin typeface="Calibri" pitchFamily="34" charset="0"/>
                <a:ea typeface="Calibri" pitchFamily="34" charset="-122"/>
                <a:cs typeface="Calibri" pitchFamily="34" charset="-120"/>
              </a:rPr>
              <a:t>Input: 4 MRI modalities (gray-scale volumes)  →  Model: physics-constrained CNN  →  Output: 5 simultaneous predictions + 30-day growth trajectory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Preprocessing is Necessary — The Raw Data Problem</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11 / 20</a:t>
            </a:r>
            <a:endParaRPr lang="en-US" sz="900" dirty="0"/>
          </a:p>
        </p:txBody>
      </p:sp>
      <p:pic>
        <p:nvPicPr>
          <p:cNvPr id="6" name="Image 0" descr="preencoded.png">    </p:cNvPr>
          <p:cNvPicPr>
            <a:picLocks noChangeAspect="1"/>
          </p:cNvPicPr>
          <p:nvPr/>
        </p:nvPicPr>
        <p:blipFill>
          <a:blip r:embed="rId1"/>
          <a:stretch>
            <a:fillRect/>
          </a:stretch>
        </p:blipFill>
        <p:spPr>
          <a:xfrm>
            <a:off x="8412480" y="804672"/>
            <a:ext cx="502920" cy="502920"/>
          </a:xfrm>
          <a:prstGeom prst="rect">
            <a:avLst/>
          </a:prstGeom>
        </p:spPr>
      </p:pic>
      <p:sp>
        <p:nvSpPr>
          <p:cNvPr id="7" name="Shape 4"/>
          <p:cNvSpPr/>
          <p:nvPr/>
        </p:nvSpPr>
        <p:spPr>
          <a:xfrm>
            <a:off x="228600" y="804672"/>
            <a:ext cx="4206240" cy="20116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sp>
        <p:nvSpPr>
          <p:cNvPr id="8" name="Shape 5"/>
          <p:cNvSpPr/>
          <p:nvPr/>
        </p:nvSpPr>
        <p:spPr>
          <a:xfrm>
            <a:off x="228600" y="804672"/>
            <a:ext cx="73152" cy="2011680"/>
          </a:xfrm>
          <a:prstGeom prst="rect">
            <a:avLst/>
          </a:prstGeom>
          <a:solidFill>
            <a:srgbClr val="E74C3C"/>
          </a:solidFill>
          <a:ln w="12700">
            <a:solidFill>
              <a:srgbClr val="E74C3C"/>
            </a:solidFill>
            <a:prstDash val="solid"/>
          </a:ln>
        </p:spPr>
      </p:sp>
      <p:sp>
        <p:nvSpPr>
          <p:cNvPr id="9" name="Text 6"/>
          <p:cNvSpPr/>
          <p:nvPr/>
        </p:nvSpPr>
        <p:spPr>
          <a:xfrm>
            <a:off x="393192" y="859536"/>
            <a:ext cx="3931920" cy="274320"/>
          </a:xfrm>
          <a:prstGeom prst="rect">
            <a:avLst/>
          </a:prstGeom>
          <a:noFill/>
          <a:ln/>
        </p:spPr>
        <p:txBody>
          <a:bodyPr wrap="square" lIns="0" tIns="0" rIns="0" bIns="0" rtlCol="0" anchor="ctr"/>
          <a:lstStyle/>
          <a:p>
            <a:pPr indent="0" marL="0">
              <a:buNone/>
            </a:pPr>
            <a:r>
              <a:rPr lang="en-US" sz="1200" b="1" dirty="0">
                <a:solidFill>
                  <a:srgbClr val="E74C3C"/>
                </a:solidFill>
                <a:latin typeface="Calibri" pitchFamily="34" charset="0"/>
                <a:ea typeface="Calibri" pitchFamily="34" charset="-122"/>
                <a:cs typeface="Calibri" pitchFamily="34" charset="-120"/>
              </a:rPr>
              <a:t>⚠  Variable Brain Orientation</a:t>
            </a:r>
            <a:endParaRPr lang="en-US" sz="1200" dirty="0"/>
          </a:p>
        </p:txBody>
      </p:sp>
      <p:sp>
        <p:nvSpPr>
          <p:cNvPr id="10" name="Text 7"/>
          <p:cNvSpPr/>
          <p:nvPr/>
        </p:nvSpPr>
        <p:spPr>
          <a:xfrm>
            <a:off x="393192" y="1170432"/>
            <a:ext cx="1097280" cy="201168"/>
          </a:xfrm>
          <a:prstGeom prst="rect">
            <a:avLst/>
          </a:prstGeom>
          <a:noFill/>
          <a:ln/>
        </p:spPr>
        <p:txBody>
          <a:bodyPr wrap="square" lIns="0" tIns="0" rIns="0" bIns="0" rtlCol="0" anchor="ctr"/>
          <a:lstStyle/>
          <a:p>
            <a:pPr indent="0" marL="0">
              <a:buNone/>
            </a:pPr>
            <a:r>
              <a:rPr lang="en-US" sz="1000" b="1" dirty="0">
                <a:solidFill>
                  <a:srgbClr val="0B1E3D"/>
                </a:solidFill>
                <a:latin typeface="Calibri" pitchFamily="34" charset="0"/>
                <a:ea typeface="Calibri" pitchFamily="34" charset="-122"/>
                <a:cs typeface="Calibri" pitchFamily="34" charset="-120"/>
              </a:rPr>
              <a:t>Why it happens:</a:t>
            </a:r>
            <a:endParaRPr lang="en-US" sz="1000" dirty="0"/>
          </a:p>
        </p:txBody>
      </p:sp>
      <p:sp>
        <p:nvSpPr>
          <p:cNvPr id="11" name="Text 8"/>
          <p:cNvSpPr/>
          <p:nvPr/>
        </p:nvSpPr>
        <p:spPr>
          <a:xfrm>
            <a:off x="393192" y="1353312"/>
            <a:ext cx="3931920" cy="347472"/>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Different hospitals position the patient differently in the scanner. One scan faces left; another faces right.</a:t>
            </a:r>
            <a:endParaRPr lang="en-US" sz="1050" dirty="0"/>
          </a:p>
        </p:txBody>
      </p:sp>
      <p:sp>
        <p:nvSpPr>
          <p:cNvPr id="12" name="Text 9"/>
          <p:cNvSpPr/>
          <p:nvPr/>
        </p:nvSpPr>
        <p:spPr>
          <a:xfrm>
            <a:off x="393192" y="1737360"/>
            <a:ext cx="59436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Effect:</a:t>
            </a:r>
            <a:endParaRPr lang="en-US" sz="1000" dirty="0"/>
          </a:p>
        </p:txBody>
      </p:sp>
      <p:sp>
        <p:nvSpPr>
          <p:cNvPr id="13" name="Text 10"/>
          <p:cNvSpPr/>
          <p:nvPr/>
        </p:nvSpPr>
        <p:spPr>
          <a:xfrm>
            <a:off x="393192" y="1920240"/>
            <a:ext cx="3931920" cy="274320"/>
          </a:xfrm>
          <a:prstGeom prst="rect">
            <a:avLst/>
          </a:prstGeom>
          <a:noFill/>
          <a:ln/>
        </p:spPr>
        <p:txBody>
          <a:bodyPr wrap="square" lIns="0" tIns="0" rIns="0" bIns="0" rtlCol="0" anchor="ctr"/>
          <a:lstStyle/>
          <a:p>
            <a:pPr indent="0" marL="0">
              <a:buNone/>
            </a:pPr>
            <a:r>
              <a:rPr lang="en-US" sz="1000" i="1" dirty="0">
                <a:solidFill>
                  <a:srgbClr val="0B1E3D"/>
                </a:solidFill>
                <a:latin typeface="Calibri" pitchFamily="34" charset="0"/>
                <a:ea typeface="Calibri" pitchFamily="34" charset="-122"/>
                <a:cs typeface="Calibri" pitchFamily="34" charset="-120"/>
              </a:rPr>
              <a:t>A CNN trained on one orientation fails on a different one.</a:t>
            </a:r>
            <a:endParaRPr lang="en-US" sz="1000" dirty="0"/>
          </a:p>
        </p:txBody>
      </p:sp>
      <p:sp>
        <p:nvSpPr>
          <p:cNvPr id="14" name="Shape 11"/>
          <p:cNvSpPr/>
          <p:nvPr/>
        </p:nvSpPr>
        <p:spPr>
          <a:xfrm>
            <a:off x="338328" y="2267712"/>
            <a:ext cx="4005072" cy="475488"/>
          </a:xfrm>
          <a:prstGeom prst="rect">
            <a:avLst/>
          </a:prstGeom>
          <a:solidFill>
            <a:srgbClr val="F0FFF4"/>
          </a:solidFill>
          <a:ln w="12700">
            <a:solidFill>
              <a:srgbClr val="27AE60"/>
            </a:solidFill>
            <a:prstDash val="solid"/>
          </a:ln>
        </p:spPr>
      </p:sp>
      <p:sp>
        <p:nvSpPr>
          <p:cNvPr id="15" name="Text 12"/>
          <p:cNvSpPr/>
          <p:nvPr/>
        </p:nvSpPr>
        <p:spPr>
          <a:xfrm>
            <a:off x="411480" y="2295144"/>
            <a:ext cx="3858768" cy="384048"/>
          </a:xfrm>
          <a:prstGeom prst="rect">
            <a:avLst/>
          </a:prstGeom>
          <a:noFill/>
          <a:ln/>
        </p:spPr>
        <p:txBody>
          <a:bodyPr wrap="square" lIns="0" tIns="0" rIns="0" bIns="0" rtlCol="0" anchor="ctr"/>
          <a:lstStyle/>
          <a:p>
            <a:pPr indent="0" marL="0">
              <a:buNone/>
            </a:pPr>
            <a:r>
              <a:rPr lang="en-US" sz="1000" b="1" dirty="0">
                <a:solidFill>
                  <a:srgbClr val="1A6B35"/>
                </a:solidFill>
                <a:latin typeface="Calibri" pitchFamily="34" charset="0"/>
                <a:ea typeface="Calibri" pitchFamily="34" charset="-122"/>
                <a:cs typeface="Calibri" pitchFamily="34" charset="-120"/>
              </a:rPr>
              <a:t>✔  Fix: Reorient all brains to standard RAS (Right-Anterior-Superior) coordinate system.</a:t>
            </a:r>
            <a:endParaRPr lang="en-US" sz="1000" dirty="0"/>
          </a:p>
        </p:txBody>
      </p:sp>
      <p:sp>
        <p:nvSpPr>
          <p:cNvPr id="16" name="Shape 13"/>
          <p:cNvSpPr/>
          <p:nvPr/>
        </p:nvSpPr>
        <p:spPr>
          <a:xfrm>
            <a:off x="4663440" y="804672"/>
            <a:ext cx="4206240" cy="20116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sp>
        <p:nvSpPr>
          <p:cNvPr id="17" name="Shape 14"/>
          <p:cNvSpPr/>
          <p:nvPr/>
        </p:nvSpPr>
        <p:spPr>
          <a:xfrm>
            <a:off x="4663440" y="804672"/>
            <a:ext cx="73152" cy="2011680"/>
          </a:xfrm>
          <a:prstGeom prst="rect">
            <a:avLst/>
          </a:prstGeom>
          <a:solidFill>
            <a:srgbClr val="E67E22"/>
          </a:solidFill>
          <a:ln w="12700">
            <a:solidFill>
              <a:srgbClr val="E67E22"/>
            </a:solidFill>
            <a:prstDash val="solid"/>
          </a:ln>
        </p:spPr>
      </p:sp>
      <p:sp>
        <p:nvSpPr>
          <p:cNvPr id="18" name="Text 15"/>
          <p:cNvSpPr/>
          <p:nvPr/>
        </p:nvSpPr>
        <p:spPr>
          <a:xfrm>
            <a:off x="4828032" y="859536"/>
            <a:ext cx="3931920" cy="27432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Inconsistent Voxel Spacing</a:t>
            </a:r>
            <a:endParaRPr lang="en-US" sz="1200" dirty="0"/>
          </a:p>
        </p:txBody>
      </p:sp>
      <p:sp>
        <p:nvSpPr>
          <p:cNvPr id="19" name="Text 16"/>
          <p:cNvSpPr/>
          <p:nvPr/>
        </p:nvSpPr>
        <p:spPr>
          <a:xfrm>
            <a:off x="4828032" y="1170432"/>
            <a:ext cx="1097280" cy="201168"/>
          </a:xfrm>
          <a:prstGeom prst="rect">
            <a:avLst/>
          </a:prstGeom>
          <a:noFill/>
          <a:ln/>
        </p:spPr>
        <p:txBody>
          <a:bodyPr wrap="square" lIns="0" tIns="0" rIns="0" bIns="0" rtlCol="0" anchor="ctr"/>
          <a:lstStyle/>
          <a:p>
            <a:pPr indent="0" marL="0">
              <a:buNone/>
            </a:pPr>
            <a:r>
              <a:rPr lang="en-US" sz="1000" b="1" dirty="0">
                <a:solidFill>
                  <a:srgbClr val="0B1E3D"/>
                </a:solidFill>
                <a:latin typeface="Calibri" pitchFamily="34" charset="0"/>
                <a:ea typeface="Calibri" pitchFamily="34" charset="-122"/>
                <a:cs typeface="Calibri" pitchFamily="34" charset="-120"/>
              </a:rPr>
              <a:t>Why it happens:</a:t>
            </a:r>
            <a:endParaRPr lang="en-US" sz="1000" dirty="0"/>
          </a:p>
        </p:txBody>
      </p:sp>
      <p:sp>
        <p:nvSpPr>
          <p:cNvPr id="20" name="Text 17"/>
          <p:cNvSpPr/>
          <p:nvPr/>
        </p:nvSpPr>
        <p:spPr>
          <a:xfrm>
            <a:off x="4828032" y="1353312"/>
            <a:ext cx="3931920" cy="347472"/>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Hospital A: 1.2×1.2×3.0 mm³ voxels. Hospital B: 1×1×1 mm³. The same tumor appears different sizes.</a:t>
            </a:r>
            <a:endParaRPr lang="en-US" sz="1050" dirty="0"/>
          </a:p>
        </p:txBody>
      </p:sp>
      <p:sp>
        <p:nvSpPr>
          <p:cNvPr id="21" name="Text 18"/>
          <p:cNvSpPr/>
          <p:nvPr/>
        </p:nvSpPr>
        <p:spPr>
          <a:xfrm>
            <a:off x="4828032" y="1737360"/>
            <a:ext cx="59436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Effect:</a:t>
            </a:r>
            <a:endParaRPr lang="en-US" sz="1000" dirty="0"/>
          </a:p>
        </p:txBody>
      </p:sp>
      <p:sp>
        <p:nvSpPr>
          <p:cNvPr id="22" name="Text 19"/>
          <p:cNvSpPr/>
          <p:nvPr/>
        </p:nvSpPr>
        <p:spPr>
          <a:xfrm>
            <a:off x="4828032" y="1920240"/>
            <a:ext cx="3931920" cy="274320"/>
          </a:xfrm>
          <a:prstGeom prst="rect">
            <a:avLst/>
          </a:prstGeom>
          <a:noFill/>
          <a:ln/>
        </p:spPr>
        <p:txBody>
          <a:bodyPr wrap="square" lIns="0" tIns="0" rIns="0" bIns="0" rtlCol="0" anchor="ctr"/>
          <a:lstStyle/>
          <a:p>
            <a:pPr indent="0" marL="0">
              <a:buNone/>
            </a:pPr>
            <a:r>
              <a:rPr lang="en-US" sz="1000" i="1" dirty="0">
                <a:solidFill>
                  <a:srgbClr val="0B1E3D"/>
                </a:solidFill>
                <a:latin typeface="Calibri" pitchFamily="34" charset="0"/>
                <a:ea typeface="Calibri" pitchFamily="34" charset="-122"/>
                <a:cs typeface="Calibri" pitchFamily="34" charset="-120"/>
              </a:rPr>
              <a:t>Spatial relationships and filter receptive fields become meaningless across scanners.</a:t>
            </a:r>
            <a:endParaRPr lang="en-US" sz="1000" dirty="0"/>
          </a:p>
        </p:txBody>
      </p:sp>
      <p:sp>
        <p:nvSpPr>
          <p:cNvPr id="23" name="Shape 20"/>
          <p:cNvSpPr/>
          <p:nvPr/>
        </p:nvSpPr>
        <p:spPr>
          <a:xfrm>
            <a:off x="4773168" y="2267712"/>
            <a:ext cx="4005072" cy="475488"/>
          </a:xfrm>
          <a:prstGeom prst="rect">
            <a:avLst/>
          </a:prstGeom>
          <a:solidFill>
            <a:srgbClr val="F0FFF4"/>
          </a:solidFill>
          <a:ln w="12700">
            <a:solidFill>
              <a:srgbClr val="27AE60"/>
            </a:solidFill>
            <a:prstDash val="solid"/>
          </a:ln>
        </p:spPr>
      </p:sp>
      <p:sp>
        <p:nvSpPr>
          <p:cNvPr id="24" name="Text 21"/>
          <p:cNvSpPr/>
          <p:nvPr/>
        </p:nvSpPr>
        <p:spPr>
          <a:xfrm>
            <a:off x="4846320" y="2295144"/>
            <a:ext cx="3858768" cy="384048"/>
          </a:xfrm>
          <a:prstGeom prst="rect">
            <a:avLst/>
          </a:prstGeom>
          <a:noFill/>
          <a:ln/>
        </p:spPr>
        <p:txBody>
          <a:bodyPr wrap="square" lIns="0" tIns="0" rIns="0" bIns="0" rtlCol="0" anchor="ctr"/>
          <a:lstStyle/>
          <a:p>
            <a:pPr indent="0" marL="0">
              <a:buNone/>
            </a:pPr>
            <a:r>
              <a:rPr lang="en-US" sz="1000" b="1" dirty="0">
                <a:solidFill>
                  <a:srgbClr val="1A6B35"/>
                </a:solidFill>
                <a:latin typeface="Calibri" pitchFamily="34" charset="0"/>
                <a:ea typeface="Calibri" pitchFamily="34" charset="-122"/>
                <a:cs typeface="Calibri" pitchFamily="34" charset="-120"/>
              </a:rPr>
              <a:t>✔  Fix: Resample all volumes to isotropic 1×1×1 mm³ spacing.</a:t>
            </a:r>
            <a:endParaRPr lang="en-US" sz="1000" dirty="0"/>
          </a:p>
        </p:txBody>
      </p:sp>
      <p:sp>
        <p:nvSpPr>
          <p:cNvPr id="25" name="Shape 22"/>
          <p:cNvSpPr/>
          <p:nvPr/>
        </p:nvSpPr>
        <p:spPr>
          <a:xfrm>
            <a:off x="228600" y="2953512"/>
            <a:ext cx="4206240" cy="20116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sp>
        <p:nvSpPr>
          <p:cNvPr id="26" name="Shape 23"/>
          <p:cNvSpPr/>
          <p:nvPr/>
        </p:nvSpPr>
        <p:spPr>
          <a:xfrm>
            <a:off x="228600" y="2953512"/>
            <a:ext cx="73152" cy="2011680"/>
          </a:xfrm>
          <a:prstGeom prst="rect">
            <a:avLst/>
          </a:prstGeom>
          <a:solidFill>
            <a:srgbClr val="8060A0"/>
          </a:solidFill>
          <a:ln w="12700">
            <a:solidFill>
              <a:srgbClr val="8060A0"/>
            </a:solidFill>
            <a:prstDash val="solid"/>
          </a:ln>
        </p:spPr>
      </p:sp>
      <p:sp>
        <p:nvSpPr>
          <p:cNvPr id="27" name="Text 24"/>
          <p:cNvSpPr/>
          <p:nvPr/>
        </p:nvSpPr>
        <p:spPr>
          <a:xfrm>
            <a:off x="393192" y="3008376"/>
            <a:ext cx="3931920" cy="274320"/>
          </a:xfrm>
          <a:prstGeom prst="rect">
            <a:avLst/>
          </a:prstGeom>
          <a:noFill/>
          <a:ln/>
        </p:spPr>
        <p:txBody>
          <a:bodyPr wrap="square" lIns="0" tIns="0" rIns="0" bIns="0" rtlCol="0" anchor="ctr"/>
          <a:lstStyle/>
          <a:p>
            <a:pPr indent="0" marL="0">
              <a:buNone/>
            </a:pPr>
            <a:r>
              <a:rPr lang="en-US" sz="1200" b="1" dirty="0">
                <a:solidFill>
                  <a:srgbClr val="8060A0"/>
                </a:solidFill>
                <a:latin typeface="Calibri" pitchFamily="34" charset="0"/>
                <a:ea typeface="Calibri" pitchFamily="34" charset="-122"/>
                <a:cs typeface="Calibri" pitchFamily="34" charset="-120"/>
              </a:rPr>
              <a:t>⚠  No Standard MRI Brightness</a:t>
            </a:r>
            <a:endParaRPr lang="en-US" sz="1200" dirty="0"/>
          </a:p>
        </p:txBody>
      </p:sp>
      <p:sp>
        <p:nvSpPr>
          <p:cNvPr id="28" name="Text 25"/>
          <p:cNvSpPr/>
          <p:nvPr/>
        </p:nvSpPr>
        <p:spPr>
          <a:xfrm>
            <a:off x="393192" y="3319272"/>
            <a:ext cx="1097280" cy="201168"/>
          </a:xfrm>
          <a:prstGeom prst="rect">
            <a:avLst/>
          </a:prstGeom>
          <a:noFill/>
          <a:ln/>
        </p:spPr>
        <p:txBody>
          <a:bodyPr wrap="square" lIns="0" tIns="0" rIns="0" bIns="0" rtlCol="0" anchor="ctr"/>
          <a:lstStyle/>
          <a:p>
            <a:pPr indent="0" marL="0">
              <a:buNone/>
            </a:pPr>
            <a:r>
              <a:rPr lang="en-US" sz="1000" b="1" dirty="0">
                <a:solidFill>
                  <a:srgbClr val="0B1E3D"/>
                </a:solidFill>
                <a:latin typeface="Calibri" pitchFamily="34" charset="0"/>
                <a:ea typeface="Calibri" pitchFamily="34" charset="-122"/>
                <a:cs typeface="Calibri" pitchFamily="34" charset="-120"/>
              </a:rPr>
              <a:t>Why it happens:</a:t>
            </a:r>
            <a:endParaRPr lang="en-US" sz="1000" dirty="0"/>
          </a:p>
        </p:txBody>
      </p:sp>
      <p:sp>
        <p:nvSpPr>
          <p:cNvPr id="29" name="Text 26"/>
          <p:cNvSpPr/>
          <p:nvPr/>
        </p:nvSpPr>
        <p:spPr>
          <a:xfrm>
            <a:off x="393192" y="3502152"/>
            <a:ext cx="3931920" cy="347472"/>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MRI has no absolute brightness scale. Two identical tumors may appear at brightness 200 or 2000 on different machines.</a:t>
            </a:r>
            <a:endParaRPr lang="en-US" sz="1050" dirty="0"/>
          </a:p>
        </p:txBody>
      </p:sp>
      <p:sp>
        <p:nvSpPr>
          <p:cNvPr id="30" name="Text 27"/>
          <p:cNvSpPr/>
          <p:nvPr/>
        </p:nvSpPr>
        <p:spPr>
          <a:xfrm>
            <a:off x="393192" y="3886200"/>
            <a:ext cx="59436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Effect:</a:t>
            </a:r>
            <a:endParaRPr lang="en-US" sz="1000" dirty="0"/>
          </a:p>
        </p:txBody>
      </p:sp>
      <p:sp>
        <p:nvSpPr>
          <p:cNvPr id="31" name="Text 28"/>
          <p:cNvSpPr/>
          <p:nvPr/>
        </p:nvSpPr>
        <p:spPr>
          <a:xfrm>
            <a:off x="393192" y="4069080"/>
            <a:ext cx="3931920" cy="274320"/>
          </a:xfrm>
          <a:prstGeom prst="rect">
            <a:avLst/>
          </a:prstGeom>
          <a:noFill/>
          <a:ln/>
        </p:spPr>
        <p:txBody>
          <a:bodyPr wrap="square" lIns="0" tIns="0" rIns="0" bIns="0" rtlCol="0" anchor="ctr"/>
          <a:lstStyle/>
          <a:p>
            <a:pPr indent="0" marL="0">
              <a:buNone/>
            </a:pPr>
            <a:r>
              <a:rPr lang="en-US" sz="1000" i="1" dirty="0">
                <a:solidFill>
                  <a:srgbClr val="0B1E3D"/>
                </a:solidFill>
                <a:latin typeface="Calibri" pitchFamily="34" charset="0"/>
                <a:ea typeface="Calibri" pitchFamily="34" charset="-122"/>
                <a:cs typeface="Calibri" pitchFamily="34" charset="-120"/>
              </a:rPr>
              <a:t>Network weights trained at one scale fail on other scales — model cannot generalize.</a:t>
            </a:r>
            <a:endParaRPr lang="en-US" sz="1000" dirty="0"/>
          </a:p>
        </p:txBody>
      </p:sp>
      <p:sp>
        <p:nvSpPr>
          <p:cNvPr id="32" name="Shape 29"/>
          <p:cNvSpPr/>
          <p:nvPr/>
        </p:nvSpPr>
        <p:spPr>
          <a:xfrm>
            <a:off x="338328" y="4416552"/>
            <a:ext cx="4005072" cy="475488"/>
          </a:xfrm>
          <a:prstGeom prst="rect">
            <a:avLst/>
          </a:prstGeom>
          <a:solidFill>
            <a:srgbClr val="F0FFF4"/>
          </a:solidFill>
          <a:ln w="12700">
            <a:solidFill>
              <a:srgbClr val="27AE60"/>
            </a:solidFill>
            <a:prstDash val="solid"/>
          </a:ln>
        </p:spPr>
      </p:sp>
      <p:sp>
        <p:nvSpPr>
          <p:cNvPr id="33" name="Text 30"/>
          <p:cNvSpPr/>
          <p:nvPr/>
        </p:nvSpPr>
        <p:spPr>
          <a:xfrm>
            <a:off x="411480" y="4443984"/>
            <a:ext cx="3858768" cy="384048"/>
          </a:xfrm>
          <a:prstGeom prst="rect">
            <a:avLst/>
          </a:prstGeom>
          <a:noFill/>
          <a:ln/>
        </p:spPr>
        <p:txBody>
          <a:bodyPr wrap="square" lIns="0" tIns="0" rIns="0" bIns="0" rtlCol="0" anchor="ctr"/>
          <a:lstStyle/>
          <a:p>
            <a:pPr indent="0" marL="0">
              <a:buNone/>
            </a:pPr>
            <a:r>
              <a:rPr lang="en-US" sz="1000" b="1" dirty="0">
                <a:solidFill>
                  <a:srgbClr val="1A6B35"/>
                </a:solidFill>
                <a:latin typeface="Calibri" pitchFamily="34" charset="0"/>
                <a:ea typeface="Calibri" pitchFamily="34" charset="-122"/>
                <a:cs typeface="Calibri" pitchFamily="34" charset="-120"/>
              </a:rPr>
              <a:t>✔  Fix: Channel-wise Z-score normalization: subtract mean, divide by std (inside brain only).</a:t>
            </a:r>
            <a:endParaRPr lang="en-US" sz="1000" dirty="0"/>
          </a:p>
        </p:txBody>
      </p:sp>
      <p:sp>
        <p:nvSpPr>
          <p:cNvPr id="34" name="Shape 31"/>
          <p:cNvSpPr/>
          <p:nvPr/>
        </p:nvSpPr>
        <p:spPr>
          <a:xfrm>
            <a:off x="4663440" y="2953512"/>
            <a:ext cx="4206240" cy="2011680"/>
          </a:xfrm>
          <a:prstGeom prst="rect">
            <a:avLst/>
          </a:prstGeom>
          <a:solidFill>
            <a:srgbClr val="FFFFFF"/>
          </a:solidFill>
          <a:ln w="12700">
            <a:solidFill>
              <a:srgbClr val="D0DCF0"/>
            </a:solidFill>
            <a:prstDash val="solid"/>
          </a:ln>
          <a:effectLst>
            <a:outerShdw sx="100000" sy="100000" kx="0" ky="0" algn="bl" rotWithShape="0" blurRad="63500" dist="25400" dir="8100000">
              <a:srgbClr val="000000">
                <a:alpha val="8000"/>
              </a:srgbClr>
            </a:outerShdw>
          </a:effectLst>
        </p:spPr>
      </p:sp>
      <p:sp>
        <p:nvSpPr>
          <p:cNvPr id="35" name="Shape 32"/>
          <p:cNvSpPr/>
          <p:nvPr/>
        </p:nvSpPr>
        <p:spPr>
          <a:xfrm>
            <a:off x="4663440" y="2953512"/>
            <a:ext cx="73152" cy="2011680"/>
          </a:xfrm>
          <a:prstGeom prst="rect">
            <a:avLst/>
          </a:prstGeom>
          <a:solidFill>
            <a:srgbClr val="009B9B"/>
          </a:solidFill>
          <a:ln w="12700">
            <a:solidFill>
              <a:srgbClr val="009B9B"/>
            </a:solidFill>
            <a:prstDash val="solid"/>
          </a:ln>
        </p:spPr>
      </p:sp>
      <p:sp>
        <p:nvSpPr>
          <p:cNvPr id="36" name="Text 33"/>
          <p:cNvSpPr/>
          <p:nvPr/>
        </p:nvSpPr>
        <p:spPr>
          <a:xfrm>
            <a:off x="4828032" y="3008376"/>
            <a:ext cx="3931920" cy="274320"/>
          </a:xfrm>
          <a:prstGeom prst="rect">
            <a:avLst/>
          </a:prstGeom>
          <a:noFill/>
          <a:ln/>
        </p:spPr>
        <p:txBody>
          <a:bodyPr wrap="square" lIns="0" tIns="0" rIns="0" bIns="0" rtlCol="0" anchor="ctr"/>
          <a:lstStyle/>
          <a:p>
            <a:pPr indent="0" marL="0">
              <a:buNone/>
            </a:pPr>
            <a:r>
              <a:rPr lang="en-US" sz="1200" b="1" dirty="0">
                <a:solidFill>
                  <a:srgbClr val="009B9B"/>
                </a:solidFill>
                <a:latin typeface="Calibri" pitchFamily="34" charset="0"/>
                <a:ea typeface="Calibri" pitchFamily="34" charset="-122"/>
                <a:cs typeface="Calibri" pitchFamily="34" charset="-120"/>
              </a:rPr>
              <a:t>⚠  Enormous Volume Size (~35M voxels)</a:t>
            </a:r>
            <a:endParaRPr lang="en-US" sz="1200" dirty="0"/>
          </a:p>
        </p:txBody>
      </p:sp>
      <p:sp>
        <p:nvSpPr>
          <p:cNvPr id="37" name="Text 34"/>
          <p:cNvSpPr/>
          <p:nvPr/>
        </p:nvSpPr>
        <p:spPr>
          <a:xfrm>
            <a:off x="4828032" y="3319272"/>
            <a:ext cx="1097280" cy="201168"/>
          </a:xfrm>
          <a:prstGeom prst="rect">
            <a:avLst/>
          </a:prstGeom>
          <a:noFill/>
          <a:ln/>
        </p:spPr>
        <p:txBody>
          <a:bodyPr wrap="square" lIns="0" tIns="0" rIns="0" bIns="0" rtlCol="0" anchor="ctr"/>
          <a:lstStyle/>
          <a:p>
            <a:pPr indent="0" marL="0">
              <a:buNone/>
            </a:pPr>
            <a:r>
              <a:rPr lang="en-US" sz="1000" b="1" dirty="0">
                <a:solidFill>
                  <a:srgbClr val="0B1E3D"/>
                </a:solidFill>
                <a:latin typeface="Calibri" pitchFamily="34" charset="0"/>
                <a:ea typeface="Calibri" pitchFamily="34" charset="-122"/>
                <a:cs typeface="Calibri" pitchFamily="34" charset="-120"/>
              </a:rPr>
              <a:t>Why it happens:</a:t>
            </a:r>
            <a:endParaRPr lang="en-US" sz="1000" dirty="0"/>
          </a:p>
        </p:txBody>
      </p:sp>
      <p:sp>
        <p:nvSpPr>
          <p:cNvPr id="38" name="Text 35"/>
          <p:cNvSpPr/>
          <p:nvPr/>
        </p:nvSpPr>
        <p:spPr>
          <a:xfrm>
            <a:off x="4828032" y="3502152"/>
            <a:ext cx="3931920" cy="347472"/>
          </a:xfrm>
          <a:prstGeom prst="rect">
            <a:avLst/>
          </a:prstGeom>
          <a:noFill/>
          <a:ln/>
        </p:spPr>
        <p:txBody>
          <a:bodyPr wrap="square" lIns="0" tIns="0" rIns="0" bIns="0" rtlCol="0" anchor="ctr"/>
          <a:lstStyle/>
          <a:p>
            <a:pPr indent="0" marL="0">
              <a:buNone/>
            </a:pPr>
            <a:r>
              <a:rPr lang="en-US" sz="1050" dirty="0">
                <a:solidFill>
                  <a:srgbClr val="3A5070"/>
                </a:solidFill>
                <a:latin typeface="Calibri" pitchFamily="34" charset="0"/>
                <a:ea typeface="Calibri" pitchFamily="34" charset="-122"/>
                <a:cs typeface="Calibri" pitchFamily="34" charset="-120"/>
              </a:rPr>
              <a:t>Full brain: ~240×240×155 = 35 million voxels × 4 modalities × 32-bit float = 560MB per patient.</a:t>
            </a:r>
            <a:endParaRPr lang="en-US" sz="1050" dirty="0"/>
          </a:p>
        </p:txBody>
      </p:sp>
      <p:sp>
        <p:nvSpPr>
          <p:cNvPr id="39" name="Text 36"/>
          <p:cNvSpPr/>
          <p:nvPr/>
        </p:nvSpPr>
        <p:spPr>
          <a:xfrm>
            <a:off x="4828032" y="3886200"/>
            <a:ext cx="594360" cy="201168"/>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Effect:</a:t>
            </a:r>
            <a:endParaRPr lang="en-US" sz="1000" dirty="0"/>
          </a:p>
        </p:txBody>
      </p:sp>
      <p:sp>
        <p:nvSpPr>
          <p:cNvPr id="40" name="Text 37"/>
          <p:cNvSpPr/>
          <p:nvPr/>
        </p:nvSpPr>
        <p:spPr>
          <a:xfrm>
            <a:off x="4828032" y="4069080"/>
            <a:ext cx="3931920" cy="274320"/>
          </a:xfrm>
          <a:prstGeom prst="rect">
            <a:avLst/>
          </a:prstGeom>
          <a:noFill/>
          <a:ln/>
        </p:spPr>
        <p:txBody>
          <a:bodyPr wrap="square" lIns="0" tIns="0" rIns="0" bIns="0" rtlCol="0" anchor="ctr"/>
          <a:lstStyle/>
          <a:p>
            <a:pPr indent="0" marL="0">
              <a:buNone/>
            </a:pPr>
            <a:r>
              <a:rPr lang="en-US" sz="1000" i="1" dirty="0">
                <a:solidFill>
                  <a:srgbClr val="0B1E3D"/>
                </a:solidFill>
                <a:latin typeface="Calibri" pitchFamily="34" charset="0"/>
                <a:ea typeface="Calibri" pitchFamily="34" charset="-122"/>
                <a:cs typeface="Calibri" pitchFamily="34" charset="-120"/>
              </a:rPr>
              <a:t>Impossible to fit on GPU memory. Cannot train with batches.</a:t>
            </a:r>
            <a:endParaRPr lang="en-US" sz="1000" dirty="0"/>
          </a:p>
        </p:txBody>
      </p:sp>
      <p:sp>
        <p:nvSpPr>
          <p:cNvPr id="41" name="Shape 38"/>
          <p:cNvSpPr/>
          <p:nvPr/>
        </p:nvSpPr>
        <p:spPr>
          <a:xfrm>
            <a:off x="4773168" y="4416552"/>
            <a:ext cx="4005072" cy="475488"/>
          </a:xfrm>
          <a:prstGeom prst="rect">
            <a:avLst/>
          </a:prstGeom>
          <a:solidFill>
            <a:srgbClr val="F0FFF4"/>
          </a:solidFill>
          <a:ln w="12700">
            <a:solidFill>
              <a:srgbClr val="27AE60"/>
            </a:solidFill>
            <a:prstDash val="solid"/>
          </a:ln>
        </p:spPr>
      </p:sp>
      <p:sp>
        <p:nvSpPr>
          <p:cNvPr id="42" name="Text 39"/>
          <p:cNvSpPr/>
          <p:nvPr/>
        </p:nvSpPr>
        <p:spPr>
          <a:xfrm>
            <a:off x="4846320" y="4443984"/>
            <a:ext cx="3858768" cy="384048"/>
          </a:xfrm>
          <a:prstGeom prst="rect">
            <a:avLst/>
          </a:prstGeom>
          <a:noFill/>
          <a:ln/>
        </p:spPr>
        <p:txBody>
          <a:bodyPr wrap="square" lIns="0" tIns="0" rIns="0" bIns="0" rtlCol="0" anchor="ctr"/>
          <a:lstStyle/>
          <a:p>
            <a:pPr indent="0" marL="0">
              <a:buNone/>
            </a:pPr>
            <a:r>
              <a:rPr lang="en-US" sz="1000" b="1" dirty="0">
                <a:solidFill>
                  <a:srgbClr val="1A6B35"/>
                </a:solidFill>
                <a:latin typeface="Calibri" pitchFamily="34" charset="0"/>
                <a:ea typeface="Calibri" pitchFamily="34" charset="-122"/>
                <a:cs typeface="Calibri" pitchFamily="34" charset="-120"/>
              </a:rPr>
              <a:t>✔  Fix: Crop foreground, then randomly sample 64³ or 128³ patches containing tumor.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MONAI Preprocessing Pipeline — Step by Step</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12 / 20</a:t>
            </a:r>
            <a:endParaRPr lang="en-US" sz="900" dirty="0"/>
          </a:p>
        </p:txBody>
      </p:sp>
      <p:pic>
        <p:nvPicPr>
          <p:cNvPr id="6" name="Image 0" descr="preencoded.png">    </p:cNvPr>
          <p:cNvPicPr>
            <a:picLocks noChangeAspect="1"/>
          </p:cNvPicPr>
          <p:nvPr/>
        </p:nvPicPr>
        <p:blipFill>
          <a:blip r:embed="rId1"/>
          <a:stretch>
            <a:fillRect/>
          </a:stretch>
        </p:blipFill>
        <p:spPr>
          <a:xfrm>
            <a:off x="8412480" y="804672"/>
            <a:ext cx="502920" cy="502920"/>
          </a:xfrm>
          <a:prstGeom prst="rect">
            <a:avLst/>
          </a:prstGeom>
        </p:spPr>
      </p:pic>
      <p:sp>
        <p:nvSpPr>
          <p:cNvPr id="7" name="Shape 4"/>
          <p:cNvSpPr/>
          <p:nvPr/>
        </p:nvSpPr>
        <p:spPr>
          <a:xfrm>
            <a:off x="228600" y="804672"/>
            <a:ext cx="8686800" cy="566928"/>
          </a:xfrm>
          <a:prstGeom prst="rect">
            <a:avLst/>
          </a:prstGeom>
          <a:solidFill>
            <a:srgbClr val="FFFFFF"/>
          </a:solidFill>
          <a:ln w="12700">
            <a:solidFill>
              <a:srgbClr val="D0E0F0"/>
            </a:solidFill>
            <a:prstDash val="solid"/>
          </a:ln>
        </p:spPr>
      </p:sp>
      <p:sp>
        <p:nvSpPr>
          <p:cNvPr id="8" name="Shape 5"/>
          <p:cNvSpPr/>
          <p:nvPr/>
        </p:nvSpPr>
        <p:spPr>
          <a:xfrm>
            <a:off x="228600" y="804672"/>
            <a:ext cx="502920" cy="566928"/>
          </a:xfrm>
          <a:prstGeom prst="rect">
            <a:avLst/>
          </a:prstGeom>
          <a:solidFill>
            <a:srgbClr val="0B1E3D"/>
          </a:solidFill>
          <a:ln w="12700">
            <a:solidFill>
              <a:srgbClr val="0B1E3D"/>
            </a:solidFill>
            <a:prstDash val="solid"/>
          </a:ln>
        </p:spPr>
      </p:sp>
      <p:sp>
        <p:nvSpPr>
          <p:cNvPr id="9" name="Text 6"/>
          <p:cNvSpPr/>
          <p:nvPr/>
        </p:nvSpPr>
        <p:spPr>
          <a:xfrm>
            <a:off x="228600" y="804672"/>
            <a:ext cx="502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0" name="Text 7"/>
          <p:cNvSpPr/>
          <p:nvPr/>
        </p:nvSpPr>
        <p:spPr>
          <a:xfrm>
            <a:off x="804672" y="832104"/>
            <a:ext cx="3840480" cy="256032"/>
          </a:xfrm>
          <a:prstGeom prst="rect">
            <a:avLst/>
          </a:prstGeom>
          <a:noFill/>
          <a:ln/>
        </p:spPr>
        <p:txBody>
          <a:bodyPr wrap="square" lIns="0" tIns="0" rIns="0" bIns="0" rtlCol="0" anchor="ctr"/>
          <a:lstStyle/>
          <a:p>
            <a:pPr indent="0" marL="0">
              <a:buNone/>
            </a:pPr>
            <a:r>
              <a:rPr lang="en-US" sz="1150" b="1" dirty="0">
                <a:solidFill>
                  <a:srgbClr val="0B1E3D"/>
                </a:solidFill>
                <a:latin typeface="Calibri" pitchFamily="34" charset="0"/>
                <a:ea typeface="Calibri" pitchFamily="34" charset="-122"/>
                <a:cs typeface="Calibri" pitchFamily="34" charset="-120"/>
              </a:rPr>
              <a:t>LoadImaged</a:t>
            </a:r>
            <a:endParaRPr lang="en-US" sz="1150" dirty="0"/>
          </a:p>
        </p:txBody>
      </p:sp>
      <p:sp>
        <p:nvSpPr>
          <p:cNvPr id="11" name="Text 8"/>
          <p:cNvSpPr/>
          <p:nvPr/>
        </p:nvSpPr>
        <p:spPr>
          <a:xfrm>
            <a:off x="804672" y="1097280"/>
            <a:ext cx="5029200" cy="237744"/>
          </a:xfrm>
          <a:prstGeom prst="rect">
            <a:avLst/>
          </a:prstGeom>
          <a:noFill/>
          <a:ln/>
        </p:spPr>
        <p:txBody>
          <a:bodyPr wrap="square" lIns="0" tIns="0" rIns="0" bIns="0" rtlCol="0" anchor="ctr"/>
          <a:lstStyle/>
          <a:p>
            <a:pPr indent="0" marL="0">
              <a:buNone/>
            </a:pPr>
            <a:r>
              <a:rPr lang="en-US" sz="950" dirty="0">
                <a:solidFill>
                  <a:srgbClr val="3A5070"/>
                </a:solidFill>
                <a:latin typeface="Calibri" pitchFamily="34" charset="0"/>
                <a:ea typeface="Calibri" pitchFamily="34" charset="-122"/>
                <a:cs typeface="Calibri" pitchFamily="34" charset="-120"/>
              </a:rPr>
              <a:t>Load .nii.gz NIfTI files from disk into numpy arrays. EnsureChannelFirst ensures [C, D, H, W] ordering.</a:t>
            </a:r>
            <a:endParaRPr lang="en-US" sz="950" dirty="0"/>
          </a:p>
        </p:txBody>
      </p:sp>
      <p:sp>
        <p:nvSpPr>
          <p:cNvPr id="12" name="Shape 9"/>
          <p:cNvSpPr/>
          <p:nvPr/>
        </p:nvSpPr>
        <p:spPr>
          <a:xfrm>
            <a:off x="5989320" y="859536"/>
            <a:ext cx="1325880" cy="256032"/>
          </a:xfrm>
          <a:prstGeom prst="rect">
            <a:avLst/>
          </a:prstGeom>
          <a:solidFill>
            <a:srgbClr val="EEF4FF"/>
          </a:solidFill>
          <a:ln w="12700">
            <a:solidFill>
              <a:srgbClr val="1A4A7A"/>
            </a:solidFill>
            <a:prstDash val="solid"/>
          </a:ln>
        </p:spPr>
      </p:sp>
      <p:sp>
        <p:nvSpPr>
          <p:cNvPr id="13" name="Text 10"/>
          <p:cNvSpPr/>
          <p:nvPr/>
        </p:nvSpPr>
        <p:spPr>
          <a:xfrm>
            <a:off x="5989320" y="859536"/>
            <a:ext cx="1325880" cy="256032"/>
          </a:xfrm>
          <a:prstGeom prst="rect">
            <a:avLst/>
          </a:prstGeom>
          <a:noFill/>
          <a:ln/>
        </p:spPr>
        <p:txBody>
          <a:bodyPr wrap="square" lIns="0" tIns="0" rIns="0" bIns="0" rtlCol="0" anchor="ctr"/>
          <a:lstStyle/>
          <a:p>
            <a:pPr algn="ctr" indent="0" marL="0">
              <a:buNone/>
            </a:pPr>
            <a:r>
              <a:rPr lang="en-US" sz="950" b="1" dirty="0">
                <a:solidFill>
                  <a:srgbClr val="0B1E3D"/>
                </a:solidFill>
                <a:latin typeface="Calibri" pitchFamily="34" charset="0"/>
                <a:ea typeface="Calibri" pitchFamily="34" charset="-122"/>
                <a:cs typeface="Calibri" pitchFamily="34" charset="-120"/>
              </a:rPr>
              <a:t>→ [4, H, W, D]</a:t>
            </a:r>
            <a:endParaRPr lang="en-US" sz="950" dirty="0"/>
          </a:p>
        </p:txBody>
      </p:sp>
      <p:sp>
        <p:nvSpPr>
          <p:cNvPr id="14" name="Shape 11"/>
          <p:cNvSpPr/>
          <p:nvPr/>
        </p:nvSpPr>
        <p:spPr>
          <a:xfrm>
            <a:off x="7406640" y="859536"/>
            <a:ext cx="1417320" cy="256032"/>
          </a:xfrm>
          <a:prstGeom prst="rect">
            <a:avLst/>
          </a:prstGeom>
          <a:solidFill>
            <a:srgbClr val="009B9B"/>
          </a:solidFill>
          <a:ln w="12700">
            <a:solidFill>
              <a:srgbClr val="009B9B"/>
            </a:solidFill>
            <a:prstDash val="solid"/>
          </a:ln>
        </p:spPr>
      </p:sp>
      <p:sp>
        <p:nvSpPr>
          <p:cNvPr id="15" name="Text 12"/>
          <p:cNvSpPr/>
          <p:nvPr/>
        </p:nvSpPr>
        <p:spPr>
          <a:xfrm>
            <a:off x="7406640" y="859536"/>
            <a:ext cx="141732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Both</a:t>
            </a:r>
            <a:endParaRPr lang="en-US" sz="950" dirty="0"/>
          </a:p>
        </p:txBody>
      </p:sp>
      <p:sp>
        <p:nvSpPr>
          <p:cNvPr id="16" name="Shape 13"/>
          <p:cNvSpPr/>
          <p:nvPr/>
        </p:nvSpPr>
        <p:spPr>
          <a:xfrm>
            <a:off x="228600" y="1417320"/>
            <a:ext cx="8686800" cy="566928"/>
          </a:xfrm>
          <a:prstGeom prst="rect">
            <a:avLst/>
          </a:prstGeom>
          <a:solidFill>
            <a:srgbClr val="FFFFFF"/>
          </a:solidFill>
          <a:ln w="12700">
            <a:solidFill>
              <a:srgbClr val="D0E0F0"/>
            </a:solidFill>
            <a:prstDash val="solid"/>
          </a:ln>
        </p:spPr>
      </p:sp>
      <p:sp>
        <p:nvSpPr>
          <p:cNvPr id="17" name="Shape 14"/>
          <p:cNvSpPr/>
          <p:nvPr/>
        </p:nvSpPr>
        <p:spPr>
          <a:xfrm>
            <a:off x="228600" y="1417320"/>
            <a:ext cx="502920" cy="566928"/>
          </a:xfrm>
          <a:prstGeom prst="rect">
            <a:avLst/>
          </a:prstGeom>
          <a:solidFill>
            <a:srgbClr val="2E4A7A"/>
          </a:solidFill>
          <a:ln w="12700">
            <a:solidFill>
              <a:srgbClr val="2E4A7A"/>
            </a:solidFill>
            <a:prstDash val="solid"/>
          </a:ln>
        </p:spPr>
      </p:sp>
      <p:sp>
        <p:nvSpPr>
          <p:cNvPr id="18" name="Text 15"/>
          <p:cNvSpPr/>
          <p:nvPr/>
        </p:nvSpPr>
        <p:spPr>
          <a:xfrm>
            <a:off x="228600" y="1417320"/>
            <a:ext cx="502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9" name="Text 16"/>
          <p:cNvSpPr/>
          <p:nvPr/>
        </p:nvSpPr>
        <p:spPr>
          <a:xfrm>
            <a:off x="804672" y="1444752"/>
            <a:ext cx="3840480" cy="256032"/>
          </a:xfrm>
          <a:prstGeom prst="rect">
            <a:avLst/>
          </a:prstGeom>
          <a:noFill/>
          <a:ln/>
        </p:spPr>
        <p:txBody>
          <a:bodyPr wrap="square" lIns="0" tIns="0" rIns="0" bIns="0" rtlCol="0" anchor="ctr"/>
          <a:lstStyle/>
          <a:p>
            <a:pPr indent="0" marL="0">
              <a:buNone/>
            </a:pPr>
            <a:r>
              <a:rPr lang="en-US" sz="1150" b="1" dirty="0">
                <a:solidFill>
                  <a:srgbClr val="2E4A7A"/>
                </a:solidFill>
                <a:latin typeface="Calibri" pitchFamily="34" charset="0"/>
                <a:ea typeface="Calibri" pitchFamily="34" charset="-122"/>
                <a:cs typeface="Calibri" pitchFamily="34" charset="-120"/>
              </a:rPr>
              <a:t>Orientationd  (axcodes=RAS)</a:t>
            </a:r>
            <a:endParaRPr lang="en-US" sz="1150" dirty="0"/>
          </a:p>
        </p:txBody>
      </p:sp>
      <p:sp>
        <p:nvSpPr>
          <p:cNvPr id="20" name="Text 17"/>
          <p:cNvSpPr/>
          <p:nvPr/>
        </p:nvSpPr>
        <p:spPr>
          <a:xfrm>
            <a:off x="804672" y="1709928"/>
            <a:ext cx="5029200" cy="237744"/>
          </a:xfrm>
          <a:prstGeom prst="rect">
            <a:avLst/>
          </a:prstGeom>
          <a:noFill/>
          <a:ln/>
        </p:spPr>
        <p:txBody>
          <a:bodyPr wrap="square" lIns="0" tIns="0" rIns="0" bIns="0" rtlCol="0" anchor="ctr"/>
          <a:lstStyle/>
          <a:p>
            <a:pPr indent="0" marL="0">
              <a:buNone/>
            </a:pPr>
            <a:r>
              <a:rPr lang="en-US" sz="950" dirty="0">
                <a:solidFill>
                  <a:srgbClr val="3A5070"/>
                </a:solidFill>
                <a:latin typeface="Calibri" pitchFamily="34" charset="0"/>
                <a:ea typeface="Calibri" pitchFamily="34" charset="-122"/>
                <a:cs typeface="Calibri" pitchFamily="34" charset="-120"/>
              </a:rPr>
              <a:t>Reorients brain to Right-Anterior-Superior standard. All training scans face the same direction.</a:t>
            </a:r>
            <a:endParaRPr lang="en-US" sz="950" dirty="0"/>
          </a:p>
        </p:txBody>
      </p:sp>
      <p:sp>
        <p:nvSpPr>
          <p:cNvPr id="21" name="Shape 18"/>
          <p:cNvSpPr/>
          <p:nvPr/>
        </p:nvSpPr>
        <p:spPr>
          <a:xfrm>
            <a:off x="5989320" y="1472184"/>
            <a:ext cx="1325880" cy="256032"/>
          </a:xfrm>
          <a:prstGeom prst="rect">
            <a:avLst/>
          </a:prstGeom>
          <a:solidFill>
            <a:srgbClr val="EEF4FF"/>
          </a:solidFill>
          <a:ln w="12700">
            <a:solidFill>
              <a:srgbClr val="1A4A7A"/>
            </a:solidFill>
            <a:prstDash val="solid"/>
          </a:ln>
        </p:spPr>
      </p:sp>
      <p:sp>
        <p:nvSpPr>
          <p:cNvPr id="22" name="Text 19"/>
          <p:cNvSpPr/>
          <p:nvPr/>
        </p:nvSpPr>
        <p:spPr>
          <a:xfrm>
            <a:off x="5989320" y="1472184"/>
            <a:ext cx="1325880" cy="256032"/>
          </a:xfrm>
          <a:prstGeom prst="rect">
            <a:avLst/>
          </a:prstGeom>
          <a:noFill/>
          <a:ln/>
        </p:spPr>
        <p:txBody>
          <a:bodyPr wrap="square" lIns="0" tIns="0" rIns="0" bIns="0" rtlCol="0" anchor="ctr"/>
          <a:lstStyle/>
          <a:p>
            <a:pPr algn="ctr" indent="0" marL="0">
              <a:buNone/>
            </a:pPr>
            <a:r>
              <a:rPr lang="en-US" sz="950" b="1" dirty="0">
                <a:solidFill>
                  <a:srgbClr val="0B1E3D"/>
                </a:solidFill>
                <a:latin typeface="Calibri" pitchFamily="34" charset="0"/>
                <a:ea typeface="Calibri" pitchFamily="34" charset="-122"/>
                <a:cs typeface="Calibri" pitchFamily="34" charset="-120"/>
              </a:rPr>
              <a:t>→ [4, H, W, D]</a:t>
            </a:r>
            <a:endParaRPr lang="en-US" sz="950" dirty="0"/>
          </a:p>
        </p:txBody>
      </p:sp>
      <p:sp>
        <p:nvSpPr>
          <p:cNvPr id="23" name="Shape 20"/>
          <p:cNvSpPr/>
          <p:nvPr/>
        </p:nvSpPr>
        <p:spPr>
          <a:xfrm>
            <a:off x="7406640" y="1472184"/>
            <a:ext cx="1417320" cy="256032"/>
          </a:xfrm>
          <a:prstGeom prst="rect">
            <a:avLst/>
          </a:prstGeom>
          <a:solidFill>
            <a:srgbClr val="009B9B"/>
          </a:solidFill>
          <a:ln w="12700">
            <a:solidFill>
              <a:srgbClr val="009B9B"/>
            </a:solidFill>
            <a:prstDash val="solid"/>
          </a:ln>
        </p:spPr>
      </p:sp>
      <p:sp>
        <p:nvSpPr>
          <p:cNvPr id="24" name="Text 21"/>
          <p:cNvSpPr/>
          <p:nvPr/>
        </p:nvSpPr>
        <p:spPr>
          <a:xfrm>
            <a:off x="7406640" y="1472184"/>
            <a:ext cx="141732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Both</a:t>
            </a:r>
            <a:endParaRPr lang="en-US" sz="950" dirty="0"/>
          </a:p>
        </p:txBody>
      </p:sp>
      <p:sp>
        <p:nvSpPr>
          <p:cNvPr id="25" name="Shape 22"/>
          <p:cNvSpPr/>
          <p:nvPr/>
        </p:nvSpPr>
        <p:spPr>
          <a:xfrm>
            <a:off x="228600" y="2029968"/>
            <a:ext cx="8686800" cy="566928"/>
          </a:xfrm>
          <a:prstGeom prst="rect">
            <a:avLst/>
          </a:prstGeom>
          <a:solidFill>
            <a:srgbClr val="FFFFFF"/>
          </a:solidFill>
          <a:ln w="12700">
            <a:solidFill>
              <a:srgbClr val="D0E0F0"/>
            </a:solidFill>
            <a:prstDash val="solid"/>
          </a:ln>
        </p:spPr>
      </p:sp>
      <p:sp>
        <p:nvSpPr>
          <p:cNvPr id="26" name="Shape 23"/>
          <p:cNvSpPr/>
          <p:nvPr/>
        </p:nvSpPr>
        <p:spPr>
          <a:xfrm>
            <a:off x="228600" y="2029968"/>
            <a:ext cx="502920" cy="566928"/>
          </a:xfrm>
          <a:prstGeom prst="rect">
            <a:avLst/>
          </a:prstGeom>
          <a:solidFill>
            <a:srgbClr val="3D6B8C"/>
          </a:solidFill>
          <a:ln w="12700">
            <a:solidFill>
              <a:srgbClr val="3D6B8C"/>
            </a:solidFill>
            <a:prstDash val="solid"/>
          </a:ln>
        </p:spPr>
      </p:sp>
      <p:sp>
        <p:nvSpPr>
          <p:cNvPr id="27" name="Text 24"/>
          <p:cNvSpPr/>
          <p:nvPr/>
        </p:nvSpPr>
        <p:spPr>
          <a:xfrm>
            <a:off x="228600" y="2029968"/>
            <a:ext cx="502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8" name="Text 25"/>
          <p:cNvSpPr/>
          <p:nvPr/>
        </p:nvSpPr>
        <p:spPr>
          <a:xfrm>
            <a:off x="804672" y="2057400"/>
            <a:ext cx="3840480" cy="256032"/>
          </a:xfrm>
          <a:prstGeom prst="rect">
            <a:avLst/>
          </a:prstGeom>
          <a:noFill/>
          <a:ln/>
        </p:spPr>
        <p:txBody>
          <a:bodyPr wrap="square" lIns="0" tIns="0" rIns="0" bIns="0" rtlCol="0" anchor="ctr"/>
          <a:lstStyle/>
          <a:p>
            <a:pPr indent="0" marL="0">
              <a:buNone/>
            </a:pPr>
            <a:r>
              <a:rPr lang="en-US" sz="1150" b="1" dirty="0">
                <a:solidFill>
                  <a:srgbClr val="3D6B8C"/>
                </a:solidFill>
                <a:latin typeface="Calibri" pitchFamily="34" charset="0"/>
                <a:ea typeface="Calibri" pitchFamily="34" charset="-122"/>
                <a:cs typeface="Calibri" pitchFamily="34" charset="-120"/>
              </a:rPr>
              <a:t>Spacingd  (pixdim=1,1,1)</a:t>
            </a:r>
            <a:endParaRPr lang="en-US" sz="1150" dirty="0"/>
          </a:p>
        </p:txBody>
      </p:sp>
      <p:sp>
        <p:nvSpPr>
          <p:cNvPr id="29" name="Text 26"/>
          <p:cNvSpPr/>
          <p:nvPr/>
        </p:nvSpPr>
        <p:spPr>
          <a:xfrm>
            <a:off x="804672" y="2322576"/>
            <a:ext cx="5029200" cy="237744"/>
          </a:xfrm>
          <a:prstGeom prst="rect">
            <a:avLst/>
          </a:prstGeom>
          <a:noFill/>
          <a:ln/>
        </p:spPr>
        <p:txBody>
          <a:bodyPr wrap="square" lIns="0" tIns="0" rIns="0" bIns="0" rtlCol="0" anchor="ctr"/>
          <a:lstStyle/>
          <a:p>
            <a:pPr indent="0" marL="0">
              <a:buNone/>
            </a:pPr>
            <a:r>
              <a:rPr lang="en-US" sz="950" dirty="0">
                <a:solidFill>
                  <a:srgbClr val="3A5070"/>
                </a:solidFill>
                <a:latin typeface="Calibri" pitchFamily="34" charset="0"/>
                <a:ea typeface="Calibri" pitchFamily="34" charset="-122"/>
                <a:cs typeface="Calibri" pitchFamily="34" charset="-120"/>
              </a:rPr>
              <a:t>Resamples voxels to 1×1×1 mm³. Bicubic interpolation for images; nearest-neighbor for labels.</a:t>
            </a:r>
            <a:endParaRPr lang="en-US" sz="950" dirty="0"/>
          </a:p>
        </p:txBody>
      </p:sp>
      <p:sp>
        <p:nvSpPr>
          <p:cNvPr id="30" name="Shape 27"/>
          <p:cNvSpPr/>
          <p:nvPr/>
        </p:nvSpPr>
        <p:spPr>
          <a:xfrm>
            <a:off x="5989320" y="2084832"/>
            <a:ext cx="1325880" cy="256032"/>
          </a:xfrm>
          <a:prstGeom prst="rect">
            <a:avLst/>
          </a:prstGeom>
          <a:solidFill>
            <a:srgbClr val="EEF4FF"/>
          </a:solidFill>
          <a:ln w="12700">
            <a:solidFill>
              <a:srgbClr val="1A4A7A"/>
            </a:solidFill>
            <a:prstDash val="solid"/>
          </a:ln>
        </p:spPr>
      </p:sp>
      <p:sp>
        <p:nvSpPr>
          <p:cNvPr id="31" name="Text 28"/>
          <p:cNvSpPr/>
          <p:nvPr/>
        </p:nvSpPr>
        <p:spPr>
          <a:xfrm>
            <a:off x="5989320" y="2084832"/>
            <a:ext cx="1325880" cy="256032"/>
          </a:xfrm>
          <a:prstGeom prst="rect">
            <a:avLst/>
          </a:prstGeom>
          <a:noFill/>
          <a:ln/>
        </p:spPr>
        <p:txBody>
          <a:bodyPr wrap="square" lIns="0" tIns="0" rIns="0" bIns="0" rtlCol="0" anchor="ctr"/>
          <a:lstStyle/>
          <a:p>
            <a:pPr algn="ctr" indent="0" marL="0">
              <a:buNone/>
            </a:pPr>
            <a:r>
              <a:rPr lang="en-US" sz="950" b="1" dirty="0">
                <a:solidFill>
                  <a:srgbClr val="0B1E3D"/>
                </a:solidFill>
                <a:latin typeface="Calibri" pitchFamily="34" charset="0"/>
                <a:ea typeface="Calibri" pitchFamily="34" charset="-122"/>
                <a:cs typeface="Calibri" pitchFamily="34" charset="-120"/>
              </a:rPr>
              <a:t>→ [4, D', H', W']</a:t>
            </a:r>
            <a:endParaRPr lang="en-US" sz="950" dirty="0"/>
          </a:p>
        </p:txBody>
      </p:sp>
      <p:sp>
        <p:nvSpPr>
          <p:cNvPr id="32" name="Shape 29"/>
          <p:cNvSpPr/>
          <p:nvPr/>
        </p:nvSpPr>
        <p:spPr>
          <a:xfrm>
            <a:off x="7406640" y="2084832"/>
            <a:ext cx="1417320" cy="256032"/>
          </a:xfrm>
          <a:prstGeom prst="rect">
            <a:avLst/>
          </a:prstGeom>
          <a:solidFill>
            <a:srgbClr val="009B9B"/>
          </a:solidFill>
          <a:ln w="12700">
            <a:solidFill>
              <a:srgbClr val="009B9B"/>
            </a:solidFill>
            <a:prstDash val="solid"/>
          </a:ln>
        </p:spPr>
      </p:sp>
      <p:sp>
        <p:nvSpPr>
          <p:cNvPr id="33" name="Text 30"/>
          <p:cNvSpPr/>
          <p:nvPr/>
        </p:nvSpPr>
        <p:spPr>
          <a:xfrm>
            <a:off x="7406640" y="2084832"/>
            <a:ext cx="141732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Both</a:t>
            </a:r>
            <a:endParaRPr lang="en-US" sz="950" dirty="0"/>
          </a:p>
        </p:txBody>
      </p:sp>
      <p:sp>
        <p:nvSpPr>
          <p:cNvPr id="34" name="Shape 31"/>
          <p:cNvSpPr/>
          <p:nvPr/>
        </p:nvSpPr>
        <p:spPr>
          <a:xfrm>
            <a:off x="228600" y="2642616"/>
            <a:ext cx="8686800" cy="566928"/>
          </a:xfrm>
          <a:prstGeom prst="rect">
            <a:avLst/>
          </a:prstGeom>
          <a:solidFill>
            <a:srgbClr val="FFFFFF"/>
          </a:solidFill>
          <a:ln w="12700">
            <a:solidFill>
              <a:srgbClr val="D0E0F0"/>
            </a:solidFill>
            <a:prstDash val="solid"/>
          </a:ln>
        </p:spPr>
      </p:sp>
      <p:sp>
        <p:nvSpPr>
          <p:cNvPr id="35" name="Shape 32"/>
          <p:cNvSpPr/>
          <p:nvPr/>
        </p:nvSpPr>
        <p:spPr>
          <a:xfrm>
            <a:off x="228600" y="2642616"/>
            <a:ext cx="502920" cy="566928"/>
          </a:xfrm>
          <a:prstGeom prst="rect">
            <a:avLst/>
          </a:prstGeom>
          <a:solidFill>
            <a:srgbClr val="009B9B"/>
          </a:solidFill>
          <a:ln w="12700">
            <a:solidFill>
              <a:srgbClr val="009B9B"/>
            </a:solidFill>
            <a:prstDash val="solid"/>
          </a:ln>
        </p:spPr>
      </p:sp>
      <p:sp>
        <p:nvSpPr>
          <p:cNvPr id="36" name="Text 33"/>
          <p:cNvSpPr/>
          <p:nvPr/>
        </p:nvSpPr>
        <p:spPr>
          <a:xfrm>
            <a:off x="228600" y="2642616"/>
            <a:ext cx="502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37" name="Text 34"/>
          <p:cNvSpPr/>
          <p:nvPr/>
        </p:nvSpPr>
        <p:spPr>
          <a:xfrm>
            <a:off x="804672" y="2670048"/>
            <a:ext cx="3840480" cy="256032"/>
          </a:xfrm>
          <a:prstGeom prst="rect">
            <a:avLst/>
          </a:prstGeom>
          <a:noFill/>
          <a:ln/>
        </p:spPr>
        <p:txBody>
          <a:bodyPr wrap="square" lIns="0" tIns="0" rIns="0" bIns="0" rtlCol="0" anchor="ctr"/>
          <a:lstStyle/>
          <a:p>
            <a:pPr indent="0" marL="0">
              <a:buNone/>
            </a:pPr>
            <a:r>
              <a:rPr lang="en-US" sz="1150" b="1" dirty="0">
                <a:solidFill>
                  <a:srgbClr val="009B9B"/>
                </a:solidFill>
                <a:latin typeface="Calibri" pitchFamily="34" charset="0"/>
                <a:ea typeface="Calibri" pitchFamily="34" charset="-122"/>
                <a:cs typeface="Calibri" pitchFamily="34" charset="-120"/>
              </a:rPr>
              <a:t>NormalizeIntensityd  (nonzero, channel_wise)</a:t>
            </a:r>
            <a:endParaRPr lang="en-US" sz="1150" dirty="0"/>
          </a:p>
        </p:txBody>
      </p:sp>
      <p:sp>
        <p:nvSpPr>
          <p:cNvPr id="38" name="Text 35"/>
          <p:cNvSpPr/>
          <p:nvPr/>
        </p:nvSpPr>
        <p:spPr>
          <a:xfrm>
            <a:off x="804672" y="2935224"/>
            <a:ext cx="5029200" cy="237744"/>
          </a:xfrm>
          <a:prstGeom prst="rect">
            <a:avLst/>
          </a:prstGeom>
          <a:noFill/>
          <a:ln/>
        </p:spPr>
        <p:txBody>
          <a:bodyPr wrap="square" lIns="0" tIns="0" rIns="0" bIns="0" rtlCol="0" anchor="ctr"/>
          <a:lstStyle/>
          <a:p>
            <a:pPr indent="0" marL="0">
              <a:buNone/>
            </a:pPr>
            <a:r>
              <a:rPr lang="en-US" sz="950" dirty="0">
                <a:solidFill>
                  <a:srgbClr val="3A5070"/>
                </a:solidFill>
                <a:latin typeface="Calibri" pitchFamily="34" charset="0"/>
                <a:ea typeface="Calibri" pitchFamily="34" charset="-122"/>
                <a:cs typeface="Calibri" pitchFamily="34" charset="-120"/>
              </a:rPr>
              <a:t>Z-score per modality per patient. Mean and std computed from non-zero (inside brain) voxels only.</a:t>
            </a:r>
            <a:endParaRPr lang="en-US" sz="950" dirty="0"/>
          </a:p>
        </p:txBody>
      </p:sp>
      <p:sp>
        <p:nvSpPr>
          <p:cNvPr id="39" name="Shape 36"/>
          <p:cNvSpPr/>
          <p:nvPr/>
        </p:nvSpPr>
        <p:spPr>
          <a:xfrm>
            <a:off x="5989320" y="2697480"/>
            <a:ext cx="1325880" cy="256032"/>
          </a:xfrm>
          <a:prstGeom prst="rect">
            <a:avLst/>
          </a:prstGeom>
          <a:solidFill>
            <a:srgbClr val="EEF4FF"/>
          </a:solidFill>
          <a:ln w="12700">
            <a:solidFill>
              <a:srgbClr val="1A4A7A"/>
            </a:solidFill>
            <a:prstDash val="solid"/>
          </a:ln>
        </p:spPr>
      </p:sp>
      <p:sp>
        <p:nvSpPr>
          <p:cNvPr id="40" name="Text 37"/>
          <p:cNvSpPr/>
          <p:nvPr/>
        </p:nvSpPr>
        <p:spPr>
          <a:xfrm>
            <a:off x="5989320" y="2697480"/>
            <a:ext cx="1325880" cy="256032"/>
          </a:xfrm>
          <a:prstGeom prst="rect">
            <a:avLst/>
          </a:prstGeom>
          <a:noFill/>
          <a:ln/>
        </p:spPr>
        <p:txBody>
          <a:bodyPr wrap="square" lIns="0" tIns="0" rIns="0" bIns="0" rtlCol="0" anchor="ctr"/>
          <a:lstStyle/>
          <a:p>
            <a:pPr algn="ctr" indent="0" marL="0">
              <a:buNone/>
            </a:pPr>
            <a:r>
              <a:rPr lang="en-US" sz="950" b="1" dirty="0">
                <a:solidFill>
                  <a:srgbClr val="0B1E3D"/>
                </a:solidFill>
                <a:latin typeface="Calibri" pitchFamily="34" charset="0"/>
                <a:ea typeface="Calibri" pitchFamily="34" charset="-122"/>
                <a:cs typeface="Calibri" pitchFamily="34" charset="-120"/>
              </a:rPr>
              <a:t>→ [4, D', H', W']</a:t>
            </a:r>
            <a:endParaRPr lang="en-US" sz="950" dirty="0"/>
          </a:p>
        </p:txBody>
      </p:sp>
      <p:sp>
        <p:nvSpPr>
          <p:cNvPr id="41" name="Shape 38"/>
          <p:cNvSpPr/>
          <p:nvPr/>
        </p:nvSpPr>
        <p:spPr>
          <a:xfrm>
            <a:off x="7406640" y="2697480"/>
            <a:ext cx="1417320" cy="256032"/>
          </a:xfrm>
          <a:prstGeom prst="rect">
            <a:avLst/>
          </a:prstGeom>
          <a:solidFill>
            <a:srgbClr val="009B9B"/>
          </a:solidFill>
          <a:ln w="12700">
            <a:solidFill>
              <a:srgbClr val="009B9B"/>
            </a:solidFill>
            <a:prstDash val="solid"/>
          </a:ln>
        </p:spPr>
      </p:sp>
      <p:sp>
        <p:nvSpPr>
          <p:cNvPr id="42" name="Text 39"/>
          <p:cNvSpPr/>
          <p:nvPr/>
        </p:nvSpPr>
        <p:spPr>
          <a:xfrm>
            <a:off x="7406640" y="2697480"/>
            <a:ext cx="141732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Both</a:t>
            </a:r>
            <a:endParaRPr lang="en-US" sz="950" dirty="0"/>
          </a:p>
        </p:txBody>
      </p:sp>
      <p:sp>
        <p:nvSpPr>
          <p:cNvPr id="43" name="Shape 40"/>
          <p:cNvSpPr/>
          <p:nvPr/>
        </p:nvSpPr>
        <p:spPr>
          <a:xfrm>
            <a:off x="228600" y="3255264"/>
            <a:ext cx="8686800" cy="566928"/>
          </a:xfrm>
          <a:prstGeom prst="rect">
            <a:avLst/>
          </a:prstGeom>
          <a:solidFill>
            <a:srgbClr val="FFFFFF"/>
          </a:solidFill>
          <a:ln w="12700">
            <a:solidFill>
              <a:srgbClr val="D0E0F0"/>
            </a:solidFill>
            <a:prstDash val="solid"/>
          </a:ln>
        </p:spPr>
      </p:sp>
      <p:sp>
        <p:nvSpPr>
          <p:cNvPr id="44" name="Shape 41"/>
          <p:cNvSpPr/>
          <p:nvPr/>
        </p:nvSpPr>
        <p:spPr>
          <a:xfrm>
            <a:off x="228600" y="3255264"/>
            <a:ext cx="502920" cy="566928"/>
          </a:xfrm>
          <a:prstGeom prst="rect">
            <a:avLst/>
          </a:prstGeom>
          <a:solidFill>
            <a:srgbClr val="0E6655"/>
          </a:solidFill>
          <a:ln w="12700">
            <a:solidFill>
              <a:srgbClr val="0E6655"/>
            </a:solidFill>
            <a:prstDash val="solid"/>
          </a:ln>
        </p:spPr>
      </p:sp>
      <p:sp>
        <p:nvSpPr>
          <p:cNvPr id="45" name="Text 42"/>
          <p:cNvSpPr/>
          <p:nvPr/>
        </p:nvSpPr>
        <p:spPr>
          <a:xfrm>
            <a:off x="228600" y="3255264"/>
            <a:ext cx="502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6" name="Text 43"/>
          <p:cNvSpPr/>
          <p:nvPr/>
        </p:nvSpPr>
        <p:spPr>
          <a:xfrm>
            <a:off x="804672" y="3282696"/>
            <a:ext cx="3840480" cy="256032"/>
          </a:xfrm>
          <a:prstGeom prst="rect">
            <a:avLst/>
          </a:prstGeom>
          <a:noFill/>
          <a:ln/>
        </p:spPr>
        <p:txBody>
          <a:bodyPr wrap="square" lIns="0" tIns="0" rIns="0" bIns="0" rtlCol="0" anchor="ctr"/>
          <a:lstStyle/>
          <a:p>
            <a:pPr indent="0" marL="0">
              <a:buNone/>
            </a:pPr>
            <a:r>
              <a:rPr lang="en-US" sz="1150" b="1" dirty="0">
                <a:solidFill>
                  <a:srgbClr val="0E6655"/>
                </a:solidFill>
                <a:latin typeface="Calibri" pitchFamily="34" charset="0"/>
                <a:ea typeface="Calibri" pitchFamily="34" charset="-122"/>
                <a:cs typeface="Calibri" pitchFamily="34" charset="-120"/>
              </a:rPr>
              <a:t>CropForegroundd + SpatialPadd</a:t>
            </a:r>
            <a:endParaRPr lang="en-US" sz="1150" dirty="0"/>
          </a:p>
        </p:txBody>
      </p:sp>
      <p:sp>
        <p:nvSpPr>
          <p:cNvPr id="47" name="Text 44"/>
          <p:cNvSpPr/>
          <p:nvPr/>
        </p:nvSpPr>
        <p:spPr>
          <a:xfrm>
            <a:off x="804672" y="3547872"/>
            <a:ext cx="5029200" cy="237744"/>
          </a:xfrm>
          <a:prstGeom prst="rect">
            <a:avLst/>
          </a:prstGeom>
          <a:noFill/>
          <a:ln/>
        </p:spPr>
        <p:txBody>
          <a:bodyPr wrap="square" lIns="0" tIns="0" rIns="0" bIns="0" rtlCol="0" anchor="ctr"/>
          <a:lstStyle/>
          <a:p>
            <a:pPr indent="0" marL="0">
              <a:buNone/>
            </a:pPr>
            <a:r>
              <a:rPr lang="en-US" sz="950" dirty="0">
                <a:solidFill>
                  <a:srgbClr val="3A5070"/>
                </a:solidFill>
                <a:latin typeface="Calibri" pitchFamily="34" charset="0"/>
                <a:ea typeface="Calibri" pitchFamily="34" charset="-122"/>
                <a:cs typeface="Calibri" pitchFamily="34" charset="-120"/>
              </a:rPr>
              <a:t>Removes empty space around skull (margin=10mm). Pads if cropped volume too small.</a:t>
            </a:r>
            <a:endParaRPr lang="en-US" sz="950" dirty="0"/>
          </a:p>
        </p:txBody>
      </p:sp>
      <p:sp>
        <p:nvSpPr>
          <p:cNvPr id="48" name="Shape 45"/>
          <p:cNvSpPr/>
          <p:nvPr/>
        </p:nvSpPr>
        <p:spPr>
          <a:xfrm>
            <a:off x="5989320" y="3310128"/>
            <a:ext cx="1325880" cy="256032"/>
          </a:xfrm>
          <a:prstGeom prst="rect">
            <a:avLst/>
          </a:prstGeom>
          <a:solidFill>
            <a:srgbClr val="EEF4FF"/>
          </a:solidFill>
          <a:ln w="12700">
            <a:solidFill>
              <a:srgbClr val="1A4A7A"/>
            </a:solidFill>
            <a:prstDash val="solid"/>
          </a:ln>
        </p:spPr>
      </p:sp>
      <p:sp>
        <p:nvSpPr>
          <p:cNvPr id="49" name="Text 46"/>
          <p:cNvSpPr/>
          <p:nvPr/>
        </p:nvSpPr>
        <p:spPr>
          <a:xfrm>
            <a:off x="5989320" y="3310128"/>
            <a:ext cx="1325880" cy="256032"/>
          </a:xfrm>
          <a:prstGeom prst="rect">
            <a:avLst/>
          </a:prstGeom>
          <a:noFill/>
          <a:ln/>
        </p:spPr>
        <p:txBody>
          <a:bodyPr wrap="square" lIns="0" tIns="0" rIns="0" bIns="0" rtlCol="0" anchor="ctr"/>
          <a:lstStyle/>
          <a:p>
            <a:pPr algn="ctr" indent="0" marL="0">
              <a:buNone/>
            </a:pPr>
            <a:r>
              <a:rPr lang="en-US" sz="950" b="1" dirty="0">
                <a:solidFill>
                  <a:srgbClr val="0B1E3D"/>
                </a:solidFill>
                <a:latin typeface="Calibri" pitchFamily="34" charset="0"/>
                <a:ea typeface="Calibri" pitchFamily="34" charset="-122"/>
                <a:cs typeface="Calibri" pitchFamily="34" charset="-120"/>
              </a:rPr>
              <a:t>→ [4, D'', H'', W'']</a:t>
            </a:r>
            <a:endParaRPr lang="en-US" sz="950" dirty="0"/>
          </a:p>
        </p:txBody>
      </p:sp>
      <p:sp>
        <p:nvSpPr>
          <p:cNvPr id="50" name="Shape 47"/>
          <p:cNvSpPr/>
          <p:nvPr/>
        </p:nvSpPr>
        <p:spPr>
          <a:xfrm>
            <a:off x="7406640" y="3310128"/>
            <a:ext cx="1417320" cy="256032"/>
          </a:xfrm>
          <a:prstGeom prst="rect">
            <a:avLst/>
          </a:prstGeom>
          <a:solidFill>
            <a:srgbClr val="009B9B"/>
          </a:solidFill>
          <a:ln w="12700">
            <a:solidFill>
              <a:srgbClr val="009B9B"/>
            </a:solidFill>
            <a:prstDash val="solid"/>
          </a:ln>
        </p:spPr>
      </p:sp>
      <p:sp>
        <p:nvSpPr>
          <p:cNvPr id="51" name="Text 48"/>
          <p:cNvSpPr/>
          <p:nvPr/>
        </p:nvSpPr>
        <p:spPr>
          <a:xfrm>
            <a:off x="7406640" y="3310128"/>
            <a:ext cx="141732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Both</a:t>
            </a:r>
            <a:endParaRPr lang="en-US" sz="950" dirty="0"/>
          </a:p>
        </p:txBody>
      </p:sp>
      <p:sp>
        <p:nvSpPr>
          <p:cNvPr id="52" name="Shape 49"/>
          <p:cNvSpPr/>
          <p:nvPr/>
        </p:nvSpPr>
        <p:spPr>
          <a:xfrm>
            <a:off x="228600" y="3867912"/>
            <a:ext cx="8686800" cy="566928"/>
          </a:xfrm>
          <a:prstGeom prst="rect">
            <a:avLst/>
          </a:prstGeom>
          <a:solidFill>
            <a:srgbClr val="FFFFFF"/>
          </a:solidFill>
          <a:ln w="12700">
            <a:solidFill>
              <a:srgbClr val="D0E0F0"/>
            </a:solidFill>
            <a:prstDash val="solid"/>
          </a:ln>
        </p:spPr>
      </p:sp>
      <p:sp>
        <p:nvSpPr>
          <p:cNvPr id="53" name="Shape 50"/>
          <p:cNvSpPr/>
          <p:nvPr/>
        </p:nvSpPr>
        <p:spPr>
          <a:xfrm>
            <a:off x="228600" y="3867912"/>
            <a:ext cx="502920" cy="566928"/>
          </a:xfrm>
          <a:prstGeom prst="rect">
            <a:avLst/>
          </a:prstGeom>
          <a:solidFill>
            <a:srgbClr val="5D4037"/>
          </a:solidFill>
          <a:ln w="12700">
            <a:solidFill>
              <a:srgbClr val="5D4037"/>
            </a:solidFill>
            <a:prstDash val="solid"/>
          </a:ln>
        </p:spPr>
      </p:sp>
      <p:sp>
        <p:nvSpPr>
          <p:cNvPr id="54" name="Text 51"/>
          <p:cNvSpPr/>
          <p:nvPr/>
        </p:nvSpPr>
        <p:spPr>
          <a:xfrm>
            <a:off x="228600" y="3867912"/>
            <a:ext cx="502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55" name="Text 52"/>
          <p:cNvSpPr/>
          <p:nvPr/>
        </p:nvSpPr>
        <p:spPr>
          <a:xfrm>
            <a:off x="804672" y="3895344"/>
            <a:ext cx="3840480" cy="256032"/>
          </a:xfrm>
          <a:prstGeom prst="rect">
            <a:avLst/>
          </a:prstGeom>
          <a:noFill/>
          <a:ln/>
        </p:spPr>
        <p:txBody>
          <a:bodyPr wrap="square" lIns="0" tIns="0" rIns="0" bIns="0" rtlCol="0" anchor="ctr"/>
          <a:lstStyle/>
          <a:p>
            <a:pPr indent="0" marL="0">
              <a:buNone/>
            </a:pPr>
            <a:r>
              <a:rPr lang="en-US" sz="1150" b="1" dirty="0">
                <a:solidFill>
                  <a:srgbClr val="5D4037"/>
                </a:solidFill>
                <a:latin typeface="Calibri" pitchFamily="34" charset="0"/>
                <a:ea typeface="Calibri" pitchFamily="34" charset="-122"/>
                <a:cs typeface="Calibri" pitchFamily="34" charset="-120"/>
              </a:rPr>
              <a:t>RandSpatialCropd  (roi_size=64³)</a:t>
            </a:r>
            <a:endParaRPr lang="en-US" sz="1150" dirty="0"/>
          </a:p>
        </p:txBody>
      </p:sp>
      <p:sp>
        <p:nvSpPr>
          <p:cNvPr id="56" name="Text 53"/>
          <p:cNvSpPr/>
          <p:nvPr/>
        </p:nvSpPr>
        <p:spPr>
          <a:xfrm>
            <a:off x="804672" y="4160520"/>
            <a:ext cx="5029200" cy="237744"/>
          </a:xfrm>
          <a:prstGeom prst="rect">
            <a:avLst/>
          </a:prstGeom>
          <a:noFill/>
          <a:ln/>
        </p:spPr>
        <p:txBody>
          <a:bodyPr wrap="square" lIns="0" tIns="0" rIns="0" bIns="0" rtlCol="0" anchor="ctr"/>
          <a:lstStyle/>
          <a:p>
            <a:pPr indent="0" marL="0">
              <a:buNone/>
            </a:pPr>
            <a:r>
              <a:rPr lang="en-US" sz="950" dirty="0">
                <a:solidFill>
                  <a:srgbClr val="3A5070"/>
                </a:solidFill>
                <a:latin typeface="Calibri" pitchFamily="34" charset="0"/>
                <a:ea typeface="Calibri" pitchFamily="34" charset="-122"/>
                <a:cs typeface="Calibri" pitchFamily="34" charset="-120"/>
              </a:rPr>
              <a:t>Random crop of 64³ voxels around tumor region for training. Uses center crop for validation.</a:t>
            </a:r>
            <a:endParaRPr lang="en-US" sz="950" dirty="0"/>
          </a:p>
        </p:txBody>
      </p:sp>
      <p:sp>
        <p:nvSpPr>
          <p:cNvPr id="57" name="Shape 54"/>
          <p:cNvSpPr/>
          <p:nvPr/>
        </p:nvSpPr>
        <p:spPr>
          <a:xfrm>
            <a:off x="5989320" y="3922776"/>
            <a:ext cx="1325880" cy="256032"/>
          </a:xfrm>
          <a:prstGeom prst="rect">
            <a:avLst/>
          </a:prstGeom>
          <a:solidFill>
            <a:srgbClr val="EEF4FF"/>
          </a:solidFill>
          <a:ln w="12700">
            <a:solidFill>
              <a:srgbClr val="1A4A7A"/>
            </a:solidFill>
            <a:prstDash val="solid"/>
          </a:ln>
        </p:spPr>
      </p:sp>
      <p:sp>
        <p:nvSpPr>
          <p:cNvPr id="58" name="Text 55"/>
          <p:cNvSpPr/>
          <p:nvPr/>
        </p:nvSpPr>
        <p:spPr>
          <a:xfrm>
            <a:off x="5989320" y="3922776"/>
            <a:ext cx="1325880" cy="256032"/>
          </a:xfrm>
          <a:prstGeom prst="rect">
            <a:avLst/>
          </a:prstGeom>
          <a:noFill/>
          <a:ln/>
        </p:spPr>
        <p:txBody>
          <a:bodyPr wrap="square" lIns="0" tIns="0" rIns="0" bIns="0" rtlCol="0" anchor="ctr"/>
          <a:lstStyle/>
          <a:p>
            <a:pPr algn="ctr" indent="0" marL="0">
              <a:buNone/>
            </a:pPr>
            <a:r>
              <a:rPr lang="en-US" sz="950" b="1" dirty="0">
                <a:solidFill>
                  <a:srgbClr val="0B1E3D"/>
                </a:solidFill>
                <a:latin typeface="Calibri" pitchFamily="34" charset="0"/>
                <a:ea typeface="Calibri" pitchFamily="34" charset="-122"/>
                <a:cs typeface="Calibri" pitchFamily="34" charset="-120"/>
              </a:rPr>
              <a:t>→ [4, 64, 64, 64]</a:t>
            </a:r>
            <a:endParaRPr lang="en-US" sz="950" dirty="0"/>
          </a:p>
        </p:txBody>
      </p:sp>
      <p:sp>
        <p:nvSpPr>
          <p:cNvPr id="59" name="Shape 56"/>
          <p:cNvSpPr/>
          <p:nvPr/>
        </p:nvSpPr>
        <p:spPr>
          <a:xfrm>
            <a:off x="7406640" y="3922776"/>
            <a:ext cx="1417320" cy="256032"/>
          </a:xfrm>
          <a:prstGeom prst="rect">
            <a:avLst/>
          </a:prstGeom>
          <a:solidFill>
            <a:srgbClr val="8060A0"/>
          </a:solidFill>
          <a:ln w="12700">
            <a:solidFill>
              <a:srgbClr val="8060A0"/>
            </a:solidFill>
            <a:prstDash val="solid"/>
          </a:ln>
        </p:spPr>
      </p:sp>
      <p:sp>
        <p:nvSpPr>
          <p:cNvPr id="60" name="Text 57"/>
          <p:cNvSpPr/>
          <p:nvPr/>
        </p:nvSpPr>
        <p:spPr>
          <a:xfrm>
            <a:off x="7406640" y="3922776"/>
            <a:ext cx="141732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Train only</a:t>
            </a:r>
            <a:endParaRPr lang="en-US" sz="950" dirty="0"/>
          </a:p>
        </p:txBody>
      </p:sp>
      <p:sp>
        <p:nvSpPr>
          <p:cNvPr id="61" name="Shape 58"/>
          <p:cNvSpPr/>
          <p:nvPr/>
        </p:nvSpPr>
        <p:spPr>
          <a:xfrm>
            <a:off x="228600" y="4480560"/>
            <a:ext cx="8686800" cy="566928"/>
          </a:xfrm>
          <a:prstGeom prst="rect">
            <a:avLst/>
          </a:prstGeom>
          <a:solidFill>
            <a:srgbClr val="FFFFFF"/>
          </a:solidFill>
          <a:ln w="12700">
            <a:solidFill>
              <a:srgbClr val="D0E0F0"/>
            </a:solidFill>
            <a:prstDash val="solid"/>
          </a:ln>
        </p:spPr>
      </p:sp>
      <p:sp>
        <p:nvSpPr>
          <p:cNvPr id="62" name="Shape 59"/>
          <p:cNvSpPr/>
          <p:nvPr/>
        </p:nvSpPr>
        <p:spPr>
          <a:xfrm>
            <a:off x="228600" y="4480560"/>
            <a:ext cx="502920" cy="566928"/>
          </a:xfrm>
          <a:prstGeom prst="rect">
            <a:avLst/>
          </a:prstGeom>
          <a:solidFill>
            <a:srgbClr val="6A2C8C"/>
          </a:solidFill>
          <a:ln w="12700">
            <a:solidFill>
              <a:srgbClr val="6A2C8C"/>
            </a:solidFill>
            <a:prstDash val="solid"/>
          </a:ln>
        </p:spPr>
      </p:sp>
      <p:sp>
        <p:nvSpPr>
          <p:cNvPr id="63" name="Text 60"/>
          <p:cNvSpPr/>
          <p:nvPr/>
        </p:nvSpPr>
        <p:spPr>
          <a:xfrm>
            <a:off x="228600" y="4480560"/>
            <a:ext cx="502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64" name="Text 61"/>
          <p:cNvSpPr/>
          <p:nvPr/>
        </p:nvSpPr>
        <p:spPr>
          <a:xfrm>
            <a:off x="804672" y="4507992"/>
            <a:ext cx="3840480" cy="256032"/>
          </a:xfrm>
          <a:prstGeom prst="rect">
            <a:avLst/>
          </a:prstGeom>
          <a:noFill/>
          <a:ln/>
        </p:spPr>
        <p:txBody>
          <a:bodyPr wrap="square" lIns="0" tIns="0" rIns="0" bIns="0" rtlCol="0" anchor="ctr"/>
          <a:lstStyle/>
          <a:p>
            <a:pPr indent="0" marL="0">
              <a:buNone/>
            </a:pPr>
            <a:r>
              <a:rPr lang="en-US" sz="1150" b="1" dirty="0">
                <a:solidFill>
                  <a:srgbClr val="6A2C8C"/>
                </a:solidFill>
                <a:latin typeface="Calibri" pitchFamily="34" charset="0"/>
                <a:ea typeface="Calibri" pitchFamily="34" charset="-122"/>
                <a:cs typeface="Calibri" pitchFamily="34" charset="-120"/>
              </a:rPr>
              <a:t>Augmentation  (Flip, Rotate, Noise, Blur)</a:t>
            </a:r>
            <a:endParaRPr lang="en-US" sz="1150" dirty="0"/>
          </a:p>
        </p:txBody>
      </p:sp>
      <p:sp>
        <p:nvSpPr>
          <p:cNvPr id="65" name="Text 62"/>
          <p:cNvSpPr/>
          <p:nvPr/>
        </p:nvSpPr>
        <p:spPr>
          <a:xfrm>
            <a:off x="804672" y="4773168"/>
            <a:ext cx="5029200" cy="237744"/>
          </a:xfrm>
          <a:prstGeom prst="rect">
            <a:avLst/>
          </a:prstGeom>
          <a:noFill/>
          <a:ln/>
        </p:spPr>
        <p:txBody>
          <a:bodyPr wrap="square" lIns="0" tIns="0" rIns="0" bIns="0" rtlCol="0" anchor="ctr"/>
          <a:lstStyle/>
          <a:p>
            <a:pPr indent="0" marL="0">
              <a:buNone/>
            </a:pPr>
            <a:r>
              <a:rPr lang="en-US" sz="950" dirty="0">
                <a:solidFill>
                  <a:srgbClr val="3A5070"/>
                </a:solidFill>
                <a:latin typeface="Calibri" pitchFamily="34" charset="0"/>
                <a:ea typeface="Calibri" pitchFamily="34" charset="-122"/>
                <a:cs typeface="Calibri" pitchFamily="34" charset="-120"/>
              </a:rPr>
              <a:t>RandFlip (p=0.5), RandRotate90, RandScaleIntensity, RandGaussianNoise. Applied only during training.</a:t>
            </a:r>
            <a:endParaRPr lang="en-US" sz="950" dirty="0"/>
          </a:p>
        </p:txBody>
      </p:sp>
      <p:sp>
        <p:nvSpPr>
          <p:cNvPr id="66" name="Shape 63"/>
          <p:cNvSpPr/>
          <p:nvPr/>
        </p:nvSpPr>
        <p:spPr>
          <a:xfrm>
            <a:off x="5989320" y="4535424"/>
            <a:ext cx="1325880" cy="256032"/>
          </a:xfrm>
          <a:prstGeom prst="rect">
            <a:avLst/>
          </a:prstGeom>
          <a:solidFill>
            <a:srgbClr val="EEF4FF"/>
          </a:solidFill>
          <a:ln w="12700">
            <a:solidFill>
              <a:srgbClr val="1A4A7A"/>
            </a:solidFill>
            <a:prstDash val="solid"/>
          </a:ln>
        </p:spPr>
      </p:sp>
      <p:sp>
        <p:nvSpPr>
          <p:cNvPr id="67" name="Text 64"/>
          <p:cNvSpPr/>
          <p:nvPr/>
        </p:nvSpPr>
        <p:spPr>
          <a:xfrm>
            <a:off x="5989320" y="4535424"/>
            <a:ext cx="1325880" cy="256032"/>
          </a:xfrm>
          <a:prstGeom prst="rect">
            <a:avLst/>
          </a:prstGeom>
          <a:noFill/>
          <a:ln/>
        </p:spPr>
        <p:txBody>
          <a:bodyPr wrap="square" lIns="0" tIns="0" rIns="0" bIns="0" rtlCol="0" anchor="ctr"/>
          <a:lstStyle/>
          <a:p>
            <a:pPr algn="ctr" indent="0" marL="0">
              <a:buNone/>
            </a:pPr>
            <a:r>
              <a:rPr lang="en-US" sz="950" b="1" dirty="0">
                <a:solidFill>
                  <a:srgbClr val="0B1E3D"/>
                </a:solidFill>
                <a:latin typeface="Calibri" pitchFamily="34" charset="0"/>
                <a:ea typeface="Calibri" pitchFamily="34" charset="-122"/>
                <a:cs typeface="Calibri" pitchFamily="34" charset="-120"/>
              </a:rPr>
              <a:t>→ [4, 64, 64, 64]</a:t>
            </a:r>
            <a:endParaRPr lang="en-US" sz="950" dirty="0"/>
          </a:p>
        </p:txBody>
      </p:sp>
      <p:sp>
        <p:nvSpPr>
          <p:cNvPr id="68" name="Shape 65"/>
          <p:cNvSpPr/>
          <p:nvPr/>
        </p:nvSpPr>
        <p:spPr>
          <a:xfrm>
            <a:off x="7406640" y="4535424"/>
            <a:ext cx="1417320" cy="256032"/>
          </a:xfrm>
          <a:prstGeom prst="rect">
            <a:avLst/>
          </a:prstGeom>
          <a:solidFill>
            <a:srgbClr val="8060A0"/>
          </a:solidFill>
          <a:ln w="12700">
            <a:solidFill>
              <a:srgbClr val="8060A0"/>
            </a:solidFill>
            <a:prstDash val="solid"/>
          </a:ln>
        </p:spPr>
      </p:sp>
      <p:sp>
        <p:nvSpPr>
          <p:cNvPr id="69" name="Text 66"/>
          <p:cNvSpPr/>
          <p:nvPr/>
        </p:nvSpPr>
        <p:spPr>
          <a:xfrm>
            <a:off x="7406640" y="4535424"/>
            <a:ext cx="141732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Train only</a:t>
            </a:r>
            <a:endParaRPr lang="en-US" sz="950" dirty="0"/>
          </a:p>
        </p:txBody>
      </p:sp>
      <p:sp>
        <p:nvSpPr>
          <p:cNvPr id="70" name="Text 67"/>
          <p:cNvSpPr/>
          <p:nvPr/>
        </p:nvSpPr>
        <p:spPr>
          <a:xfrm>
            <a:off x="228600" y="4965192"/>
            <a:ext cx="8686800" cy="182880"/>
          </a:xfrm>
          <a:prstGeom prst="rect">
            <a:avLst/>
          </a:prstGeom>
          <a:noFill/>
          <a:ln/>
        </p:spPr>
        <p:txBody>
          <a:bodyPr wrap="square" lIns="0" tIns="0" rIns="0" bIns="0" rtlCol="0" anchor="ctr"/>
          <a:lstStyle/>
          <a:p>
            <a:pPr indent="0" marL="0">
              <a:buNone/>
            </a:pPr>
            <a:r>
              <a:rPr lang="en-US" sz="950" i="1" dirty="0">
                <a:solidFill>
                  <a:srgbClr val="7A90A8"/>
                </a:solidFill>
                <a:latin typeface="Calibri" pitchFamily="34" charset="0"/>
                <a:ea typeface="Calibri" pitchFamily="34" charset="-122"/>
                <a:cs typeface="Calibri" pitchFamily="34" charset="-120"/>
              </a:rPr>
              <a:t>All transforms implemented in MONAI (Medical Open Network for AI) — production-grade, GPU-optimized medical imaging framework</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the Pipeline is Logically Correct — Scientific Justification</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13 / 20</a:t>
            </a:r>
            <a:endParaRPr lang="en-US" sz="900" dirty="0"/>
          </a:p>
        </p:txBody>
      </p:sp>
      <p:pic>
        <p:nvPicPr>
          <p:cNvPr id="6" name="Image 0" descr="preencoded.png">    </p:cNvPr>
          <p:cNvPicPr>
            <a:picLocks noChangeAspect="1"/>
          </p:cNvPicPr>
          <p:nvPr/>
        </p:nvPicPr>
        <p:blipFill>
          <a:blip r:embed="rId1"/>
          <a:stretch>
            <a:fillRect/>
          </a:stretch>
        </p:blipFill>
        <p:spPr>
          <a:xfrm>
            <a:off x="8412480" y="804672"/>
            <a:ext cx="502920" cy="502920"/>
          </a:xfrm>
          <a:prstGeom prst="rect">
            <a:avLst/>
          </a:prstGeom>
        </p:spPr>
      </p:pic>
      <p:sp>
        <p:nvSpPr>
          <p:cNvPr id="7" name="Shape 4"/>
          <p:cNvSpPr/>
          <p:nvPr/>
        </p:nvSpPr>
        <p:spPr>
          <a:xfrm>
            <a:off x="228600" y="804672"/>
            <a:ext cx="8686800" cy="786384"/>
          </a:xfrm>
          <a:prstGeom prst="rect">
            <a:avLst/>
          </a:prstGeom>
          <a:solidFill>
            <a:srgbClr val="FFFFFF"/>
          </a:solidFill>
          <a:ln w="12700">
            <a:solidFill>
              <a:srgbClr val="D0DCF0"/>
            </a:solidFill>
            <a:prstDash val="solid"/>
          </a:ln>
        </p:spPr>
      </p:sp>
      <p:sp>
        <p:nvSpPr>
          <p:cNvPr id="8" name="Shape 5"/>
          <p:cNvSpPr/>
          <p:nvPr/>
        </p:nvSpPr>
        <p:spPr>
          <a:xfrm>
            <a:off x="228600" y="804672"/>
            <a:ext cx="73152" cy="786384"/>
          </a:xfrm>
          <a:prstGeom prst="rect">
            <a:avLst/>
          </a:prstGeom>
          <a:solidFill>
            <a:srgbClr val="0B1E3D"/>
          </a:solidFill>
          <a:ln w="12700">
            <a:solidFill>
              <a:srgbClr val="0B1E3D"/>
            </a:solidFill>
            <a:prstDash val="solid"/>
          </a:ln>
        </p:spPr>
      </p:sp>
      <p:sp>
        <p:nvSpPr>
          <p:cNvPr id="9" name="Text 6"/>
          <p:cNvSpPr/>
          <p:nvPr/>
        </p:nvSpPr>
        <p:spPr>
          <a:xfrm>
            <a:off x="384048" y="841248"/>
            <a:ext cx="2560320" cy="256032"/>
          </a:xfrm>
          <a:prstGeom prst="rect">
            <a:avLst/>
          </a:prstGeom>
          <a:noFill/>
          <a:ln/>
        </p:spPr>
        <p:txBody>
          <a:bodyPr wrap="square" lIns="0" tIns="0" rIns="0" bIns="0" rtlCol="0" anchor="ctr"/>
          <a:lstStyle/>
          <a:p>
            <a:pPr indent="0" marL="0">
              <a:buNone/>
            </a:pPr>
            <a:r>
              <a:rPr lang="en-US" sz="1200" b="1" dirty="0">
                <a:solidFill>
                  <a:srgbClr val="0B1E3D"/>
                </a:solidFill>
                <a:latin typeface="Calibri" pitchFamily="34" charset="0"/>
                <a:ea typeface="Calibri" pitchFamily="34" charset="-122"/>
                <a:cs typeface="Calibri" pitchFamily="34" charset="-120"/>
              </a:rPr>
              <a:t>Orientation  (RAS)</a:t>
            </a:r>
            <a:endParaRPr lang="en-US" sz="1200" dirty="0"/>
          </a:p>
        </p:txBody>
      </p:sp>
      <p:sp>
        <p:nvSpPr>
          <p:cNvPr id="10" name="Shape 7"/>
          <p:cNvSpPr/>
          <p:nvPr/>
        </p:nvSpPr>
        <p:spPr>
          <a:xfrm>
            <a:off x="3035808" y="841248"/>
            <a:ext cx="1371600" cy="246888"/>
          </a:xfrm>
          <a:prstGeom prst="rect">
            <a:avLst/>
          </a:prstGeom>
          <a:solidFill>
            <a:srgbClr val="0B1E3D"/>
          </a:solidFill>
          <a:ln w="12700">
            <a:solidFill>
              <a:srgbClr val="0B1E3D"/>
            </a:solidFill>
            <a:prstDash val="solid"/>
          </a:ln>
        </p:spPr>
      </p:sp>
      <p:sp>
        <p:nvSpPr>
          <p:cNvPr id="11" name="Text 8"/>
          <p:cNvSpPr/>
          <p:nvPr/>
        </p:nvSpPr>
        <p:spPr>
          <a:xfrm>
            <a:off x="3035808" y="841248"/>
            <a:ext cx="13716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Invariance Principle</a:t>
            </a:r>
            <a:endParaRPr lang="en-US" sz="1000" dirty="0"/>
          </a:p>
        </p:txBody>
      </p:sp>
      <p:sp>
        <p:nvSpPr>
          <p:cNvPr id="12" name="Text 9"/>
          <p:cNvSpPr/>
          <p:nvPr/>
        </p:nvSpPr>
        <p:spPr>
          <a:xfrm>
            <a:off x="384048" y="1115568"/>
            <a:ext cx="694944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CNNs learn spatial filters. If a brain faces left in training but right at test time, learned edge detectors break. RAS is the internationally adopted neuroimage standard (NIfTI specification).</a:t>
            </a:r>
            <a:endParaRPr lang="en-US" sz="1050" dirty="0"/>
          </a:p>
        </p:txBody>
      </p:sp>
      <p:sp>
        <p:nvSpPr>
          <p:cNvPr id="13" name="Text 10"/>
          <p:cNvSpPr/>
          <p:nvPr/>
        </p:nvSpPr>
        <p:spPr>
          <a:xfrm>
            <a:off x="384048" y="1463040"/>
            <a:ext cx="7772400" cy="164592"/>
          </a:xfrm>
          <a:prstGeom prst="rect">
            <a:avLst/>
          </a:prstGeom>
          <a:noFill/>
          <a:ln/>
        </p:spPr>
        <p:txBody>
          <a:bodyPr wrap="square" lIns="0" tIns="0" rIns="0" bIns="0" rtlCol="0" anchor="ctr"/>
          <a:lstStyle/>
          <a:p>
            <a:pPr indent="0" marL="0">
              <a:buNone/>
            </a:pPr>
            <a:r>
              <a:rPr lang="en-US" sz="900" i="1" dirty="0">
                <a:solidFill>
                  <a:srgbClr val="7A90A8"/>
                </a:solidFill>
                <a:latin typeface="Calibri" pitchFamily="34" charset="0"/>
                <a:ea typeface="Calibri" pitchFamily="34" charset="-122"/>
                <a:cs typeface="Calibri" pitchFamily="34" charset="-120"/>
              </a:rPr>
              <a:t>Ref: NiBabel / NIfTI standard; FSL / FreeSurfer convention</a:t>
            </a:r>
            <a:endParaRPr lang="en-US" sz="900" dirty="0"/>
          </a:p>
        </p:txBody>
      </p:sp>
      <p:sp>
        <p:nvSpPr>
          <p:cNvPr id="14" name="Shape 11"/>
          <p:cNvSpPr/>
          <p:nvPr/>
        </p:nvSpPr>
        <p:spPr>
          <a:xfrm>
            <a:off x="228600" y="1645920"/>
            <a:ext cx="8686800" cy="786384"/>
          </a:xfrm>
          <a:prstGeom prst="rect">
            <a:avLst/>
          </a:prstGeom>
          <a:solidFill>
            <a:srgbClr val="FFFFFF"/>
          </a:solidFill>
          <a:ln w="12700">
            <a:solidFill>
              <a:srgbClr val="D0DCF0"/>
            </a:solidFill>
            <a:prstDash val="solid"/>
          </a:ln>
        </p:spPr>
      </p:sp>
      <p:sp>
        <p:nvSpPr>
          <p:cNvPr id="15" name="Shape 12"/>
          <p:cNvSpPr/>
          <p:nvPr/>
        </p:nvSpPr>
        <p:spPr>
          <a:xfrm>
            <a:off x="228600" y="1645920"/>
            <a:ext cx="73152" cy="786384"/>
          </a:xfrm>
          <a:prstGeom prst="rect">
            <a:avLst/>
          </a:prstGeom>
          <a:solidFill>
            <a:srgbClr val="2E4A7A"/>
          </a:solidFill>
          <a:ln w="12700">
            <a:solidFill>
              <a:srgbClr val="2E4A7A"/>
            </a:solidFill>
            <a:prstDash val="solid"/>
          </a:ln>
        </p:spPr>
      </p:sp>
      <p:sp>
        <p:nvSpPr>
          <p:cNvPr id="16" name="Text 13"/>
          <p:cNvSpPr/>
          <p:nvPr/>
        </p:nvSpPr>
        <p:spPr>
          <a:xfrm>
            <a:off x="384048" y="1682496"/>
            <a:ext cx="2560320" cy="256032"/>
          </a:xfrm>
          <a:prstGeom prst="rect">
            <a:avLst/>
          </a:prstGeom>
          <a:noFill/>
          <a:ln/>
        </p:spPr>
        <p:txBody>
          <a:bodyPr wrap="square" lIns="0" tIns="0" rIns="0" bIns="0" rtlCol="0" anchor="ctr"/>
          <a:lstStyle/>
          <a:p>
            <a:pPr indent="0" marL="0">
              <a:buNone/>
            </a:pPr>
            <a:r>
              <a:rPr lang="en-US" sz="1200" b="1" dirty="0">
                <a:solidFill>
                  <a:srgbClr val="2E4A7A"/>
                </a:solidFill>
                <a:latin typeface="Calibri" pitchFamily="34" charset="0"/>
                <a:ea typeface="Calibri" pitchFamily="34" charset="-122"/>
                <a:cs typeface="Calibri" pitchFamily="34" charset="-120"/>
              </a:rPr>
              <a:t>Isotropic Resampling  (1mm³)</a:t>
            </a:r>
            <a:endParaRPr lang="en-US" sz="1200" dirty="0"/>
          </a:p>
        </p:txBody>
      </p:sp>
      <p:sp>
        <p:nvSpPr>
          <p:cNvPr id="17" name="Shape 14"/>
          <p:cNvSpPr/>
          <p:nvPr/>
        </p:nvSpPr>
        <p:spPr>
          <a:xfrm>
            <a:off x="3035808" y="1682496"/>
            <a:ext cx="1371600" cy="246888"/>
          </a:xfrm>
          <a:prstGeom prst="rect">
            <a:avLst/>
          </a:prstGeom>
          <a:solidFill>
            <a:srgbClr val="2E4A7A"/>
          </a:solidFill>
          <a:ln w="12700">
            <a:solidFill>
              <a:srgbClr val="2E4A7A"/>
            </a:solidFill>
            <a:prstDash val="solid"/>
          </a:ln>
        </p:spPr>
      </p:sp>
      <p:sp>
        <p:nvSpPr>
          <p:cNvPr id="18" name="Text 15"/>
          <p:cNvSpPr/>
          <p:nvPr/>
        </p:nvSpPr>
        <p:spPr>
          <a:xfrm>
            <a:off x="3035808" y="1682496"/>
            <a:ext cx="13716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Metric Consistency</a:t>
            </a:r>
            <a:endParaRPr lang="en-US" sz="1000" dirty="0"/>
          </a:p>
        </p:txBody>
      </p:sp>
      <p:sp>
        <p:nvSpPr>
          <p:cNvPr id="19" name="Text 16"/>
          <p:cNvSpPr/>
          <p:nvPr/>
        </p:nvSpPr>
        <p:spPr>
          <a:xfrm>
            <a:off x="384048" y="1956816"/>
            <a:ext cx="694944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The PDE operates in physical millimeters. D is measured in mm²/day. If voxels aren't isotropic, the finite-difference Laplacian ∇²u gives incorrect physical units. 1mm³ = 1 physical unit.</a:t>
            </a:r>
            <a:endParaRPr lang="en-US" sz="1050" dirty="0"/>
          </a:p>
        </p:txBody>
      </p:sp>
      <p:sp>
        <p:nvSpPr>
          <p:cNvPr id="20" name="Text 17"/>
          <p:cNvSpPr/>
          <p:nvPr/>
        </p:nvSpPr>
        <p:spPr>
          <a:xfrm>
            <a:off x="384048" y="2304288"/>
            <a:ext cx="7772400" cy="164592"/>
          </a:xfrm>
          <a:prstGeom prst="rect">
            <a:avLst/>
          </a:prstGeom>
          <a:noFill/>
          <a:ln/>
        </p:spPr>
        <p:txBody>
          <a:bodyPr wrap="square" lIns="0" tIns="0" rIns="0" bIns="0" rtlCol="0" anchor="ctr"/>
          <a:lstStyle/>
          <a:p>
            <a:pPr indent="0" marL="0">
              <a:buNone/>
            </a:pPr>
            <a:r>
              <a:rPr lang="en-US" sz="900" i="1" dirty="0">
                <a:solidFill>
                  <a:srgbClr val="7A90A8"/>
                </a:solidFill>
                <a:latin typeface="Calibri" pitchFamily="34" charset="0"/>
                <a:ea typeface="Calibri" pitchFamily="34" charset="-122"/>
                <a:cs typeface="Calibri" pitchFamily="34" charset="-120"/>
              </a:rPr>
              <a:t>Ref: Critical for PDE: dx=dy=dz=1.0 in config.py</a:t>
            </a:r>
            <a:endParaRPr lang="en-US" sz="900" dirty="0"/>
          </a:p>
        </p:txBody>
      </p:sp>
      <p:sp>
        <p:nvSpPr>
          <p:cNvPr id="21" name="Shape 18"/>
          <p:cNvSpPr/>
          <p:nvPr/>
        </p:nvSpPr>
        <p:spPr>
          <a:xfrm>
            <a:off x="228600" y="2487168"/>
            <a:ext cx="8686800" cy="786384"/>
          </a:xfrm>
          <a:prstGeom prst="rect">
            <a:avLst/>
          </a:prstGeom>
          <a:solidFill>
            <a:srgbClr val="FFFFFF"/>
          </a:solidFill>
          <a:ln w="12700">
            <a:solidFill>
              <a:srgbClr val="D0DCF0"/>
            </a:solidFill>
            <a:prstDash val="solid"/>
          </a:ln>
        </p:spPr>
      </p:sp>
      <p:sp>
        <p:nvSpPr>
          <p:cNvPr id="22" name="Shape 19"/>
          <p:cNvSpPr/>
          <p:nvPr/>
        </p:nvSpPr>
        <p:spPr>
          <a:xfrm>
            <a:off x="228600" y="2487168"/>
            <a:ext cx="73152" cy="786384"/>
          </a:xfrm>
          <a:prstGeom prst="rect">
            <a:avLst/>
          </a:prstGeom>
          <a:solidFill>
            <a:srgbClr val="009B9B"/>
          </a:solidFill>
          <a:ln w="12700">
            <a:solidFill>
              <a:srgbClr val="009B9B"/>
            </a:solidFill>
            <a:prstDash val="solid"/>
          </a:ln>
        </p:spPr>
      </p:sp>
      <p:sp>
        <p:nvSpPr>
          <p:cNvPr id="23" name="Text 20"/>
          <p:cNvSpPr/>
          <p:nvPr/>
        </p:nvSpPr>
        <p:spPr>
          <a:xfrm>
            <a:off x="384048" y="2523744"/>
            <a:ext cx="2560320" cy="256032"/>
          </a:xfrm>
          <a:prstGeom prst="rect">
            <a:avLst/>
          </a:prstGeom>
          <a:noFill/>
          <a:ln/>
        </p:spPr>
        <p:txBody>
          <a:bodyPr wrap="square" lIns="0" tIns="0" rIns="0" bIns="0" rtlCol="0" anchor="ctr"/>
          <a:lstStyle/>
          <a:p>
            <a:pPr indent="0" marL="0">
              <a:buNone/>
            </a:pPr>
            <a:r>
              <a:rPr lang="en-US" sz="1200" b="1" dirty="0">
                <a:solidFill>
                  <a:srgbClr val="009B9B"/>
                </a:solidFill>
                <a:latin typeface="Calibri" pitchFamily="34" charset="0"/>
                <a:ea typeface="Calibri" pitchFamily="34" charset="-122"/>
                <a:cs typeface="Calibri" pitchFamily="34" charset="-120"/>
              </a:rPr>
              <a:t>Z-score Normalization  (per channel, nonzero)</a:t>
            </a:r>
            <a:endParaRPr lang="en-US" sz="1200" dirty="0"/>
          </a:p>
        </p:txBody>
      </p:sp>
      <p:sp>
        <p:nvSpPr>
          <p:cNvPr id="24" name="Shape 21"/>
          <p:cNvSpPr/>
          <p:nvPr/>
        </p:nvSpPr>
        <p:spPr>
          <a:xfrm>
            <a:off x="3035808" y="2523744"/>
            <a:ext cx="1371600" cy="246888"/>
          </a:xfrm>
          <a:prstGeom prst="rect">
            <a:avLst/>
          </a:prstGeom>
          <a:solidFill>
            <a:srgbClr val="009B9B"/>
          </a:solidFill>
          <a:ln w="12700">
            <a:solidFill>
              <a:srgbClr val="009B9B"/>
            </a:solidFill>
            <a:prstDash val="solid"/>
          </a:ln>
        </p:spPr>
      </p:sp>
      <p:sp>
        <p:nvSpPr>
          <p:cNvPr id="25" name="Text 22"/>
          <p:cNvSpPr/>
          <p:nvPr/>
        </p:nvSpPr>
        <p:spPr>
          <a:xfrm>
            <a:off x="3035808" y="2523744"/>
            <a:ext cx="13716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Scanner Independence</a:t>
            </a:r>
            <a:endParaRPr lang="en-US" sz="1000" dirty="0"/>
          </a:p>
        </p:txBody>
      </p:sp>
      <p:sp>
        <p:nvSpPr>
          <p:cNvPr id="26" name="Text 23"/>
          <p:cNvSpPr/>
          <p:nvPr/>
        </p:nvSpPr>
        <p:spPr>
          <a:xfrm>
            <a:off x="384048" y="2798064"/>
            <a:ext cx="694944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MRI intensity is arbitrary. Z-scoring produces mean=0, std=1 per modality per patient. 'nonzero=True' computes stats from brain tissue only — the background (0) would artificially compress the distribution.</a:t>
            </a:r>
            <a:endParaRPr lang="en-US" sz="1050" dirty="0"/>
          </a:p>
        </p:txBody>
      </p:sp>
      <p:sp>
        <p:nvSpPr>
          <p:cNvPr id="27" name="Text 24"/>
          <p:cNvSpPr/>
          <p:nvPr/>
        </p:nvSpPr>
        <p:spPr>
          <a:xfrm>
            <a:off x="384048" y="3145536"/>
            <a:ext cx="7772400" cy="164592"/>
          </a:xfrm>
          <a:prstGeom prst="rect">
            <a:avLst/>
          </a:prstGeom>
          <a:noFill/>
          <a:ln/>
        </p:spPr>
        <p:txBody>
          <a:bodyPr wrap="square" lIns="0" tIns="0" rIns="0" bIns="0" rtlCol="0" anchor="ctr"/>
          <a:lstStyle/>
          <a:p>
            <a:pPr indent="0" marL="0">
              <a:buNone/>
            </a:pPr>
            <a:r>
              <a:rPr lang="en-US" sz="900" i="1" dirty="0">
                <a:solidFill>
                  <a:srgbClr val="7A90A8"/>
                </a:solidFill>
                <a:latin typeface="Calibri" pitchFamily="34" charset="0"/>
                <a:ea typeface="Calibri" pitchFamily="34" charset="-122"/>
                <a:cs typeface="Calibri" pitchFamily="34" charset="-120"/>
              </a:rPr>
              <a:t>Ref: Standard practice in BraTS challenge winning solutions</a:t>
            </a:r>
            <a:endParaRPr lang="en-US" sz="900" dirty="0"/>
          </a:p>
        </p:txBody>
      </p:sp>
      <p:sp>
        <p:nvSpPr>
          <p:cNvPr id="28" name="Shape 25"/>
          <p:cNvSpPr/>
          <p:nvPr/>
        </p:nvSpPr>
        <p:spPr>
          <a:xfrm>
            <a:off x="228600" y="3328416"/>
            <a:ext cx="8686800" cy="786384"/>
          </a:xfrm>
          <a:prstGeom prst="rect">
            <a:avLst/>
          </a:prstGeom>
          <a:solidFill>
            <a:srgbClr val="FFFFFF"/>
          </a:solidFill>
          <a:ln w="12700">
            <a:solidFill>
              <a:srgbClr val="D0DCF0"/>
            </a:solidFill>
            <a:prstDash val="solid"/>
          </a:ln>
        </p:spPr>
      </p:sp>
      <p:sp>
        <p:nvSpPr>
          <p:cNvPr id="29" name="Shape 26"/>
          <p:cNvSpPr/>
          <p:nvPr/>
        </p:nvSpPr>
        <p:spPr>
          <a:xfrm>
            <a:off x="228600" y="3328416"/>
            <a:ext cx="73152" cy="786384"/>
          </a:xfrm>
          <a:prstGeom prst="rect">
            <a:avLst/>
          </a:prstGeom>
          <a:solidFill>
            <a:srgbClr val="0E6655"/>
          </a:solidFill>
          <a:ln w="12700">
            <a:solidFill>
              <a:srgbClr val="0E6655"/>
            </a:solidFill>
            <a:prstDash val="solid"/>
          </a:ln>
        </p:spPr>
      </p:sp>
      <p:sp>
        <p:nvSpPr>
          <p:cNvPr id="30" name="Text 27"/>
          <p:cNvSpPr/>
          <p:nvPr/>
        </p:nvSpPr>
        <p:spPr>
          <a:xfrm>
            <a:off x="384048" y="3364992"/>
            <a:ext cx="2560320" cy="256032"/>
          </a:xfrm>
          <a:prstGeom prst="rect">
            <a:avLst/>
          </a:prstGeom>
          <a:noFill/>
          <a:ln/>
        </p:spPr>
        <p:txBody>
          <a:bodyPr wrap="square" lIns="0" tIns="0" rIns="0" bIns="0" rtlCol="0" anchor="ctr"/>
          <a:lstStyle/>
          <a:p>
            <a:pPr indent="0" marL="0">
              <a:buNone/>
            </a:pPr>
            <a:r>
              <a:rPr lang="en-US" sz="1200" b="1" dirty="0">
                <a:solidFill>
                  <a:srgbClr val="0E6655"/>
                </a:solidFill>
                <a:latin typeface="Calibri" pitchFamily="34" charset="0"/>
                <a:ea typeface="Calibri" pitchFamily="34" charset="-122"/>
                <a:cs typeface="Calibri" pitchFamily="34" charset="-120"/>
              </a:rPr>
              <a:t>Patch Cropping  (64³)</a:t>
            </a:r>
            <a:endParaRPr lang="en-US" sz="1200" dirty="0"/>
          </a:p>
        </p:txBody>
      </p:sp>
      <p:sp>
        <p:nvSpPr>
          <p:cNvPr id="31" name="Shape 28"/>
          <p:cNvSpPr/>
          <p:nvPr/>
        </p:nvSpPr>
        <p:spPr>
          <a:xfrm>
            <a:off x="3035808" y="3364992"/>
            <a:ext cx="1371600" cy="246888"/>
          </a:xfrm>
          <a:prstGeom prst="rect">
            <a:avLst/>
          </a:prstGeom>
          <a:solidFill>
            <a:srgbClr val="0E6655"/>
          </a:solidFill>
          <a:ln w="12700">
            <a:solidFill>
              <a:srgbClr val="0E6655"/>
            </a:solidFill>
            <a:prstDash val="solid"/>
          </a:ln>
        </p:spPr>
      </p:sp>
      <p:sp>
        <p:nvSpPr>
          <p:cNvPr id="32" name="Text 29"/>
          <p:cNvSpPr/>
          <p:nvPr/>
        </p:nvSpPr>
        <p:spPr>
          <a:xfrm>
            <a:off x="3035808" y="3364992"/>
            <a:ext cx="13716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Memory Feasibility + Focus</a:t>
            </a:r>
            <a:endParaRPr lang="en-US" sz="1000" dirty="0"/>
          </a:p>
        </p:txBody>
      </p:sp>
      <p:sp>
        <p:nvSpPr>
          <p:cNvPr id="33" name="Text 30"/>
          <p:cNvSpPr/>
          <p:nvPr/>
        </p:nvSpPr>
        <p:spPr>
          <a:xfrm>
            <a:off x="384048" y="3639312"/>
            <a:ext cx="694944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GPU VRAM is finite. Cropping focuses the model on tumor-containing regions, increasing effective data efficiency. The ForegroundCrop ensures we don't sample empty patches.</a:t>
            </a:r>
            <a:endParaRPr lang="en-US" sz="1050" dirty="0"/>
          </a:p>
        </p:txBody>
      </p:sp>
      <p:sp>
        <p:nvSpPr>
          <p:cNvPr id="34" name="Text 31"/>
          <p:cNvSpPr/>
          <p:nvPr/>
        </p:nvSpPr>
        <p:spPr>
          <a:xfrm>
            <a:off x="384048" y="3986784"/>
            <a:ext cx="7772400" cy="164592"/>
          </a:xfrm>
          <a:prstGeom prst="rect">
            <a:avLst/>
          </a:prstGeom>
          <a:noFill/>
          <a:ln/>
        </p:spPr>
        <p:txBody>
          <a:bodyPr wrap="square" lIns="0" tIns="0" rIns="0" bIns="0" rtlCol="0" anchor="ctr"/>
          <a:lstStyle/>
          <a:p>
            <a:pPr indent="0" marL="0">
              <a:buNone/>
            </a:pPr>
            <a:r>
              <a:rPr lang="en-US" sz="900" i="1" dirty="0">
                <a:solidFill>
                  <a:srgbClr val="7A90A8"/>
                </a:solidFill>
                <a:latin typeface="Calibri" pitchFamily="34" charset="0"/>
                <a:ea typeface="Calibri" pitchFamily="34" charset="-122"/>
                <a:cs typeface="Calibri" pitchFamily="34" charset="-120"/>
              </a:rPr>
              <a:t>Ref: nnU-Net methodology; patch-based training validated in Isensee 2021</a:t>
            </a:r>
            <a:endParaRPr lang="en-US" sz="900" dirty="0"/>
          </a:p>
        </p:txBody>
      </p:sp>
      <p:sp>
        <p:nvSpPr>
          <p:cNvPr id="35" name="Shape 32"/>
          <p:cNvSpPr/>
          <p:nvPr/>
        </p:nvSpPr>
        <p:spPr>
          <a:xfrm>
            <a:off x="228600" y="4169664"/>
            <a:ext cx="8686800" cy="786384"/>
          </a:xfrm>
          <a:prstGeom prst="rect">
            <a:avLst/>
          </a:prstGeom>
          <a:solidFill>
            <a:srgbClr val="FFFFFF"/>
          </a:solidFill>
          <a:ln w="12700">
            <a:solidFill>
              <a:srgbClr val="D0DCF0"/>
            </a:solidFill>
            <a:prstDash val="solid"/>
          </a:ln>
        </p:spPr>
      </p:sp>
      <p:sp>
        <p:nvSpPr>
          <p:cNvPr id="36" name="Shape 33"/>
          <p:cNvSpPr/>
          <p:nvPr/>
        </p:nvSpPr>
        <p:spPr>
          <a:xfrm>
            <a:off x="228600" y="4169664"/>
            <a:ext cx="73152" cy="786384"/>
          </a:xfrm>
          <a:prstGeom prst="rect">
            <a:avLst/>
          </a:prstGeom>
          <a:solidFill>
            <a:srgbClr val="6A2C8C"/>
          </a:solidFill>
          <a:ln w="12700">
            <a:solidFill>
              <a:srgbClr val="6A2C8C"/>
            </a:solidFill>
            <a:prstDash val="solid"/>
          </a:ln>
        </p:spPr>
      </p:sp>
      <p:sp>
        <p:nvSpPr>
          <p:cNvPr id="37" name="Text 34"/>
          <p:cNvSpPr/>
          <p:nvPr/>
        </p:nvSpPr>
        <p:spPr>
          <a:xfrm>
            <a:off x="384048" y="4206240"/>
            <a:ext cx="2560320" cy="256032"/>
          </a:xfrm>
          <a:prstGeom prst="rect">
            <a:avLst/>
          </a:prstGeom>
          <a:noFill/>
          <a:ln/>
        </p:spPr>
        <p:txBody>
          <a:bodyPr wrap="square" lIns="0" tIns="0" rIns="0" bIns="0" rtlCol="0" anchor="ctr"/>
          <a:lstStyle/>
          <a:p>
            <a:pPr indent="0" marL="0">
              <a:buNone/>
            </a:pPr>
            <a:r>
              <a:rPr lang="en-US" sz="1200" b="1" dirty="0">
                <a:solidFill>
                  <a:srgbClr val="6A2C8C"/>
                </a:solidFill>
                <a:latin typeface="Calibri" pitchFamily="34" charset="0"/>
                <a:ea typeface="Calibri" pitchFamily="34" charset="-122"/>
                <a:cs typeface="Calibri" pitchFamily="34" charset="-120"/>
              </a:rPr>
              <a:t>Augmentation  (Flip, Noise, Scale)</a:t>
            </a:r>
            <a:endParaRPr lang="en-US" sz="1200" dirty="0"/>
          </a:p>
        </p:txBody>
      </p:sp>
      <p:sp>
        <p:nvSpPr>
          <p:cNvPr id="38" name="Shape 35"/>
          <p:cNvSpPr/>
          <p:nvPr/>
        </p:nvSpPr>
        <p:spPr>
          <a:xfrm>
            <a:off x="3035808" y="4206240"/>
            <a:ext cx="1371600" cy="246888"/>
          </a:xfrm>
          <a:prstGeom prst="rect">
            <a:avLst/>
          </a:prstGeom>
          <a:solidFill>
            <a:srgbClr val="6A2C8C"/>
          </a:solidFill>
          <a:ln w="12700">
            <a:solidFill>
              <a:srgbClr val="6A2C8C"/>
            </a:solidFill>
            <a:prstDash val="solid"/>
          </a:ln>
        </p:spPr>
      </p:sp>
      <p:sp>
        <p:nvSpPr>
          <p:cNvPr id="39" name="Text 36"/>
          <p:cNvSpPr/>
          <p:nvPr/>
        </p:nvSpPr>
        <p:spPr>
          <a:xfrm>
            <a:off x="3035808" y="4206240"/>
            <a:ext cx="13716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Regularization + Invariance</a:t>
            </a:r>
            <a:endParaRPr lang="en-US" sz="1000" dirty="0"/>
          </a:p>
        </p:txBody>
      </p:sp>
      <p:sp>
        <p:nvSpPr>
          <p:cNvPr id="40" name="Text 37"/>
          <p:cNvSpPr/>
          <p:nvPr/>
        </p:nvSpPr>
        <p:spPr>
          <a:xfrm>
            <a:off x="384048" y="4480560"/>
            <a:ext cx="6949440" cy="347472"/>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With only 387 training patients, augmentation is critical to prevent overfitting. Flips encode rotational invariance (tumors aren't lateralized in the training set). Noise/scale simulate scanner variability.</a:t>
            </a:r>
            <a:endParaRPr lang="en-US" sz="1050" dirty="0"/>
          </a:p>
        </p:txBody>
      </p:sp>
      <p:sp>
        <p:nvSpPr>
          <p:cNvPr id="41" name="Text 38"/>
          <p:cNvSpPr/>
          <p:nvPr/>
        </p:nvSpPr>
        <p:spPr>
          <a:xfrm>
            <a:off x="384048" y="4828032"/>
            <a:ext cx="7772400" cy="164592"/>
          </a:xfrm>
          <a:prstGeom prst="rect">
            <a:avLst/>
          </a:prstGeom>
          <a:noFill/>
          <a:ln/>
        </p:spPr>
        <p:txBody>
          <a:bodyPr wrap="square" lIns="0" tIns="0" rIns="0" bIns="0" rtlCol="0" anchor="ctr"/>
          <a:lstStyle/>
          <a:p>
            <a:pPr indent="0" marL="0">
              <a:buNone/>
            </a:pPr>
            <a:r>
              <a:rPr lang="en-US" sz="900" i="1" dirty="0">
                <a:solidFill>
                  <a:srgbClr val="7A90A8"/>
                </a:solidFill>
                <a:latin typeface="Calibri" pitchFamily="34" charset="0"/>
                <a:ea typeface="Calibri" pitchFamily="34" charset="-122"/>
                <a:cs typeface="Calibri" pitchFamily="34" charset="-120"/>
              </a:rPr>
              <a:t>Ref: Standard in MICCAI segmentation; BraTS 2021 top solutions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E3D"/>
        </a:solidFill>
      </p:bgPr>
    </p:bg>
    <p:spTree>
      <p:nvGrpSpPr>
        <p:cNvPr id="1" name=""/>
        <p:cNvGrpSpPr/>
        <p:nvPr/>
      </p:nvGrpSpPr>
      <p:grpSpPr>
        <a:xfrm>
          <a:off x="0" y="0"/>
          <a:ext cx="0" cy="0"/>
          <a:chOff x="0" y="0"/>
          <a:chExt cx="0" cy="0"/>
        </a:xfrm>
      </p:grpSpPr>
      <p:sp>
        <p:nvSpPr>
          <p:cNvPr id="2" name="Text 0"/>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14 / 20</a:t>
            </a:r>
            <a:endParaRPr lang="en-US" sz="900" dirty="0"/>
          </a:p>
        </p:txBody>
      </p:sp>
      <p:sp>
        <p:nvSpPr>
          <p:cNvPr id="3" name="Shape 1"/>
          <p:cNvSpPr/>
          <p:nvPr/>
        </p:nvSpPr>
        <p:spPr>
          <a:xfrm>
            <a:off x="0" y="0"/>
            <a:ext cx="9144000" cy="5143500"/>
          </a:xfrm>
          <a:prstGeom prst="rect">
            <a:avLst/>
          </a:prstGeom>
          <a:solidFill>
            <a:srgbClr val="0B1E3D"/>
          </a:solidFill>
          <a:ln w="12700">
            <a:solidFill>
              <a:srgbClr val="0B1E3D"/>
            </a:solidFill>
            <a:prstDash val="solid"/>
          </a:ln>
        </p:spPr>
      </p:sp>
      <p:sp>
        <p:nvSpPr>
          <p:cNvPr id="4" name="Shape 2"/>
          <p:cNvSpPr/>
          <p:nvPr/>
        </p:nvSpPr>
        <p:spPr>
          <a:xfrm>
            <a:off x="0" y="0"/>
            <a:ext cx="91440" cy="5143500"/>
          </a:xfrm>
          <a:prstGeom prst="rect">
            <a:avLst/>
          </a:prstGeom>
          <a:solidFill>
            <a:srgbClr val="00C9C8"/>
          </a:solidFill>
          <a:ln w="12700">
            <a:solidFill>
              <a:srgbClr val="00C9C8"/>
            </a:solidFill>
            <a:prstDash val="solid"/>
          </a:ln>
        </p:spPr>
      </p:sp>
      <p:sp>
        <p:nvSpPr>
          <p:cNvPr id="5" name="Shape 3"/>
          <p:cNvSpPr/>
          <p:nvPr/>
        </p:nvSpPr>
        <p:spPr>
          <a:xfrm>
            <a:off x="91440" y="475488"/>
            <a:ext cx="9052560" cy="36576"/>
          </a:xfrm>
          <a:prstGeom prst="rect">
            <a:avLst/>
          </a:prstGeom>
          <a:solidFill>
            <a:srgbClr val="00C9C8"/>
          </a:solidFill>
          <a:ln w="12700">
            <a:solidFill>
              <a:srgbClr val="00C9C8"/>
            </a:solidFill>
            <a:prstDash val="solid"/>
          </a:ln>
        </p:spPr>
      </p:sp>
      <p:sp>
        <p:nvSpPr>
          <p:cNvPr id="6" name="Text 4"/>
          <p:cNvSpPr/>
          <p:nvPr/>
        </p:nvSpPr>
        <p:spPr>
          <a:xfrm>
            <a:off x="228600" y="73152"/>
            <a:ext cx="86868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Physics Model — Fisher-KPP Reaction-Diffusion PDE</a:t>
            </a:r>
            <a:endParaRPr lang="en-US" sz="2000" dirty="0"/>
          </a:p>
        </p:txBody>
      </p:sp>
      <p:sp>
        <p:nvSpPr>
          <p:cNvPr id="7" name="Shape 5"/>
          <p:cNvSpPr/>
          <p:nvPr/>
        </p:nvSpPr>
        <p:spPr>
          <a:xfrm>
            <a:off x="274320" y="594360"/>
            <a:ext cx="8595360" cy="960120"/>
          </a:xfrm>
          <a:prstGeom prst="rect">
            <a:avLst/>
          </a:prstGeom>
          <a:solidFill>
            <a:srgbClr val="0D2748"/>
          </a:solidFill>
          <a:ln w="12700">
            <a:solidFill>
              <a:srgbClr val="00C9C8"/>
            </a:solidFill>
            <a:prstDash val="solid"/>
          </a:ln>
        </p:spPr>
      </p:sp>
      <p:sp>
        <p:nvSpPr>
          <p:cNvPr id="8" name="Text 6"/>
          <p:cNvSpPr/>
          <p:nvPr/>
        </p:nvSpPr>
        <p:spPr>
          <a:xfrm>
            <a:off x="274320" y="594360"/>
            <a:ext cx="8595360" cy="960120"/>
          </a:xfrm>
          <a:prstGeom prst="rect">
            <a:avLst/>
          </a:prstGeom>
          <a:noFill/>
          <a:ln/>
        </p:spPr>
        <p:txBody>
          <a:bodyPr wrap="square" lIns="0" tIns="0" rIns="0" bIns="0" rtlCol="0" anchor="ctr"/>
          <a:lstStyle/>
          <a:p>
            <a:pPr algn="ctr" indent="0" marL="0">
              <a:buNone/>
            </a:pPr>
            <a:r>
              <a:rPr lang="en-US" sz="2600" b="1" dirty="0">
                <a:solidFill>
                  <a:srgbClr val="00C9C8"/>
                </a:solidFill>
                <a:latin typeface="Calibri" pitchFamily="34" charset="0"/>
                <a:ea typeface="Calibri" pitchFamily="34" charset="-122"/>
                <a:cs typeface="Calibri" pitchFamily="34" charset="-120"/>
              </a:rPr>
              <a:t>∂u/∂t  =  ∇ · ( D(x) ∇u )  +  ρ · u · ( 1 − u )</a:t>
            </a:r>
            <a:endParaRPr lang="en-US" sz="2600" dirty="0"/>
          </a:p>
        </p:txBody>
      </p:sp>
      <p:sp>
        <p:nvSpPr>
          <p:cNvPr id="9" name="Shape 7"/>
          <p:cNvSpPr/>
          <p:nvPr/>
        </p:nvSpPr>
        <p:spPr>
          <a:xfrm>
            <a:off x="914400" y="1627632"/>
            <a:ext cx="1417320" cy="457200"/>
          </a:xfrm>
          <a:prstGeom prst="rect">
            <a:avLst/>
          </a:prstGeom>
          <a:solidFill>
            <a:srgbClr val="FFFFFF"/>
          </a:solidFill>
          <a:ln w="12700">
            <a:solidFill>
              <a:srgbClr val="FFFFFF"/>
            </a:solidFill>
            <a:prstDash val="solid"/>
          </a:ln>
        </p:spPr>
      </p:sp>
      <p:sp>
        <p:nvSpPr>
          <p:cNvPr id="10" name="Text 8"/>
          <p:cNvSpPr/>
          <p:nvPr/>
        </p:nvSpPr>
        <p:spPr>
          <a:xfrm>
            <a:off x="914400" y="1627632"/>
            <a:ext cx="1417320" cy="457200"/>
          </a:xfrm>
          <a:prstGeom prst="rect">
            <a:avLst/>
          </a:prstGeom>
          <a:noFill/>
          <a:ln/>
        </p:spPr>
        <p:txBody>
          <a:bodyPr wrap="square" lIns="0" tIns="0" rIns="0" bIns="0" rtlCol="0" anchor="ctr"/>
          <a:lstStyle/>
          <a:p>
            <a:pPr algn="ctr" indent="0" marL="0">
              <a:buNone/>
            </a:pPr>
            <a:r>
              <a:rPr lang="en-US" sz="1200" b="1" dirty="0">
                <a:solidFill>
                  <a:srgbClr val="0B1E3D"/>
                </a:solidFill>
                <a:latin typeface="Calibri" pitchFamily="34" charset="0"/>
                <a:ea typeface="Calibri" pitchFamily="34" charset="-122"/>
                <a:cs typeface="Calibri" pitchFamily="34" charset="-120"/>
              </a:rPr>
              <a:t>u(x,t)</a:t>
            </a:r>
            <a:endParaRPr lang="en-US" sz="1200" dirty="0"/>
          </a:p>
        </p:txBody>
      </p:sp>
      <p:sp>
        <p:nvSpPr>
          <p:cNvPr id="11" name="Text 9"/>
          <p:cNvSpPr/>
          <p:nvPr/>
        </p:nvSpPr>
        <p:spPr>
          <a:xfrm>
            <a:off x="822960" y="2121408"/>
            <a:ext cx="1600200" cy="502920"/>
          </a:xfrm>
          <a:prstGeom prst="rect">
            <a:avLst/>
          </a:prstGeom>
          <a:noFill/>
          <a:ln/>
        </p:spPr>
        <p:txBody>
          <a:bodyPr wrap="square" lIns="0" tIns="0" rIns="0" bIns="0" rtlCol="0" anchor="ctr"/>
          <a:lstStyle/>
          <a:p>
            <a:pPr algn="ctr" indent="0" marL="0">
              <a:buNone/>
            </a:pPr>
            <a:r>
              <a:rPr lang="en-US" sz="950" dirty="0">
                <a:solidFill>
                  <a:srgbClr val="A0B8D8"/>
                </a:solidFill>
                <a:latin typeface="Calibri" pitchFamily="34" charset="0"/>
                <a:ea typeface="Calibri" pitchFamily="34" charset="-122"/>
                <a:cs typeface="Calibri" pitchFamily="34" charset="-120"/>
              </a:rPr>
              <a:t>Tumor cell density</a:t>
            </a:r>
            <a:endParaRPr lang="en-US" sz="950" dirty="0"/>
          </a:p>
          <a:p>
            <a:pPr algn="ctr" indent="0" marL="0">
              <a:buNone/>
            </a:pPr>
            <a:r>
              <a:rPr lang="en-US" sz="950" dirty="0">
                <a:solidFill>
                  <a:srgbClr val="A0B8D8"/>
                </a:solidFill>
                <a:latin typeface="Calibri" pitchFamily="34" charset="0"/>
                <a:ea typeface="Calibri" pitchFamily="34" charset="-122"/>
                <a:cs typeface="Calibri" pitchFamily="34" charset="-120"/>
              </a:rPr>
              <a:t>at position x, time t</a:t>
            </a:r>
            <a:endParaRPr lang="en-US" sz="950" dirty="0"/>
          </a:p>
        </p:txBody>
      </p:sp>
      <p:sp>
        <p:nvSpPr>
          <p:cNvPr id="12" name="Shape 10"/>
          <p:cNvSpPr/>
          <p:nvPr/>
        </p:nvSpPr>
        <p:spPr>
          <a:xfrm>
            <a:off x="2377440" y="1627632"/>
            <a:ext cx="1417320" cy="457200"/>
          </a:xfrm>
          <a:prstGeom prst="rect">
            <a:avLst/>
          </a:prstGeom>
          <a:solidFill>
            <a:srgbClr val="F5A623"/>
          </a:solidFill>
          <a:ln w="12700">
            <a:solidFill>
              <a:srgbClr val="F5A623"/>
            </a:solidFill>
            <a:prstDash val="solid"/>
          </a:ln>
        </p:spPr>
      </p:sp>
      <p:sp>
        <p:nvSpPr>
          <p:cNvPr id="13" name="Text 11"/>
          <p:cNvSpPr/>
          <p:nvPr/>
        </p:nvSpPr>
        <p:spPr>
          <a:xfrm>
            <a:off x="2377440" y="1627632"/>
            <a:ext cx="1417320" cy="457200"/>
          </a:xfrm>
          <a:prstGeom prst="rect">
            <a:avLst/>
          </a:prstGeom>
          <a:noFill/>
          <a:ln/>
        </p:spPr>
        <p:txBody>
          <a:bodyPr wrap="square" lIns="0" tIns="0" rIns="0" bIns="0" rtlCol="0" anchor="ctr"/>
          <a:lstStyle/>
          <a:p>
            <a:pPr algn="ctr" indent="0" marL="0">
              <a:buNone/>
            </a:pPr>
            <a:r>
              <a:rPr lang="en-US" sz="1200" b="1" dirty="0">
                <a:solidFill>
                  <a:srgbClr val="0B1E3D"/>
                </a:solidFill>
                <a:latin typeface="Calibri" pitchFamily="34" charset="0"/>
                <a:ea typeface="Calibri" pitchFamily="34" charset="-122"/>
                <a:cs typeface="Calibri" pitchFamily="34" charset="-120"/>
              </a:rPr>
              <a:t>∂u/∂t</a:t>
            </a:r>
            <a:endParaRPr lang="en-US" sz="1200" dirty="0"/>
          </a:p>
        </p:txBody>
      </p:sp>
      <p:sp>
        <p:nvSpPr>
          <p:cNvPr id="14" name="Text 12"/>
          <p:cNvSpPr/>
          <p:nvPr/>
        </p:nvSpPr>
        <p:spPr>
          <a:xfrm>
            <a:off x="2286000" y="2121408"/>
            <a:ext cx="1600200" cy="502920"/>
          </a:xfrm>
          <a:prstGeom prst="rect">
            <a:avLst/>
          </a:prstGeom>
          <a:noFill/>
          <a:ln/>
        </p:spPr>
        <p:txBody>
          <a:bodyPr wrap="square" lIns="0" tIns="0" rIns="0" bIns="0" rtlCol="0" anchor="ctr"/>
          <a:lstStyle/>
          <a:p>
            <a:pPr algn="ctr" indent="0" marL="0">
              <a:buNone/>
            </a:pPr>
            <a:r>
              <a:rPr lang="en-US" sz="950" dirty="0">
                <a:solidFill>
                  <a:srgbClr val="A0B8D8"/>
                </a:solidFill>
                <a:latin typeface="Calibri" pitchFamily="34" charset="0"/>
                <a:ea typeface="Calibri" pitchFamily="34" charset="-122"/>
                <a:cs typeface="Calibri" pitchFamily="34" charset="-120"/>
              </a:rPr>
              <a:t>Rate of change</a:t>
            </a:r>
            <a:endParaRPr lang="en-US" sz="950" dirty="0"/>
          </a:p>
          <a:p>
            <a:pPr algn="ctr" indent="0" marL="0">
              <a:buNone/>
            </a:pPr>
            <a:r>
              <a:rPr lang="en-US" sz="950" dirty="0">
                <a:solidFill>
                  <a:srgbClr val="A0B8D8"/>
                </a:solidFill>
                <a:latin typeface="Calibri" pitchFamily="34" charset="0"/>
                <a:ea typeface="Calibri" pitchFamily="34" charset="-122"/>
                <a:cs typeface="Calibri" pitchFamily="34" charset="-120"/>
              </a:rPr>
              <a:t>of cell density</a:t>
            </a:r>
            <a:endParaRPr lang="en-US" sz="950" dirty="0"/>
          </a:p>
        </p:txBody>
      </p:sp>
      <p:sp>
        <p:nvSpPr>
          <p:cNvPr id="15" name="Shape 13"/>
          <p:cNvSpPr/>
          <p:nvPr/>
        </p:nvSpPr>
        <p:spPr>
          <a:xfrm>
            <a:off x="4114800" y="1627632"/>
            <a:ext cx="1417320" cy="457200"/>
          </a:xfrm>
          <a:prstGeom prst="rect">
            <a:avLst/>
          </a:prstGeom>
          <a:solidFill>
            <a:srgbClr val="00C9C8"/>
          </a:solidFill>
          <a:ln w="12700">
            <a:solidFill>
              <a:srgbClr val="00C9C8"/>
            </a:solidFill>
            <a:prstDash val="solid"/>
          </a:ln>
        </p:spPr>
      </p:sp>
      <p:sp>
        <p:nvSpPr>
          <p:cNvPr id="16" name="Text 14"/>
          <p:cNvSpPr/>
          <p:nvPr/>
        </p:nvSpPr>
        <p:spPr>
          <a:xfrm>
            <a:off x="4114800" y="1627632"/>
            <a:ext cx="1417320" cy="457200"/>
          </a:xfrm>
          <a:prstGeom prst="rect">
            <a:avLst/>
          </a:prstGeom>
          <a:noFill/>
          <a:ln/>
        </p:spPr>
        <p:txBody>
          <a:bodyPr wrap="square" lIns="0" tIns="0" rIns="0" bIns="0" rtlCol="0" anchor="ctr"/>
          <a:lstStyle/>
          <a:p>
            <a:pPr algn="ctr" indent="0" marL="0">
              <a:buNone/>
            </a:pPr>
            <a:r>
              <a:rPr lang="en-US" sz="1200" b="1" dirty="0">
                <a:solidFill>
                  <a:srgbClr val="0B1E3D"/>
                </a:solidFill>
                <a:latin typeface="Calibri" pitchFamily="34" charset="0"/>
                <a:ea typeface="Calibri" pitchFamily="34" charset="-122"/>
                <a:cs typeface="Calibri" pitchFamily="34" charset="-120"/>
              </a:rPr>
              <a:t>∇·(D(x)∇u)</a:t>
            </a:r>
            <a:endParaRPr lang="en-US" sz="1200" dirty="0"/>
          </a:p>
        </p:txBody>
      </p:sp>
      <p:sp>
        <p:nvSpPr>
          <p:cNvPr id="17" name="Text 15"/>
          <p:cNvSpPr/>
          <p:nvPr/>
        </p:nvSpPr>
        <p:spPr>
          <a:xfrm>
            <a:off x="4023360" y="2121408"/>
            <a:ext cx="1600200" cy="502920"/>
          </a:xfrm>
          <a:prstGeom prst="rect">
            <a:avLst/>
          </a:prstGeom>
          <a:noFill/>
          <a:ln/>
        </p:spPr>
        <p:txBody>
          <a:bodyPr wrap="square" lIns="0" tIns="0" rIns="0" bIns="0" rtlCol="0" anchor="ctr"/>
          <a:lstStyle/>
          <a:p>
            <a:pPr algn="ctr" indent="0" marL="0">
              <a:buNone/>
            </a:pPr>
            <a:r>
              <a:rPr lang="en-US" sz="950" dirty="0">
                <a:solidFill>
                  <a:srgbClr val="A0B8D8"/>
                </a:solidFill>
                <a:latin typeface="Calibri" pitchFamily="34" charset="0"/>
                <a:ea typeface="Calibri" pitchFamily="34" charset="-122"/>
                <a:cs typeface="Calibri" pitchFamily="34" charset="-120"/>
              </a:rPr>
              <a:t>Diffusion term</a:t>
            </a:r>
            <a:endParaRPr lang="en-US" sz="950" dirty="0"/>
          </a:p>
          <a:p>
            <a:pPr algn="ctr" indent="0" marL="0">
              <a:buNone/>
            </a:pPr>
            <a:r>
              <a:rPr lang="en-US" sz="950" dirty="0">
                <a:solidFill>
                  <a:srgbClr val="A0B8D8"/>
                </a:solidFill>
                <a:latin typeface="Calibri" pitchFamily="34" charset="0"/>
                <a:ea typeface="Calibri" pitchFamily="34" charset="-122"/>
                <a:cs typeface="Calibri" pitchFamily="34" charset="-120"/>
              </a:rPr>
              <a:t>(spatial spread)</a:t>
            </a:r>
            <a:endParaRPr lang="en-US" sz="950" dirty="0"/>
          </a:p>
        </p:txBody>
      </p:sp>
      <p:sp>
        <p:nvSpPr>
          <p:cNvPr id="18" name="Shape 16"/>
          <p:cNvSpPr/>
          <p:nvPr/>
        </p:nvSpPr>
        <p:spPr>
          <a:xfrm>
            <a:off x="6217920" y="1627632"/>
            <a:ext cx="1417320" cy="457200"/>
          </a:xfrm>
          <a:prstGeom prst="rect">
            <a:avLst/>
          </a:prstGeom>
          <a:solidFill>
            <a:srgbClr val="C080F0"/>
          </a:solidFill>
          <a:ln w="12700">
            <a:solidFill>
              <a:srgbClr val="C080F0"/>
            </a:solidFill>
            <a:prstDash val="solid"/>
          </a:ln>
        </p:spPr>
      </p:sp>
      <p:sp>
        <p:nvSpPr>
          <p:cNvPr id="19" name="Text 17"/>
          <p:cNvSpPr/>
          <p:nvPr/>
        </p:nvSpPr>
        <p:spPr>
          <a:xfrm>
            <a:off x="6217920" y="1627632"/>
            <a:ext cx="1417320" cy="457200"/>
          </a:xfrm>
          <a:prstGeom prst="rect">
            <a:avLst/>
          </a:prstGeom>
          <a:noFill/>
          <a:ln/>
        </p:spPr>
        <p:txBody>
          <a:bodyPr wrap="square" lIns="0" tIns="0" rIns="0" bIns="0" rtlCol="0" anchor="ctr"/>
          <a:lstStyle/>
          <a:p>
            <a:pPr algn="ctr" indent="0" marL="0">
              <a:buNone/>
            </a:pPr>
            <a:r>
              <a:rPr lang="en-US" sz="1200" b="1" dirty="0">
                <a:solidFill>
                  <a:srgbClr val="0B1E3D"/>
                </a:solidFill>
                <a:latin typeface="Calibri" pitchFamily="34" charset="0"/>
                <a:ea typeface="Calibri" pitchFamily="34" charset="-122"/>
                <a:cs typeface="Calibri" pitchFamily="34" charset="-120"/>
              </a:rPr>
              <a:t>ρ·u(1−u)</a:t>
            </a:r>
            <a:endParaRPr lang="en-US" sz="1200" dirty="0"/>
          </a:p>
        </p:txBody>
      </p:sp>
      <p:sp>
        <p:nvSpPr>
          <p:cNvPr id="20" name="Text 18"/>
          <p:cNvSpPr/>
          <p:nvPr/>
        </p:nvSpPr>
        <p:spPr>
          <a:xfrm>
            <a:off x="6126480" y="2121408"/>
            <a:ext cx="1600200" cy="502920"/>
          </a:xfrm>
          <a:prstGeom prst="rect">
            <a:avLst/>
          </a:prstGeom>
          <a:noFill/>
          <a:ln/>
        </p:spPr>
        <p:txBody>
          <a:bodyPr wrap="square" lIns="0" tIns="0" rIns="0" bIns="0" rtlCol="0" anchor="ctr"/>
          <a:lstStyle/>
          <a:p>
            <a:pPr algn="ctr" indent="0" marL="0">
              <a:buNone/>
            </a:pPr>
            <a:r>
              <a:rPr lang="en-US" sz="950" dirty="0">
                <a:solidFill>
                  <a:srgbClr val="A0B8D8"/>
                </a:solidFill>
                <a:latin typeface="Calibri" pitchFamily="34" charset="0"/>
                <a:ea typeface="Calibri" pitchFamily="34" charset="-122"/>
                <a:cs typeface="Calibri" pitchFamily="34" charset="-120"/>
              </a:rPr>
              <a:t>Logistic growth</a:t>
            </a:r>
            <a:endParaRPr lang="en-US" sz="950" dirty="0"/>
          </a:p>
          <a:p>
            <a:pPr algn="ctr" indent="0" marL="0">
              <a:buNone/>
            </a:pPr>
            <a:r>
              <a:rPr lang="en-US" sz="950" dirty="0">
                <a:solidFill>
                  <a:srgbClr val="A0B8D8"/>
                </a:solidFill>
                <a:latin typeface="Calibri" pitchFamily="34" charset="0"/>
                <a:ea typeface="Calibri" pitchFamily="34" charset="-122"/>
                <a:cs typeface="Calibri" pitchFamily="34" charset="-120"/>
              </a:rPr>
              <a:t>(proliferation)</a:t>
            </a:r>
            <a:endParaRPr lang="en-US" sz="950" dirty="0"/>
          </a:p>
        </p:txBody>
      </p:sp>
      <p:sp>
        <p:nvSpPr>
          <p:cNvPr id="21" name="Text 19"/>
          <p:cNvSpPr/>
          <p:nvPr/>
        </p:nvSpPr>
        <p:spPr>
          <a:xfrm>
            <a:off x="274320" y="2724912"/>
            <a:ext cx="8595360" cy="27432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Biophysical Parameter Reference  (Swanson 2000; Harpold 2007)</a:t>
            </a:r>
            <a:endParaRPr lang="en-US" sz="1100" dirty="0"/>
          </a:p>
        </p:txBody>
      </p:sp>
      <p:sp>
        <p:nvSpPr>
          <p:cNvPr id="22" name="Shape 20"/>
          <p:cNvSpPr/>
          <p:nvPr/>
        </p:nvSpPr>
        <p:spPr>
          <a:xfrm>
            <a:off x="274320" y="3017520"/>
            <a:ext cx="8595360" cy="384048"/>
          </a:xfrm>
          <a:prstGeom prst="rect">
            <a:avLst/>
          </a:prstGeom>
          <a:solidFill>
            <a:srgbClr val="0D2748"/>
          </a:solidFill>
          <a:ln w="12700">
            <a:solidFill>
              <a:srgbClr val="1A3A60"/>
            </a:solidFill>
            <a:prstDash val="solid"/>
          </a:ln>
        </p:spPr>
      </p:sp>
      <p:sp>
        <p:nvSpPr>
          <p:cNvPr id="23" name="Text 21"/>
          <p:cNvSpPr/>
          <p:nvPr/>
        </p:nvSpPr>
        <p:spPr>
          <a:xfrm>
            <a:off x="411480" y="3017520"/>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D_WM  (White Matter)</a:t>
            </a:r>
            <a:endParaRPr lang="en-US" sz="1100" dirty="0"/>
          </a:p>
        </p:txBody>
      </p:sp>
      <p:sp>
        <p:nvSpPr>
          <p:cNvPr id="24" name="Text 22"/>
          <p:cNvSpPr/>
          <p:nvPr/>
        </p:nvSpPr>
        <p:spPr>
          <a:xfrm>
            <a:off x="3063240" y="3017520"/>
            <a:ext cx="2011680" cy="384048"/>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0.05 – 0.10 mm²/day</a:t>
            </a:r>
            <a:endParaRPr lang="en-US" sz="1100" dirty="0"/>
          </a:p>
        </p:txBody>
      </p:sp>
      <p:sp>
        <p:nvSpPr>
          <p:cNvPr id="25" name="Text 23"/>
          <p:cNvSpPr/>
          <p:nvPr/>
        </p:nvSpPr>
        <p:spPr>
          <a:xfrm>
            <a:off x="5166360" y="3017520"/>
            <a:ext cx="3566160" cy="384048"/>
          </a:xfrm>
          <a:prstGeom prst="rect">
            <a:avLst/>
          </a:prstGeom>
          <a:noFill/>
          <a:ln/>
        </p:spPr>
        <p:txBody>
          <a:bodyPr wrap="square" lIns="0" tIns="0" rIns="0" bIns="0" rtlCol="0" anchor="ctr"/>
          <a:lstStyle/>
          <a:p>
            <a:pPr indent="0" marL="0">
              <a:buNone/>
            </a:pPr>
            <a:r>
              <a:rPr lang="en-US" sz="1050" i="1" dirty="0">
                <a:solidFill>
                  <a:srgbClr val="8090A0"/>
                </a:solidFill>
                <a:latin typeface="Calibri" pitchFamily="34" charset="0"/>
                <a:ea typeface="Calibri" pitchFamily="34" charset="-122"/>
                <a:cs typeface="Calibri" pitchFamily="34" charset="-120"/>
              </a:rPr>
              <a:t>Tumor 'highways' along axon tracts</a:t>
            </a:r>
            <a:endParaRPr lang="en-US" sz="1050" dirty="0"/>
          </a:p>
        </p:txBody>
      </p:sp>
      <p:sp>
        <p:nvSpPr>
          <p:cNvPr id="26" name="Shape 24"/>
          <p:cNvSpPr/>
          <p:nvPr/>
        </p:nvSpPr>
        <p:spPr>
          <a:xfrm>
            <a:off x="274320" y="3419856"/>
            <a:ext cx="8595360" cy="384048"/>
          </a:xfrm>
          <a:prstGeom prst="rect">
            <a:avLst/>
          </a:prstGeom>
          <a:solidFill>
            <a:srgbClr val="0A1E38"/>
          </a:solidFill>
          <a:ln w="12700">
            <a:solidFill>
              <a:srgbClr val="1A3A60"/>
            </a:solidFill>
            <a:prstDash val="solid"/>
          </a:ln>
        </p:spPr>
      </p:sp>
      <p:sp>
        <p:nvSpPr>
          <p:cNvPr id="27" name="Text 25"/>
          <p:cNvSpPr/>
          <p:nvPr/>
        </p:nvSpPr>
        <p:spPr>
          <a:xfrm>
            <a:off x="411480" y="3419856"/>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D_GM  (Grey Matter)</a:t>
            </a:r>
            <a:endParaRPr lang="en-US" sz="1100" dirty="0"/>
          </a:p>
        </p:txBody>
      </p:sp>
      <p:sp>
        <p:nvSpPr>
          <p:cNvPr id="28" name="Text 26"/>
          <p:cNvSpPr/>
          <p:nvPr/>
        </p:nvSpPr>
        <p:spPr>
          <a:xfrm>
            <a:off x="3063240" y="3419856"/>
            <a:ext cx="2011680" cy="384048"/>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0.01 – 0.02 mm²/day</a:t>
            </a:r>
            <a:endParaRPr lang="en-US" sz="1100" dirty="0"/>
          </a:p>
        </p:txBody>
      </p:sp>
      <p:sp>
        <p:nvSpPr>
          <p:cNvPr id="29" name="Text 27"/>
          <p:cNvSpPr/>
          <p:nvPr/>
        </p:nvSpPr>
        <p:spPr>
          <a:xfrm>
            <a:off x="5166360" y="3419856"/>
            <a:ext cx="3566160" cy="384048"/>
          </a:xfrm>
          <a:prstGeom prst="rect">
            <a:avLst/>
          </a:prstGeom>
          <a:noFill/>
          <a:ln/>
        </p:spPr>
        <p:txBody>
          <a:bodyPr wrap="square" lIns="0" tIns="0" rIns="0" bIns="0" rtlCol="0" anchor="ctr"/>
          <a:lstStyle/>
          <a:p>
            <a:pPr indent="0" marL="0">
              <a:buNone/>
            </a:pPr>
            <a:r>
              <a:rPr lang="en-US" sz="1050" i="1" dirty="0">
                <a:solidFill>
                  <a:srgbClr val="8090A0"/>
                </a:solidFill>
                <a:latin typeface="Calibri" pitchFamily="34" charset="0"/>
                <a:ea typeface="Calibri" pitchFamily="34" charset="-122"/>
                <a:cs typeface="Calibri" pitchFamily="34" charset="-120"/>
              </a:rPr>
              <a:t>Dense tissue — slow infiltration</a:t>
            </a:r>
            <a:endParaRPr lang="en-US" sz="1050" dirty="0"/>
          </a:p>
        </p:txBody>
      </p:sp>
      <p:sp>
        <p:nvSpPr>
          <p:cNvPr id="30" name="Shape 28"/>
          <p:cNvSpPr/>
          <p:nvPr/>
        </p:nvSpPr>
        <p:spPr>
          <a:xfrm>
            <a:off x="274320" y="3822192"/>
            <a:ext cx="8595360" cy="384048"/>
          </a:xfrm>
          <a:prstGeom prst="rect">
            <a:avLst/>
          </a:prstGeom>
          <a:solidFill>
            <a:srgbClr val="0D2748"/>
          </a:solidFill>
          <a:ln w="12700">
            <a:solidFill>
              <a:srgbClr val="1A3A60"/>
            </a:solidFill>
            <a:prstDash val="solid"/>
          </a:ln>
        </p:spPr>
      </p:sp>
      <p:sp>
        <p:nvSpPr>
          <p:cNvPr id="31" name="Text 29"/>
          <p:cNvSpPr/>
          <p:nvPr/>
        </p:nvSpPr>
        <p:spPr>
          <a:xfrm>
            <a:off x="411480" y="3822192"/>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ρ  (Proliferation)</a:t>
            </a:r>
            <a:endParaRPr lang="en-US" sz="1100" dirty="0"/>
          </a:p>
        </p:txBody>
      </p:sp>
      <p:sp>
        <p:nvSpPr>
          <p:cNvPr id="32" name="Text 30"/>
          <p:cNvSpPr/>
          <p:nvPr/>
        </p:nvSpPr>
        <p:spPr>
          <a:xfrm>
            <a:off x="3063240" y="3822192"/>
            <a:ext cx="2011680" cy="384048"/>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0.012 – 0.025 /day</a:t>
            </a:r>
            <a:endParaRPr lang="en-US" sz="1100" dirty="0"/>
          </a:p>
        </p:txBody>
      </p:sp>
      <p:sp>
        <p:nvSpPr>
          <p:cNvPr id="33" name="Text 31"/>
          <p:cNvSpPr/>
          <p:nvPr/>
        </p:nvSpPr>
        <p:spPr>
          <a:xfrm>
            <a:off x="5166360" y="3822192"/>
            <a:ext cx="3566160" cy="384048"/>
          </a:xfrm>
          <a:prstGeom prst="rect">
            <a:avLst/>
          </a:prstGeom>
          <a:noFill/>
          <a:ln/>
        </p:spPr>
        <p:txBody>
          <a:bodyPr wrap="square" lIns="0" tIns="0" rIns="0" bIns="0" rtlCol="0" anchor="ctr"/>
          <a:lstStyle/>
          <a:p>
            <a:pPr indent="0" marL="0">
              <a:buNone/>
            </a:pPr>
            <a:r>
              <a:rPr lang="en-US" sz="1050" i="1" dirty="0">
                <a:solidFill>
                  <a:srgbClr val="8090A0"/>
                </a:solidFill>
                <a:latin typeface="Calibri" pitchFamily="34" charset="0"/>
                <a:ea typeface="Calibri" pitchFamily="34" charset="-122"/>
                <a:cs typeface="Calibri" pitchFamily="34" charset="-120"/>
              </a:rPr>
              <a:t>~36–72 hr cell division cycle</a:t>
            </a:r>
            <a:endParaRPr lang="en-US" sz="1050" dirty="0"/>
          </a:p>
        </p:txBody>
      </p:sp>
      <p:sp>
        <p:nvSpPr>
          <p:cNvPr id="34" name="Shape 32"/>
          <p:cNvSpPr/>
          <p:nvPr/>
        </p:nvSpPr>
        <p:spPr>
          <a:xfrm>
            <a:off x="274320" y="4224528"/>
            <a:ext cx="8595360" cy="384048"/>
          </a:xfrm>
          <a:prstGeom prst="rect">
            <a:avLst/>
          </a:prstGeom>
          <a:solidFill>
            <a:srgbClr val="0A1E38"/>
          </a:solidFill>
          <a:ln w="12700">
            <a:solidFill>
              <a:srgbClr val="1A3A60"/>
            </a:solidFill>
            <a:prstDash val="solid"/>
          </a:ln>
        </p:spPr>
      </p:sp>
      <p:sp>
        <p:nvSpPr>
          <p:cNvPr id="35" name="Text 33"/>
          <p:cNvSpPr/>
          <p:nvPr/>
        </p:nvSpPr>
        <p:spPr>
          <a:xfrm>
            <a:off x="411480" y="4224528"/>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  (Carrying Capacity)</a:t>
            </a:r>
            <a:endParaRPr lang="en-US" sz="1100" dirty="0"/>
          </a:p>
        </p:txBody>
      </p:sp>
      <p:sp>
        <p:nvSpPr>
          <p:cNvPr id="36" name="Text 34"/>
          <p:cNvSpPr/>
          <p:nvPr/>
        </p:nvSpPr>
        <p:spPr>
          <a:xfrm>
            <a:off x="3063240" y="4224528"/>
            <a:ext cx="2011680" cy="384048"/>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1.0 (normalized)</a:t>
            </a:r>
            <a:endParaRPr lang="en-US" sz="1100" dirty="0"/>
          </a:p>
        </p:txBody>
      </p:sp>
      <p:sp>
        <p:nvSpPr>
          <p:cNvPr id="37" name="Text 35"/>
          <p:cNvSpPr/>
          <p:nvPr/>
        </p:nvSpPr>
        <p:spPr>
          <a:xfrm>
            <a:off x="5166360" y="4224528"/>
            <a:ext cx="3566160" cy="384048"/>
          </a:xfrm>
          <a:prstGeom prst="rect">
            <a:avLst/>
          </a:prstGeom>
          <a:noFill/>
          <a:ln/>
        </p:spPr>
        <p:txBody>
          <a:bodyPr wrap="square" lIns="0" tIns="0" rIns="0" bIns="0" rtlCol="0" anchor="ctr"/>
          <a:lstStyle/>
          <a:p>
            <a:pPr indent="0" marL="0">
              <a:buNone/>
            </a:pPr>
            <a:r>
              <a:rPr lang="en-US" sz="1050" i="1" dirty="0">
                <a:solidFill>
                  <a:srgbClr val="8090A0"/>
                </a:solidFill>
                <a:latin typeface="Calibri" pitchFamily="34" charset="0"/>
                <a:ea typeface="Calibri" pitchFamily="34" charset="-122"/>
                <a:cs typeface="Calibri" pitchFamily="34" charset="-120"/>
              </a:rPr>
              <a:t>Maximum cell packing = 1 cell/voxel</a:t>
            </a:r>
            <a:endParaRPr lang="en-US" sz="1050" dirty="0"/>
          </a:p>
        </p:txBody>
      </p:sp>
      <p:sp>
        <p:nvSpPr>
          <p:cNvPr id="38" name="Shape 36"/>
          <p:cNvSpPr/>
          <p:nvPr/>
        </p:nvSpPr>
        <p:spPr>
          <a:xfrm>
            <a:off x="274320" y="4626864"/>
            <a:ext cx="8595360" cy="384048"/>
          </a:xfrm>
          <a:prstGeom prst="rect">
            <a:avLst/>
          </a:prstGeom>
          <a:solidFill>
            <a:srgbClr val="0D2748"/>
          </a:solidFill>
          <a:ln w="12700">
            <a:solidFill>
              <a:srgbClr val="1A3A60"/>
            </a:solidFill>
            <a:prstDash val="solid"/>
          </a:ln>
        </p:spPr>
      </p:sp>
      <p:sp>
        <p:nvSpPr>
          <p:cNvPr id="39" name="Text 37"/>
          <p:cNvSpPr/>
          <p:nvPr/>
        </p:nvSpPr>
        <p:spPr>
          <a:xfrm>
            <a:off x="411480" y="4626864"/>
            <a:ext cx="25603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Δt  (Synthetic)</a:t>
            </a:r>
            <a:endParaRPr lang="en-US" sz="1100" dirty="0"/>
          </a:p>
        </p:txBody>
      </p:sp>
      <p:sp>
        <p:nvSpPr>
          <p:cNvPr id="40" name="Text 38"/>
          <p:cNvSpPr/>
          <p:nvPr/>
        </p:nvSpPr>
        <p:spPr>
          <a:xfrm>
            <a:off x="3063240" y="4626864"/>
            <a:ext cx="2011680" cy="384048"/>
          </a:xfrm>
          <a:prstGeom prst="rect">
            <a:avLst/>
          </a:prstGeom>
          <a:noFill/>
          <a:ln/>
        </p:spPr>
        <p:txBody>
          <a:bodyPr wrap="square" lIns="0" tIns="0" rIns="0" bIns="0" rtlCol="0" anchor="ctr"/>
          <a:lstStyle/>
          <a:p>
            <a:pPr indent="0" marL="0">
              <a:buNone/>
            </a:pPr>
            <a:r>
              <a:rPr lang="en-US" sz="1100" b="1" dirty="0">
                <a:solidFill>
                  <a:srgbClr val="00C9C8"/>
                </a:solidFill>
                <a:latin typeface="Calibri" pitchFamily="34" charset="0"/>
                <a:ea typeface="Calibri" pitchFamily="34" charset="-122"/>
                <a:cs typeface="Calibri" pitchFamily="34" charset="-120"/>
              </a:rPr>
              <a:t>90 days</a:t>
            </a:r>
            <a:endParaRPr lang="en-US" sz="1100" dirty="0"/>
          </a:p>
        </p:txBody>
      </p:sp>
      <p:sp>
        <p:nvSpPr>
          <p:cNvPr id="41" name="Text 39"/>
          <p:cNvSpPr/>
          <p:nvPr/>
        </p:nvSpPr>
        <p:spPr>
          <a:xfrm>
            <a:off x="5166360" y="4626864"/>
            <a:ext cx="3566160" cy="384048"/>
          </a:xfrm>
          <a:prstGeom prst="rect">
            <a:avLst/>
          </a:prstGeom>
          <a:noFill/>
          <a:ln/>
        </p:spPr>
        <p:txBody>
          <a:bodyPr wrap="square" lIns="0" tIns="0" rIns="0" bIns="0" rtlCol="0" anchor="ctr"/>
          <a:lstStyle/>
          <a:p>
            <a:pPr indent="0" marL="0">
              <a:buNone/>
            </a:pPr>
            <a:r>
              <a:rPr lang="en-US" sz="1050" i="1" dirty="0">
                <a:solidFill>
                  <a:srgbClr val="8090A0"/>
                </a:solidFill>
                <a:latin typeface="Calibri" pitchFamily="34" charset="0"/>
                <a:ea typeface="Calibri" pitchFamily="34" charset="-122"/>
                <a:cs typeface="Calibri" pitchFamily="34" charset="-120"/>
              </a:rPr>
              <a:t>Typical glioma re-scan interval</a:t>
            </a:r>
            <a:endParaRPr lang="en-US" sz="1050" dirty="0"/>
          </a:p>
        </p:txBody>
      </p:sp>
      <p:sp>
        <p:nvSpPr>
          <p:cNvPr id="42" name="Text 40"/>
          <p:cNvSpPr/>
          <p:nvPr/>
        </p:nvSpPr>
        <p:spPr>
          <a:xfrm>
            <a:off x="274320" y="5029200"/>
            <a:ext cx="8595360" cy="182880"/>
          </a:xfrm>
          <a:prstGeom prst="rect">
            <a:avLst/>
          </a:prstGeom>
          <a:noFill/>
          <a:ln/>
        </p:spPr>
        <p:txBody>
          <a:bodyPr wrap="square" lIns="0" tIns="0" rIns="0" bIns="0" rtlCol="0" anchor="ctr"/>
          <a:lstStyle/>
          <a:p>
            <a:pPr indent="0" marL="0">
              <a:buNone/>
            </a:pPr>
            <a:r>
              <a:rPr lang="en-US" sz="950" i="1" dirty="0">
                <a:solidFill>
                  <a:srgbClr val="6090A0"/>
                </a:solidFill>
                <a:latin typeface="Calibri" pitchFamily="34" charset="0"/>
                <a:ea typeface="Calibri" pitchFamily="34" charset="-122"/>
                <a:cs typeface="Calibri" pitchFamily="34" charset="-120"/>
              </a:rPr>
              <a:t>Boundary Condition: ∇u · n̂ = 0  (Neumann — no-flux at brain boundary; tumor stays within brain)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Segmentation → Density Mapping — Bridging DL and Physics</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15 / 20</a:t>
            </a:r>
            <a:endParaRPr lang="en-US" sz="900" dirty="0"/>
          </a:p>
        </p:txBody>
      </p:sp>
      <p:sp>
        <p:nvSpPr>
          <p:cNvPr id="6" name="Shape 4"/>
          <p:cNvSpPr/>
          <p:nvPr/>
        </p:nvSpPr>
        <p:spPr>
          <a:xfrm>
            <a:off x="228600" y="804672"/>
            <a:ext cx="2926080" cy="4160520"/>
          </a:xfrm>
          <a:prstGeom prst="rect">
            <a:avLst/>
          </a:prstGeom>
          <a:solidFill>
            <a:srgbClr val="0B1E3D"/>
          </a:solidFill>
          <a:ln w="12700">
            <a:solidFill>
              <a:srgbClr val="0B1E3D"/>
            </a:solidFill>
            <a:prstDash val="solid"/>
          </a:ln>
        </p:spPr>
      </p:sp>
      <p:sp>
        <p:nvSpPr>
          <p:cNvPr id="7" name="Shape 5"/>
          <p:cNvSpPr/>
          <p:nvPr/>
        </p:nvSpPr>
        <p:spPr>
          <a:xfrm>
            <a:off x="228600" y="804672"/>
            <a:ext cx="2926080" cy="320040"/>
          </a:xfrm>
          <a:prstGeom prst="rect">
            <a:avLst/>
          </a:prstGeom>
          <a:solidFill>
            <a:srgbClr val="8B1A00"/>
          </a:solidFill>
          <a:ln w="12700">
            <a:solidFill>
              <a:srgbClr val="8B1A00"/>
            </a:solidFill>
            <a:prstDash val="solid"/>
          </a:ln>
        </p:spPr>
      </p:sp>
      <p:sp>
        <p:nvSpPr>
          <p:cNvPr id="8" name="Text 6"/>
          <p:cNvSpPr/>
          <p:nvPr/>
        </p:nvSpPr>
        <p:spPr>
          <a:xfrm>
            <a:off x="320040" y="804672"/>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9" name="Text 7"/>
          <p:cNvSpPr/>
          <p:nvPr/>
        </p:nvSpPr>
        <p:spPr>
          <a:xfrm>
            <a:off x="320040" y="1170432"/>
            <a:ext cx="2697480" cy="3566160"/>
          </a:xfrm>
          <a:prstGeom prst="rect">
            <a:avLst/>
          </a:prstGeom>
          <a:noFill/>
          <a:ln/>
        </p:spPr>
        <p:txBody>
          <a:bodyPr wrap="square" lIns="0" tIns="0" rIns="0" bIns="0" rtlCol="0" anchor="ctr"/>
          <a:lstStyle/>
          <a:p>
            <a:pPr indent="0" marL="0">
              <a:buNone/>
            </a:pPr>
            <a:r>
              <a:rPr lang="en-US" sz="1100" dirty="0">
                <a:solidFill>
                  <a:srgbClr val="A0C0E0"/>
                </a:solidFill>
                <a:latin typeface="Calibri" pitchFamily="34" charset="0"/>
                <a:ea typeface="Calibri" pitchFamily="34" charset="-122"/>
                <a:cs typeface="Calibri" pitchFamily="34" charset="-120"/>
              </a:rPr>
              <a:t>Fisher-KPP operates on </a:t>
            </a:r>
            <a:pPr indent="0" marL="0">
              <a:buNone/>
            </a:pPr>
            <a:r>
              <a:rPr lang="en-US" sz="1100" b="1" dirty="0">
                <a:solidFill>
                  <a:srgbClr val="00C9C8"/>
                </a:solidFill>
                <a:latin typeface="Calibri" pitchFamily="34" charset="0"/>
                <a:ea typeface="Calibri" pitchFamily="34" charset="-122"/>
                <a:cs typeface="Calibri" pitchFamily="34" charset="-120"/>
              </a:rPr>
              <a:t>continuous density u ∈ [0,1]</a:t>
            </a:r>
            <a:pPr indent="0" marL="0">
              <a:buNone/>
            </a:pPr>
            <a:endParaRPr lang="en-US" sz="1100" dirty="0"/>
          </a:p>
          <a:p>
            <a:pPr indent="0" marL="0">
              <a:buNone/>
            </a:pPr>
            <a:endParaRPr lang="en-US" sz="1100" dirty="0"/>
          </a:p>
          <a:p>
            <a:pPr indent="0" marL="0">
              <a:buNone/>
            </a:pPr>
            <a:r>
              <a:rPr lang="en-US" sz="1100" dirty="0">
                <a:solidFill>
                  <a:srgbClr val="A0C0E0"/>
                </a:solidFill>
                <a:latin typeface="Calibri" pitchFamily="34" charset="0"/>
                <a:ea typeface="Calibri" pitchFamily="34" charset="-122"/>
                <a:cs typeface="Calibri" pitchFamily="34" charset="-120"/>
              </a:rPr>
              <a:t>BraTS labels are </a:t>
            </a:r>
            <a:endParaRPr lang="en-US" sz="1100" dirty="0"/>
          </a:p>
          <a:p>
            <a:pPr indent="0" marL="0">
              <a:buNone/>
            </a:pPr>
            <a:r>
              <a:rPr lang="en-US" sz="1100" b="1" dirty="0">
                <a:solidFill>
                  <a:srgbClr val="E74C3C"/>
                </a:solidFill>
                <a:latin typeface="Calibri" pitchFamily="34" charset="0"/>
                <a:ea typeface="Calibri" pitchFamily="34" charset="-122"/>
                <a:cs typeface="Calibri" pitchFamily="34" charset="-120"/>
              </a:rPr>
              <a:t>integers {0, 1, 2, 3}</a:t>
            </a:r>
            <a:pPr indent="0" marL="0">
              <a:buNone/>
            </a:pPr>
            <a:endParaRPr lang="en-US" sz="1100" dirty="0"/>
          </a:p>
          <a:p>
            <a:pPr indent="0" marL="0">
              <a:buNone/>
            </a:pPr>
            <a:endParaRPr lang="en-US" sz="1100" dirty="0"/>
          </a:p>
          <a:p>
            <a:pPr indent="0" marL="0">
              <a:buNone/>
            </a:pPr>
            <a:r>
              <a:rPr lang="en-US" sz="1100" dirty="0">
                <a:solidFill>
                  <a:srgbClr val="A0C0E0"/>
                </a:solidFill>
                <a:latin typeface="Calibri" pitchFamily="34" charset="0"/>
                <a:ea typeface="Calibri" pitchFamily="34" charset="-122"/>
                <a:cs typeface="Calibri" pitchFamily="34" charset="-120"/>
              </a:rPr>
              <a:t>We cannot compute ∇²u on discrete integers — the derivative is undefined.</a:t>
            </a:r>
            <a:endParaRPr lang="en-US" sz="1100" dirty="0"/>
          </a:p>
          <a:p>
            <a:pPr indent="0" marL="0">
              <a:buNone/>
            </a:pPr>
            <a:endParaRPr lang="en-US" sz="1100" dirty="0"/>
          </a:p>
          <a:p>
            <a:pPr indent="0" marL="0">
              <a:buNone/>
            </a:pPr>
            <a:endParaRPr lang="en-US" sz="1100" dirty="0"/>
          </a:p>
          <a:p>
            <a:pPr indent="0" marL="0">
              <a:buNone/>
            </a:pPr>
            <a:r>
              <a:rPr lang="en-US" sz="1100" dirty="0">
                <a:solidFill>
                  <a:srgbClr val="A0C0E0"/>
                </a:solidFill>
                <a:latin typeface="Calibri" pitchFamily="34" charset="0"/>
                <a:ea typeface="Calibri" pitchFamily="34" charset="-122"/>
                <a:cs typeface="Calibri" pitchFamily="34" charset="-120"/>
              </a:rPr>
              <a:t>The mapping must be:</a:t>
            </a:r>
            <a:endParaRPr lang="en-US" sz="1100" dirty="0"/>
          </a:p>
          <a:p>
            <a:pPr indent="0" marL="0">
              <a:buNone/>
            </a:pPr>
            <a:endParaRPr lang="en-US" sz="1100" dirty="0"/>
          </a:p>
          <a:p>
            <a:pPr indent="0" marL="0">
              <a:buNone/>
            </a:pPr>
            <a:r>
              <a:rPr lang="en-US" sz="1100" dirty="0">
                <a:solidFill>
                  <a:srgbClr val="00C9C8"/>
                </a:solidFill>
                <a:latin typeface="Calibri" pitchFamily="34" charset="0"/>
                <a:ea typeface="Calibri" pitchFamily="34" charset="-122"/>
                <a:cs typeface="Calibri" pitchFamily="34" charset="-120"/>
              </a:rPr>
              <a:t>• Biologically justified</a:t>
            </a:r>
            <a:endParaRPr lang="en-US" sz="1100" dirty="0"/>
          </a:p>
          <a:p>
            <a:pPr indent="0" marL="0">
              <a:buNone/>
            </a:pPr>
            <a:r>
              <a:rPr lang="en-US" sz="1100" dirty="0">
                <a:solidFill>
                  <a:srgbClr val="00C9C8"/>
                </a:solidFill>
                <a:latin typeface="Calibri" pitchFamily="34" charset="0"/>
                <a:ea typeface="Calibri" pitchFamily="34" charset="-122"/>
                <a:cs typeface="Calibri" pitchFamily="34" charset="-120"/>
              </a:rPr>
              <a:t>• Smooth at boundaries</a:t>
            </a:r>
            <a:endParaRPr lang="en-US" sz="1100" dirty="0"/>
          </a:p>
          <a:p>
            <a:pPr indent="0" marL="0">
              <a:buNone/>
            </a:pPr>
            <a:r>
              <a:rPr lang="en-US" sz="1100" dirty="0">
                <a:solidFill>
                  <a:srgbClr val="00C9C8"/>
                </a:solidFill>
                <a:latin typeface="Calibri" pitchFamily="34" charset="0"/>
                <a:ea typeface="Calibri" pitchFamily="34" charset="-122"/>
                <a:cs typeface="Calibri" pitchFamily="34" charset="-120"/>
              </a:rPr>
              <a:t>• Within [0,1] for PDE stability</a:t>
            </a:r>
            <a:endParaRPr lang="en-US" sz="1100" dirty="0"/>
          </a:p>
        </p:txBody>
      </p:sp>
      <p:sp>
        <p:nvSpPr>
          <p:cNvPr id="10" name="Shape 8"/>
          <p:cNvSpPr/>
          <p:nvPr/>
        </p:nvSpPr>
        <p:spPr>
          <a:xfrm>
            <a:off x="3291840" y="2651760"/>
            <a:ext cx="502920" cy="54864"/>
          </a:xfrm>
          <a:prstGeom prst="rect">
            <a:avLst/>
          </a:prstGeom>
          <a:solidFill>
            <a:srgbClr val="F5A623"/>
          </a:solidFill>
          <a:ln w="12700">
            <a:solidFill>
              <a:srgbClr val="F5A623"/>
            </a:solidFill>
            <a:prstDash val="solid"/>
          </a:ln>
        </p:spPr>
      </p:sp>
      <p:sp>
        <p:nvSpPr>
          <p:cNvPr id="11" name="Shape 9"/>
          <p:cNvSpPr/>
          <p:nvPr/>
        </p:nvSpPr>
        <p:spPr>
          <a:xfrm>
            <a:off x="3291840" y="2542032"/>
            <a:ext cx="502920" cy="274320"/>
          </a:xfrm>
          <a:prstGeom prst="right_arrow">
            <a:avLst/>
          </a:prstGeom>
          <a:solidFill>
            <a:srgbClr val="F5A623"/>
          </a:solidFill>
          <a:ln w="12700">
            <a:solidFill>
              <a:srgbClr val="F5A623"/>
            </a:solidFill>
            <a:prstDash val="solid"/>
          </a:ln>
        </p:spPr>
      </p:sp>
      <p:sp>
        <p:nvSpPr>
          <p:cNvPr id="12" name="Shape 10"/>
          <p:cNvSpPr/>
          <p:nvPr/>
        </p:nvSpPr>
        <p:spPr>
          <a:xfrm>
            <a:off x="3931920" y="804672"/>
            <a:ext cx="4937760" cy="4160520"/>
          </a:xfrm>
          <a:prstGeom prst="rect">
            <a:avLst/>
          </a:prstGeom>
          <a:solidFill>
            <a:srgbClr val="FFFFFF"/>
          </a:solidFill>
          <a:ln w="12700">
            <a:solidFill>
              <a:srgbClr val="D0DCF0"/>
            </a:solidFill>
            <a:prstDash val="solid"/>
          </a:ln>
        </p:spPr>
      </p:sp>
      <p:sp>
        <p:nvSpPr>
          <p:cNvPr id="13" name="Shape 11"/>
          <p:cNvSpPr/>
          <p:nvPr/>
        </p:nvSpPr>
        <p:spPr>
          <a:xfrm>
            <a:off x="3931920" y="804672"/>
            <a:ext cx="4937760" cy="320040"/>
          </a:xfrm>
          <a:prstGeom prst="rect">
            <a:avLst/>
          </a:prstGeom>
          <a:solidFill>
            <a:srgbClr val="27AE60"/>
          </a:solidFill>
          <a:ln w="12700">
            <a:solidFill>
              <a:srgbClr val="27AE60"/>
            </a:solidFill>
            <a:prstDash val="solid"/>
          </a:ln>
        </p:spPr>
      </p:sp>
      <p:sp>
        <p:nvSpPr>
          <p:cNvPr id="14" name="Text 12"/>
          <p:cNvSpPr/>
          <p:nvPr/>
        </p:nvSpPr>
        <p:spPr>
          <a:xfrm>
            <a:off x="4023360" y="804672"/>
            <a:ext cx="47548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Biophysical Density Assignment  (Swanson 2000)</a:t>
            </a:r>
            <a:endParaRPr lang="en-US" sz="1200" dirty="0"/>
          </a:p>
        </p:txBody>
      </p:sp>
      <p:sp>
        <p:nvSpPr>
          <p:cNvPr id="15" name="Shape 13"/>
          <p:cNvSpPr/>
          <p:nvPr/>
        </p:nvSpPr>
        <p:spPr>
          <a:xfrm>
            <a:off x="4023360" y="1188720"/>
            <a:ext cx="4754880" cy="822960"/>
          </a:xfrm>
          <a:prstGeom prst="rect">
            <a:avLst/>
          </a:prstGeom>
          <a:solidFill>
            <a:srgbClr val="F5F8FF"/>
          </a:solidFill>
          <a:ln w="12700">
            <a:solidFill>
              <a:srgbClr val="E0E8F8"/>
            </a:solidFill>
            <a:prstDash val="solid"/>
          </a:ln>
        </p:spPr>
      </p:sp>
      <p:sp>
        <p:nvSpPr>
          <p:cNvPr id="16" name="Shape 14"/>
          <p:cNvSpPr/>
          <p:nvPr/>
        </p:nvSpPr>
        <p:spPr>
          <a:xfrm>
            <a:off x="4023360" y="1188720"/>
            <a:ext cx="365760" cy="822960"/>
          </a:xfrm>
          <a:prstGeom prst="rect">
            <a:avLst/>
          </a:prstGeom>
          <a:solidFill>
            <a:srgbClr val="7090A8"/>
          </a:solidFill>
          <a:ln w="12700">
            <a:solidFill>
              <a:srgbClr val="7090A8"/>
            </a:solidFill>
            <a:prstDash val="solid"/>
          </a:ln>
        </p:spPr>
      </p:sp>
      <p:sp>
        <p:nvSpPr>
          <p:cNvPr id="17" name="Text 15"/>
          <p:cNvSpPr/>
          <p:nvPr/>
        </p:nvSpPr>
        <p:spPr>
          <a:xfrm>
            <a:off x="4023360" y="1188720"/>
            <a:ext cx="36576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L=0</a:t>
            </a:r>
            <a:endParaRPr lang="en-US" sz="1100" dirty="0"/>
          </a:p>
        </p:txBody>
      </p:sp>
      <p:sp>
        <p:nvSpPr>
          <p:cNvPr id="18" name="Text 16"/>
          <p:cNvSpPr/>
          <p:nvPr/>
        </p:nvSpPr>
        <p:spPr>
          <a:xfrm>
            <a:off x="4462272" y="1225296"/>
            <a:ext cx="2103120" cy="256032"/>
          </a:xfrm>
          <a:prstGeom prst="rect">
            <a:avLst/>
          </a:prstGeom>
          <a:noFill/>
          <a:ln/>
        </p:spPr>
        <p:txBody>
          <a:bodyPr wrap="square" lIns="0" tIns="0" rIns="0" bIns="0" rtlCol="0" anchor="ctr"/>
          <a:lstStyle/>
          <a:p>
            <a:pPr indent="0" marL="0">
              <a:buNone/>
            </a:pPr>
            <a:r>
              <a:rPr lang="en-US" sz="1200" b="1" dirty="0">
                <a:solidFill>
                  <a:srgbClr val="7090A8"/>
                </a:solidFill>
                <a:latin typeface="Calibri" pitchFamily="34" charset="0"/>
                <a:ea typeface="Calibri" pitchFamily="34" charset="-122"/>
                <a:cs typeface="Calibri" pitchFamily="34" charset="-120"/>
              </a:rPr>
              <a:t>Background</a:t>
            </a:r>
            <a:endParaRPr lang="en-US" sz="1200" dirty="0"/>
          </a:p>
        </p:txBody>
      </p:sp>
      <p:sp>
        <p:nvSpPr>
          <p:cNvPr id="19" name="Shape 17"/>
          <p:cNvSpPr/>
          <p:nvPr/>
        </p:nvSpPr>
        <p:spPr>
          <a:xfrm>
            <a:off x="4462272" y="1517904"/>
            <a:ext cx="2103120" cy="164592"/>
          </a:xfrm>
          <a:prstGeom prst="rect">
            <a:avLst/>
          </a:prstGeom>
          <a:solidFill>
            <a:srgbClr val="E0E8F8"/>
          </a:solidFill>
          <a:ln w="12700">
            <a:solidFill>
              <a:srgbClr val="C0D0E8"/>
            </a:solidFill>
            <a:prstDash val="solid"/>
          </a:ln>
        </p:spPr>
      </p:sp>
      <p:sp>
        <p:nvSpPr>
          <p:cNvPr id="20" name="Text 18"/>
          <p:cNvSpPr/>
          <p:nvPr/>
        </p:nvSpPr>
        <p:spPr>
          <a:xfrm>
            <a:off x="6656832" y="1490472"/>
            <a:ext cx="731520" cy="228600"/>
          </a:xfrm>
          <a:prstGeom prst="rect">
            <a:avLst/>
          </a:prstGeom>
          <a:noFill/>
          <a:ln/>
        </p:spPr>
        <p:txBody>
          <a:bodyPr wrap="square" lIns="0" tIns="0" rIns="0" bIns="0" rtlCol="0" anchor="ctr"/>
          <a:lstStyle/>
          <a:p>
            <a:pPr indent="0" marL="0">
              <a:buNone/>
            </a:pPr>
            <a:r>
              <a:rPr lang="en-US" sz="1100" b="1" dirty="0">
                <a:solidFill>
                  <a:srgbClr val="7090A8"/>
                </a:solidFill>
                <a:latin typeface="Calibri" pitchFamily="34" charset="0"/>
                <a:ea typeface="Calibri" pitchFamily="34" charset="-122"/>
                <a:cs typeface="Calibri" pitchFamily="34" charset="-120"/>
              </a:rPr>
              <a:t>u = 0.00</a:t>
            </a:r>
            <a:endParaRPr lang="en-US" sz="1100" dirty="0"/>
          </a:p>
        </p:txBody>
      </p:sp>
      <p:sp>
        <p:nvSpPr>
          <p:cNvPr id="21" name="Text 19"/>
          <p:cNvSpPr/>
          <p:nvPr/>
        </p:nvSpPr>
        <p:spPr>
          <a:xfrm>
            <a:off x="4462272" y="1737360"/>
            <a:ext cx="4407408" cy="256032"/>
          </a:xfrm>
          <a:prstGeom prst="rect">
            <a:avLst/>
          </a:prstGeom>
          <a:noFill/>
          <a:ln/>
        </p:spPr>
        <p:txBody>
          <a:bodyPr wrap="square" lIns="0" tIns="0" rIns="0" bIns="0" rtlCol="0" anchor="ctr"/>
          <a:lstStyle/>
          <a:p>
            <a:pPr indent="0" marL="0">
              <a:buNone/>
            </a:pPr>
            <a:r>
              <a:rPr lang="en-US" sz="950" i="1" dirty="0">
                <a:solidFill>
                  <a:srgbClr val="3A5070"/>
                </a:solidFill>
                <a:latin typeface="Calibri" pitchFamily="34" charset="0"/>
                <a:ea typeface="Calibri" pitchFamily="34" charset="-122"/>
                <a:cs typeface="Calibri" pitchFamily="34" charset="-120"/>
              </a:rPr>
              <a:t>No tumor cells. Zero by definition.</a:t>
            </a:r>
            <a:endParaRPr lang="en-US" sz="950" dirty="0"/>
          </a:p>
        </p:txBody>
      </p:sp>
      <p:sp>
        <p:nvSpPr>
          <p:cNvPr id="22" name="Shape 20"/>
          <p:cNvSpPr/>
          <p:nvPr/>
        </p:nvSpPr>
        <p:spPr>
          <a:xfrm>
            <a:off x="4023360" y="2103120"/>
            <a:ext cx="4754880" cy="822960"/>
          </a:xfrm>
          <a:prstGeom prst="rect">
            <a:avLst/>
          </a:prstGeom>
          <a:solidFill>
            <a:srgbClr val="F5F8FF"/>
          </a:solidFill>
          <a:ln w="12700">
            <a:solidFill>
              <a:srgbClr val="E0E8F8"/>
            </a:solidFill>
            <a:prstDash val="solid"/>
          </a:ln>
        </p:spPr>
      </p:sp>
      <p:sp>
        <p:nvSpPr>
          <p:cNvPr id="23" name="Shape 21"/>
          <p:cNvSpPr/>
          <p:nvPr/>
        </p:nvSpPr>
        <p:spPr>
          <a:xfrm>
            <a:off x="4023360" y="2103120"/>
            <a:ext cx="365760" cy="822960"/>
          </a:xfrm>
          <a:prstGeom prst="rect">
            <a:avLst/>
          </a:prstGeom>
          <a:solidFill>
            <a:srgbClr val="F5A623"/>
          </a:solidFill>
          <a:ln w="12700">
            <a:solidFill>
              <a:srgbClr val="F5A623"/>
            </a:solidFill>
            <a:prstDash val="solid"/>
          </a:ln>
        </p:spPr>
      </p:sp>
      <p:sp>
        <p:nvSpPr>
          <p:cNvPr id="24" name="Text 22"/>
          <p:cNvSpPr/>
          <p:nvPr/>
        </p:nvSpPr>
        <p:spPr>
          <a:xfrm>
            <a:off x="4023360" y="2103120"/>
            <a:ext cx="36576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L=2</a:t>
            </a:r>
            <a:endParaRPr lang="en-US" sz="1100" dirty="0"/>
          </a:p>
        </p:txBody>
      </p:sp>
      <p:sp>
        <p:nvSpPr>
          <p:cNvPr id="25" name="Text 23"/>
          <p:cNvSpPr/>
          <p:nvPr/>
        </p:nvSpPr>
        <p:spPr>
          <a:xfrm>
            <a:off x="4462272" y="2139696"/>
            <a:ext cx="2103120" cy="256032"/>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Edema (ED)</a:t>
            </a:r>
            <a:endParaRPr lang="en-US" sz="1200" dirty="0"/>
          </a:p>
        </p:txBody>
      </p:sp>
      <p:sp>
        <p:nvSpPr>
          <p:cNvPr id="26" name="Shape 24"/>
          <p:cNvSpPr/>
          <p:nvPr/>
        </p:nvSpPr>
        <p:spPr>
          <a:xfrm>
            <a:off x="4462272" y="2432304"/>
            <a:ext cx="2103120" cy="164592"/>
          </a:xfrm>
          <a:prstGeom prst="rect">
            <a:avLst/>
          </a:prstGeom>
          <a:solidFill>
            <a:srgbClr val="E0E8F8"/>
          </a:solidFill>
          <a:ln w="12700">
            <a:solidFill>
              <a:srgbClr val="C0D0E8"/>
            </a:solidFill>
            <a:prstDash val="solid"/>
          </a:ln>
        </p:spPr>
      </p:sp>
      <p:sp>
        <p:nvSpPr>
          <p:cNvPr id="27" name="Shape 25"/>
          <p:cNvSpPr/>
          <p:nvPr/>
        </p:nvSpPr>
        <p:spPr>
          <a:xfrm>
            <a:off x="4462272" y="2432304"/>
            <a:ext cx="420624" cy="164592"/>
          </a:xfrm>
          <a:prstGeom prst="rect">
            <a:avLst/>
          </a:prstGeom>
          <a:solidFill>
            <a:srgbClr val="F5A623"/>
          </a:solidFill>
          <a:ln w="12700">
            <a:solidFill>
              <a:srgbClr val="F5A623"/>
            </a:solidFill>
            <a:prstDash val="solid"/>
          </a:ln>
        </p:spPr>
      </p:sp>
      <p:sp>
        <p:nvSpPr>
          <p:cNvPr id="28" name="Text 26"/>
          <p:cNvSpPr/>
          <p:nvPr/>
        </p:nvSpPr>
        <p:spPr>
          <a:xfrm>
            <a:off x="6656832" y="2404872"/>
            <a:ext cx="731520" cy="22860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u = 0.20</a:t>
            </a:r>
            <a:endParaRPr lang="en-US" sz="1100" dirty="0"/>
          </a:p>
        </p:txBody>
      </p:sp>
      <p:sp>
        <p:nvSpPr>
          <p:cNvPr id="29" name="Text 27"/>
          <p:cNvSpPr/>
          <p:nvPr/>
        </p:nvSpPr>
        <p:spPr>
          <a:xfrm>
            <a:off x="4462272" y="2651760"/>
            <a:ext cx="4407408" cy="256032"/>
          </a:xfrm>
          <a:prstGeom prst="rect">
            <a:avLst/>
          </a:prstGeom>
          <a:noFill/>
          <a:ln/>
        </p:spPr>
        <p:txBody>
          <a:bodyPr wrap="square" lIns="0" tIns="0" rIns="0" bIns="0" rtlCol="0" anchor="ctr"/>
          <a:lstStyle/>
          <a:p>
            <a:pPr indent="0" marL="0">
              <a:buNone/>
            </a:pPr>
            <a:r>
              <a:rPr lang="en-US" sz="950" i="1" dirty="0">
                <a:solidFill>
                  <a:srgbClr val="3A5070"/>
                </a:solidFill>
                <a:latin typeface="Calibri" pitchFamily="34" charset="0"/>
                <a:ea typeface="Calibri" pitchFamily="34" charset="-122"/>
                <a:cs typeface="Calibri" pitchFamily="34" charset="-120"/>
              </a:rPr>
              <a:t>Sparse infiltration beyond core. Cells diffusing outward — below carrying capacity.</a:t>
            </a:r>
            <a:endParaRPr lang="en-US" sz="950" dirty="0"/>
          </a:p>
        </p:txBody>
      </p:sp>
      <p:sp>
        <p:nvSpPr>
          <p:cNvPr id="30" name="Shape 28"/>
          <p:cNvSpPr/>
          <p:nvPr/>
        </p:nvSpPr>
        <p:spPr>
          <a:xfrm>
            <a:off x="4023360" y="3017520"/>
            <a:ext cx="4754880" cy="822960"/>
          </a:xfrm>
          <a:prstGeom prst="rect">
            <a:avLst/>
          </a:prstGeom>
          <a:solidFill>
            <a:srgbClr val="F5F8FF"/>
          </a:solidFill>
          <a:ln w="12700">
            <a:solidFill>
              <a:srgbClr val="E0E8F8"/>
            </a:solidFill>
            <a:prstDash val="solid"/>
          </a:ln>
        </p:spPr>
      </p:sp>
      <p:sp>
        <p:nvSpPr>
          <p:cNvPr id="31" name="Shape 29"/>
          <p:cNvSpPr/>
          <p:nvPr/>
        </p:nvSpPr>
        <p:spPr>
          <a:xfrm>
            <a:off x="4023360" y="3017520"/>
            <a:ext cx="365760" cy="822960"/>
          </a:xfrm>
          <a:prstGeom prst="rect">
            <a:avLst/>
          </a:prstGeom>
          <a:solidFill>
            <a:srgbClr val="8060A0"/>
          </a:solidFill>
          <a:ln w="12700">
            <a:solidFill>
              <a:srgbClr val="8060A0"/>
            </a:solidFill>
            <a:prstDash val="solid"/>
          </a:ln>
        </p:spPr>
      </p:sp>
      <p:sp>
        <p:nvSpPr>
          <p:cNvPr id="32" name="Text 30"/>
          <p:cNvSpPr/>
          <p:nvPr/>
        </p:nvSpPr>
        <p:spPr>
          <a:xfrm>
            <a:off x="4023360" y="3017520"/>
            <a:ext cx="36576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L=1</a:t>
            </a:r>
            <a:endParaRPr lang="en-US" sz="1100" dirty="0"/>
          </a:p>
        </p:txBody>
      </p:sp>
      <p:sp>
        <p:nvSpPr>
          <p:cNvPr id="33" name="Text 31"/>
          <p:cNvSpPr/>
          <p:nvPr/>
        </p:nvSpPr>
        <p:spPr>
          <a:xfrm>
            <a:off x="4462272" y="3054096"/>
            <a:ext cx="2103120" cy="256032"/>
          </a:xfrm>
          <a:prstGeom prst="rect">
            <a:avLst/>
          </a:prstGeom>
          <a:noFill/>
          <a:ln/>
        </p:spPr>
        <p:txBody>
          <a:bodyPr wrap="square" lIns="0" tIns="0" rIns="0" bIns="0" rtlCol="0" anchor="ctr"/>
          <a:lstStyle/>
          <a:p>
            <a:pPr indent="0" marL="0">
              <a:buNone/>
            </a:pPr>
            <a:r>
              <a:rPr lang="en-US" sz="1200" b="1" dirty="0">
                <a:solidFill>
                  <a:srgbClr val="8060A0"/>
                </a:solidFill>
                <a:latin typeface="Calibri" pitchFamily="34" charset="0"/>
                <a:ea typeface="Calibri" pitchFamily="34" charset="-122"/>
                <a:cs typeface="Calibri" pitchFamily="34" charset="-120"/>
              </a:rPr>
              <a:t>Necrotic Core (NCR)</a:t>
            </a:r>
            <a:endParaRPr lang="en-US" sz="1200" dirty="0"/>
          </a:p>
        </p:txBody>
      </p:sp>
      <p:sp>
        <p:nvSpPr>
          <p:cNvPr id="34" name="Shape 32"/>
          <p:cNvSpPr/>
          <p:nvPr/>
        </p:nvSpPr>
        <p:spPr>
          <a:xfrm>
            <a:off x="4462272" y="3346704"/>
            <a:ext cx="2103120" cy="164592"/>
          </a:xfrm>
          <a:prstGeom prst="rect">
            <a:avLst/>
          </a:prstGeom>
          <a:solidFill>
            <a:srgbClr val="E0E8F8"/>
          </a:solidFill>
          <a:ln w="12700">
            <a:solidFill>
              <a:srgbClr val="C0D0E8"/>
            </a:solidFill>
            <a:prstDash val="solid"/>
          </a:ln>
        </p:spPr>
      </p:sp>
      <p:sp>
        <p:nvSpPr>
          <p:cNvPr id="35" name="Shape 33"/>
          <p:cNvSpPr/>
          <p:nvPr/>
        </p:nvSpPr>
        <p:spPr>
          <a:xfrm>
            <a:off x="4462272" y="3346704"/>
            <a:ext cx="1261872" cy="164592"/>
          </a:xfrm>
          <a:prstGeom prst="rect">
            <a:avLst/>
          </a:prstGeom>
          <a:solidFill>
            <a:srgbClr val="8060A0"/>
          </a:solidFill>
          <a:ln w="12700">
            <a:solidFill>
              <a:srgbClr val="8060A0"/>
            </a:solidFill>
            <a:prstDash val="solid"/>
          </a:ln>
        </p:spPr>
      </p:sp>
      <p:sp>
        <p:nvSpPr>
          <p:cNvPr id="36" name="Text 34"/>
          <p:cNvSpPr/>
          <p:nvPr/>
        </p:nvSpPr>
        <p:spPr>
          <a:xfrm>
            <a:off x="6656832" y="3319272"/>
            <a:ext cx="731520" cy="228600"/>
          </a:xfrm>
          <a:prstGeom prst="rect">
            <a:avLst/>
          </a:prstGeom>
          <a:noFill/>
          <a:ln/>
        </p:spPr>
        <p:txBody>
          <a:bodyPr wrap="square" lIns="0" tIns="0" rIns="0" bIns="0" rtlCol="0" anchor="ctr"/>
          <a:lstStyle/>
          <a:p>
            <a:pPr indent="0" marL="0">
              <a:buNone/>
            </a:pPr>
            <a:r>
              <a:rPr lang="en-US" sz="1100" b="1" dirty="0">
                <a:solidFill>
                  <a:srgbClr val="8060A0"/>
                </a:solidFill>
                <a:latin typeface="Calibri" pitchFamily="34" charset="0"/>
                <a:ea typeface="Calibri" pitchFamily="34" charset="-122"/>
                <a:cs typeface="Calibri" pitchFamily="34" charset="-120"/>
              </a:rPr>
              <a:t>u = 0.60</a:t>
            </a:r>
            <a:endParaRPr lang="en-US" sz="1100" dirty="0"/>
          </a:p>
        </p:txBody>
      </p:sp>
      <p:sp>
        <p:nvSpPr>
          <p:cNvPr id="37" name="Text 35"/>
          <p:cNvSpPr/>
          <p:nvPr/>
        </p:nvSpPr>
        <p:spPr>
          <a:xfrm>
            <a:off x="4462272" y="3566160"/>
            <a:ext cx="4407408" cy="256032"/>
          </a:xfrm>
          <a:prstGeom prst="rect">
            <a:avLst/>
          </a:prstGeom>
          <a:noFill/>
          <a:ln/>
        </p:spPr>
        <p:txBody>
          <a:bodyPr wrap="square" lIns="0" tIns="0" rIns="0" bIns="0" rtlCol="0" anchor="ctr"/>
          <a:lstStyle/>
          <a:p>
            <a:pPr indent="0" marL="0">
              <a:buNone/>
            </a:pPr>
            <a:r>
              <a:rPr lang="en-US" sz="950" i="1" dirty="0">
                <a:solidFill>
                  <a:srgbClr val="3A5070"/>
                </a:solidFill>
                <a:latin typeface="Calibri" pitchFamily="34" charset="0"/>
                <a:ea typeface="Calibri" pitchFamily="34" charset="-122"/>
                <a:cs typeface="Calibri" pitchFamily="34" charset="-120"/>
              </a:rPr>
              <a:t>Dead cells pack densely. Not alive, but physically occupying space — moderate density.</a:t>
            </a:r>
            <a:endParaRPr lang="en-US" sz="950" dirty="0"/>
          </a:p>
        </p:txBody>
      </p:sp>
      <p:sp>
        <p:nvSpPr>
          <p:cNvPr id="38" name="Shape 36"/>
          <p:cNvSpPr/>
          <p:nvPr/>
        </p:nvSpPr>
        <p:spPr>
          <a:xfrm>
            <a:off x="4023360" y="3931920"/>
            <a:ext cx="4754880" cy="822960"/>
          </a:xfrm>
          <a:prstGeom prst="rect">
            <a:avLst/>
          </a:prstGeom>
          <a:solidFill>
            <a:srgbClr val="F5F8FF"/>
          </a:solidFill>
          <a:ln w="12700">
            <a:solidFill>
              <a:srgbClr val="E0E8F8"/>
            </a:solidFill>
            <a:prstDash val="solid"/>
          </a:ln>
        </p:spPr>
      </p:sp>
      <p:sp>
        <p:nvSpPr>
          <p:cNvPr id="39" name="Shape 37"/>
          <p:cNvSpPr/>
          <p:nvPr/>
        </p:nvSpPr>
        <p:spPr>
          <a:xfrm>
            <a:off x="4023360" y="3931920"/>
            <a:ext cx="365760" cy="822960"/>
          </a:xfrm>
          <a:prstGeom prst="rect">
            <a:avLst/>
          </a:prstGeom>
          <a:solidFill>
            <a:srgbClr val="E74C3C"/>
          </a:solidFill>
          <a:ln w="12700">
            <a:solidFill>
              <a:srgbClr val="E74C3C"/>
            </a:solidFill>
            <a:prstDash val="solid"/>
          </a:ln>
        </p:spPr>
      </p:sp>
      <p:sp>
        <p:nvSpPr>
          <p:cNvPr id="40" name="Text 38"/>
          <p:cNvSpPr/>
          <p:nvPr/>
        </p:nvSpPr>
        <p:spPr>
          <a:xfrm>
            <a:off x="4023360" y="3931920"/>
            <a:ext cx="36576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a:t>
            </a:r>
            <a:endParaRPr lang="en-US" sz="1100" dirty="0"/>
          </a:p>
        </p:txBody>
      </p:sp>
      <p:sp>
        <p:nvSpPr>
          <p:cNvPr id="41" name="Text 39"/>
          <p:cNvSpPr/>
          <p:nvPr/>
        </p:nvSpPr>
        <p:spPr>
          <a:xfrm>
            <a:off x="4462272" y="3968496"/>
            <a:ext cx="2103120" cy="256032"/>
          </a:xfrm>
          <a:prstGeom prst="rect">
            <a:avLst/>
          </a:prstGeom>
          <a:noFill/>
          <a:ln/>
        </p:spPr>
        <p:txBody>
          <a:bodyPr wrap="square" lIns="0" tIns="0" rIns="0" bIns="0" rtlCol="0" anchor="ctr"/>
          <a:lstStyle/>
          <a:p>
            <a:pPr indent="0" marL="0">
              <a:buNone/>
            </a:pPr>
            <a:r>
              <a:rPr lang="en-US" sz="1200" b="1" dirty="0">
                <a:solidFill>
                  <a:srgbClr val="E74C3C"/>
                </a:solidFill>
                <a:latin typeface="Calibri" pitchFamily="34" charset="0"/>
                <a:ea typeface="Calibri" pitchFamily="34" charset="-122"/>
                <a:cs typeface="Calibri" pitchFamily="34" charset="-120"/>
              </a:rPr>
              <a:t>Enhancing Tumor (ET)</a:t>
            </a:r>
            <a:endParaRPr lang="en-US" sz="1200" dirty="0"/>
          </a:p>
        </p:txBody>
      </p:sp>
      <p:sp>
        <p:nvSpPr>
          <p:cNvPr id="42" name="Shape 40"/>
          <p:cNvSpPr/>
          <p:nvPr/>
        </p:nvSpPr>
        <p:spPr>
          <a:xfrm>
            <a:off x="4462272" y="4261104"/>
            <a:ext cx="2103120" cy="164592"/>
          </a:xfrm>
          <a:prstGeom prst="rect">
            <a:avLst/>
          </a:prstGeom>
          <a:solidFill>
            <a:srgbClr val="E0E8F8"/>
          </a:solidFill>
          <a:ln w="12700">
            <a:solidFill>
              <a:srgbClr val="C0D0E8"/>
            </a:solidFill>
            <a:prstDash val="solid"/>
          </a:ln>
        </p:spPr>
      </p:sp>
      <p:sp>
        <p:nvSpPr>
          <p:cNvPr id="43" name="Shape 41"/>
          <p:cNvSpPr/>
          <p:nvPr/>
        </p:nvSpPr>
        <p:spPr>
          <a:xfrm>
            <a:off x="4462272" y="4261104"/>
            <a:ext cx="2103120" cy="164592"/>
          </a:xfrm>
          <a:prstGeom prst="rect">
            <a:avLst/>
          </a:prstGeom>
          <a:solidFill>
            <a:srgbClr val="E74C3C"/>
          </a:solidFill>
          <a:ln w="12700">
            <a:solidFill>
              <a:srgbClr val="E74C3C"/>
            </a:solidFill>
            <a:prstDash val="solid"/>
          </a:ln>
        </p:spPr>
      </p:sp>
      <p:sp>
        <p:nvSpPr>
          <p:cNvPr id="44" name="Text 42"/>
          <p:cNvSpPr/>
          <p:nvPr/>
        </p:nvSpPr>
        <p:spPr>
          <a:xfrm>
            <a:off x="6656832" y="4233672"/>
            <a:ext cx="731520" cy="228600"/>
          </a:xfrm>
          <a:prstGeom prst="rect">
            <a:avLst/>
          </a:prstGeom>
          <a:noFill/>
          <a:ln/>
        </p:spPr>
        <p:txBody>
          <a:bodyPr wrap="square" lIns="0" tIns="0" rIns="0" bIns="0" rtlCol="0" anchor="ctr"/>
          <a:lstStyle/>
          <a:p>
            <a:pPr indent="0" marL="0">
              <a:buNone/>
            </a:pPr>
            <a:r>
              <a:rPr lang="en-US" sz="1100" b="1" dirty="0">
                <a:solidFill>
                  <a:srgbClr val="E74C3C"/>
                </a:solidFill>
                <a:latin typeface="Calibri" pitchFamily="34" charset="0"/>
                <a:ea typeface="Calibri" pitchFamily="34" charset="-122"/>
                <a:cs typeface="Calibri" pitchFamily="34" charset="-120"/>
              </a:rPr>
              <a:t>u = 1.00</a:t>
            </a:r>
            <a:endParaRPr lang="en-US" sz="1100" dirty="0"/>
          </a:p>
        </p:txBody>
      </p:sp>
      <p:sp>
        <p:nvSpPr>
          <p:cNvPr id="45" name="Text 43"/>
          <p:cNvSpPr/>
          <p:nvPr/>
        </p:nvSpPr>
        <p:spPr>
          <a:xfrm>
            <a:off x="4462272" y="4480560"/>
            <a:ext cx="4407408" cy="256032"/>
          </a:xfrm>
          <a:prstGeom prst="rect">
            <a:avLst/>
          </a:prstGeom>
          <a:noFill/>
          <a:ln/>
        </p:spPr>
        <p:txBody>
          <a:bodyPr wrap="square" lIns="0" tIns="0" rIns="0" bIns="0" rtlCol="0" anchor="ctr"/>
          <a:lstStyle/>
          <a:p>
            <a:pPr indent="0" marL="0">
              <a:buNone/>
            </a:pPr>
            <a:r>
              <a:rPr lang="en-US" sz="950" i="1" dirty="0">
                <a:solidFill>
                  <a:srgbClr val="3A5070"/>
                </a:solidFill>
                <a:latin typeface="Calibri" pitchFamily="34" charset="0"/>
                <a:ea typeface="Calibri" pitchFamily="34" charset="-122"/>
                <a:cs typeface="Calibri" pitchFamily="34" charset="-120"/>
              </a:rPr>
              <a:t>Maximally proliferating cells. At carrying capacity — fully packed, u = 1.0.</a:t>
            </a:r>
            <a:endParaRPr lang="en-US" sz="950" dirty="0"/>
          </a:p>
        </p:txBody>
      </p:sp>
      <p:sp>
        <p:nvSpPr>
          <p:cNvPr id="46" name="Text 44"/>
          <p:cNvSpPr/>
          <p:nvPr/>
        </p:nvSpPr>
        <p:spPr>
          <a:xfrm>
            <a:off x="4023360" y="4892040"/>
            <a:ext cx="4892040" cy="201168"/>
          </a:xfrm>
          <a:prstGeom prst="rect">
            <a:avLst/>
          </a:prstGeom>
          <a:noFill/>
          <a:ln/>
        </p:spPr>
        <p:txBody>
          <a:bodyPr wrap="square" lIns="0" tIns="0" rIns="0" bIns="0" rtlCol="0" anchor="ctr"/>
          <a:lstStyle/>
          <a:p>
            <a:pPr indent="0" marL="0">
              <a:buNone/>
            </a:pPr>
            <a:r>
              <a:rPr lang="en-US" sz="950" b="1" dirty="0">
                <a:solidFill>
                  <a:srgbClr val="009B9B"/>
                </a:solidFill>
                <a:latin typeface="Calibri" pitchFamily="34" charset="0"/>
                <a:ea typeface="Calibri" pitchFamily="34" charset="-122"/>
                <a:cs typeface="Calibri" pitchFamily="34" charset="-120"/>
              </a:rPr>
              <a:t>After mapping: Gaussian blur σ=2.0 voxels applied to soften sharp edges → models microscopic infiltration invisible on MRI</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Hybrid Neural Network Architecture — HybridTumorNet</a:t>
            </a:r>
            <a:endParaRPr lang="en-US" sz="2200" dirty="0"/>
          </a:p>
        </p:txBody>
      </p:sp>
      <p:sp>
        <p:nvSpPr>
          <p:cNvPr id="5" name="Shape 3"/>
          <p:cNvSpPr/>
          <p:nvPr/>
        </p:nvSpPr>
        <p:spPr>
          <a:xfrm>
            <a:off x="0" y="685800"/>
            <a:ext cx="9144000" cy="36576"/>
          </a:xfrm>
          <a:prstGeom prst="rect">
            <a:avLst/>
          </a:prstGeom>
          <a:solidFill>
            <a:srgbClr val="00C9C8"/>
          </a:solidFill>
          <a:ln w="12700">
            <a:solidFill>
              <a:srgbClr val="00C9C8"/>
            </a:solidFill>
            <a:prstDash val="solid"/>
          </a:ln>
        </p:spPr>
      </p:sp>
      <p:sp>
        <p:nvSpPr>
          <p:cNvPr id="6" name="Text 4"/>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16 / 20</a:t>
            </a:r>
            <a:endParaRPr lang="en-US" sz="900" dirty="0"/>
          </a:p>
        </p:txBody>
      </p:sp>
      <p:sp>
        <p:nvSpPr>
          <p:cNvPr id="7" name="Shape 5"/>
          <p:cNvSpPr/>
          <p:nvPr/>
        </p:nvSpPr>
        <p:spPr>
          <a:xfrm>
            <a:off x="182880" y="822960"/>
            <a:ext cx="1417320" cy="3474720"/>
          </a:xfrm>
          <a:prstGeom prst="rect">
            <a:avLst/>
          </a:prstGeom>
          <a:solidFill>
            <a:srgbClr val="0D2748"/>
          </a:solidFill>
          <a:ln w="12700">
            <a:solidFill>
              <a:srgbClr val="00C9C8"/>
            </a:solidFill>
            <a:prstDash val="solid"/>
          </a:ln>
        </p:spPr>
      </p:sp>
      <p:sp>
        <p:nvSpPr>
          <p:cNvPr id="8" name="Text 6"/>
          <p:cNvSpPr/>
          <p:nvPr/>
        </p:nvSpPr>
        <p:spPr>
          <a:xfrm>
            <a:off x="182880" y="822960"/>
            <a:ext cx="1417320" cy="731520"/>
          </a:xfrm>
          <a:prstGeom prst="rect">
            <a:avLst/>
          </a:prstGeom>
          <a:noFill/>
          <a:ln/>
        </p:spPr>
        <p:txBody>
          <a:bodyPr wrap="square" lIns="0" tIns="0" rIns="0" bIns="0" rtlCol="0" anchor="ctr"/>
          <a:lstStyle/>
          <a:p>
            <a:pPr algn="ctr" indent="0" marL="0">
              <a:buNone/>
            </a:pPr>
            <a:r>
              <a:rPr lang="en-US" sz="1000" b="1" dirty="0">
                <a:solidFill>
                  <a:srgbClr val="00C9C8"/>
                </a:solidFill>
                <a:latin typeface="Calibri" pitchFamily="34" charset="0"/>
                <a:ea typeface="Calibri" pitchFamily="34" charset="-122"/>
                <a:cs typeface="Calibri" pitchFamily="34" charset="-120"/>
              </a:rPr>
              <a:t>INPUT</a:t>
            </a:r>
            <a:endParaRPr lang="en-US" sz="1000" dirty="0"/>
          </a:p>
          <a:p>
            <a:pPr algn="ctr" indent="0" marL="0">
              <a:buNone/>
            </a:pPr>
            <a:r>
              <a:rPr lang="en-US" sz="1000" b="1" dirty="0">
                <a:solidFill>
                  <a:srgbClr val="00C9C8"/>
                </a:solidFill>
                <a:latin typeface="Calibri" pitchFamily="34" charset="0"/>
                <a:ea typeface="Calibri" pitchFamily="34" charset="-122"/>
                <a:cs typeface="Calibri" pitchFamily="34" charset="-120"/>
              </a:rPr>
              <a:t>[B,4,64,64,64]</a:t>
            </a:r>
            <a:endParaRPr lang="en-US" sz="1000" dirty="0"/>
          </a:p>
        </p:txBody>
      </p:sp>
      <p:sp>
        <p:nvSpPr>
          <p:cNvPr id="9" name="Shape 7"/>
          <p:cNvSpPr/>
          <p:nvPr/>
        </p:nvSpPr>
        <p:spPr>
          <a:xfrm>
            <a:off x="320040" y="1600200"/>
            <a:ext cx="1097280" cy="502920"/>
          </a:xfrm>
          <a:prstGeom prst="rect">
            <a:avLst/>
          </a:prstGeom>
          <a:solidFill>
            <a:srgbClr val="111E30"/>
          </a:solidFill>
          <a:ln w="12700">
            <a:solidFill>
              <a:srgbClr val="1A4A7A"/>
            </a:solidFill>
            <a:prstDash val="solid"/>
          </a:ln>
        </p:spPr>
      </p:sp>
      <p:sp>
        <p:nvSpPr>
          <p:cNvPr id="10" name="Text 8"/>
          <p:cNvSpPr/>
          <p:nvPr/>
        </p:nvSpPr>
        <p:spPr>
          <a:xfrm>
            <a:off x="320040" y="1600200"/>
            <a:ext cx="109728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FLAIR</a:t>
            </a:r>
            <a:endParaRPr lang="en-US" sz="1000" dirty="0"/>
          </a:p>
        </p:txBody>
      </p:sp>
      <p:sp>
        <p:nvSpPr>
          <p:cNvPr id="11" name="Shape 9"/>
          <p:cNvSpPr/>
          <p:nvPr/>
        </p:nvSpPr>
        <p:spPr>
          <a:xfrm>
            <a:off x="320040" y="2167128"/>
            <a:ext cx="1097280" cy="502920"/>
          </a:xfrm>
          <a:prstGeom prst="rect">
            <a:avLst/>
          </a:prstGeom>
          <a:solidFill>
            <a:srgbClr val="111E30"/>
          </a:solidFill>
          <a:ln w="12700">
            <a:solidFill>
              <a:srgbClr val="1A4A7A"/>
            </a:solidFill>
            <a:prstDash val="solid"/>
          </a:ln>
        </p:spPr>
      </p:sp>
      <p:sp>
        <p:nvSpPr>
          <p:cNvPr id="12" name="Text 10"/>
          <p:cNvSpPr/>
          <p:nvPr/>
        </p:nvSpPr>
        <p:spPr>
          <a:xfrm>
            <a:off x="320040" y="2167128"/>
            <a:ext cx="109728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T1</a:t>
            </a:r>
            <a:endParaRPr lang="en-US" sz="1000" dirty="0"/>
          </a:p>
        </p:txBody>
      </p:sp>
      <p:sp>
        <p:nvSpPr>
          <p:cNvPr id="13" name="Shape 11"/>
          <p:cNvSpPr/>
          <p:nvPr/>
        </p:nvSpPr>
        <p:spPr>
          <a:xfrm>
            <a:off x="320040" y="2734056"/>
            <a:ext cx="1097280" cy="502920"/>
          </a:xfrm>
          <a:prstGeom prst="rect">
            <a:avLst/>
          </a:prstGeom>
          <a:solidFill>
            <a:srgbClr val="111E30"/>
          </a:solidFill>
          <a:ln w="12700">
            <a:solidFill>
              <a:srgbClr val="1A4A7A"/>
            </a:solidFill>
            <a:prstDash val="solid"/>
          </a:ln>
        </p:spPr>
      </p:sp>
      <p:sp>
        <p:nvSpPr>
          <p:cNvPr id="14" name="Text 12"/>
          <p:cNvSpPr/>
          <p:nvPr/>
        </p:nvSpPr>
        <p:spPr>
          <a:xfrm>
            <a:off x="320040" y="2734056"/>
            <a:ext cx="109728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T1ce</a:t>
            </a:r>
            <a:endParaRPr lang="en-US" sz="1000" dirty="0"/>
          </a:p>
        </p:txBody>
      </p:sp>
      <p:sp>
        <p:nvSpPr>
          <p:cNvPr id="15" name="Shape 13"/>
          <p:cNvSpPr/>
          <p:nvPr/>
        </p:nvSpPr>
        <p:spPr>
          <a:xfrm>
            <a:off x="320040" y="3300984"/>
            <a:ext cx="1097280" cy="502920"/>
          </a:xfrm>
          <a:prstGeom prst="rect">
            <a:avLst/>
          </a:prstGeom>
          <a:solidFill>
            <a:srgbClr val="111E30"/>
          </a:solidFill>
          <a:ln w="12700">
            <a:solidFill>
              <a:srgbClr val="1A4A7A"/>
            </a:solidFill>
            <a:prstDash val="solid"/>
          </a:ln>
        </p:spPr>
      </p:sp>
      <p:sp>
        <p:nvSpPr>
          <p:cNvPr id="16" name="Text 14"/>
          <p:cNvSpPr/>
          <p:nvPr/>
        </p:nvSpPr>
        <p:spPr>
          <a:xfrm>
            <a:off x="320040" y="3300984"/>
            <a:ext cx="109728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T2</a:t>
            </a:r>
            <a:endParaRPr lang="en-US" sz="1000" dirty="0"/>
          </a:p>
        </p:txBody>
      </p:sp>
      <p:sp>
        <p:nvSpPr>
          <p:cNvPr id="17" name="Shape 15"/>
          <p:cNvSpPr/>
          <p:nvPr/>
        </p:nvSpPr>
        <p:spPr>
          <a:xfrm>
            <a:off x="1691640" y="2468880"/>
            <a:ext cx="228600" cy="54864"/>
          </a:xfrm>
          <a:prstGeom prst="rect">
            <a:avLst/>
          </a:prstGeom>
          <a:solidFill>
            <a:srgbClr val="00C9C8"/>
          </a:solidFill>
          <a:ln w="12700">
            <a:solidFill>
              <a:srgbClr val="00C9C8"/>
            </a:solidFill>
            <a:prstDash val="solid"/>
          </a:ln>
        </p:spPr>
      </p:sp>
      <p:sp>
        <p:nvSpPr>
          <p:cNvPr id="18" name="Shape 16"/>
          <p:cNvSpPr/>
          <p:nvPr/>
        </p:nvSpPr>
        <p:spPr>
          <a:xfrm>
            <a:off x="2011680" y="822960"/>
            <a:ext cx="1828800" cy="3474720"/>
          </a:xfrm>
          <a:prstGeom prst="rect">
            <a:avLst/>
          </a:prstGeom>
          <a:solidFill>
            <a:srgbClr val="0D2748"/>
          </a:solidFill>
          <a:ln w="12700">
            <a:solidFill>
              <a:srgbClr val="1A4A7A"/>
            </a:solidFill>
            <a:prstDash val="solid"/>
          </a:ln>
        </p:spPr>
      </p:sp>
      <p:sp>
        <p:nvSpPr>
          <p:cNvPr id="19" name="Shape 17"/>
          <p:cNvSpPr/>
          <p:nvPr/>
        </p:nvSpPr>
        <p:spPr>
          <a:xfrm>
            <a:off x="2011680" y="822960"/>
            <a:ext cx="1828800" cy="347472"/>
          </a:xfrm>
          <a:prstGeom prst="rect">
            <a:avLst/>
          </a:prstGeom>
          <a:solidFill>
            <a:srgbClr val="1A4A7A"/>
          </a:solidFill>
          <a:ln w="12700">
            <a:solidFill>
              <a:srgbClr val="1A4A7A"/>
            </a:solidFill>
            <a:prstDash val="solid"/>
          </a:ln>
        </p:spPr>
      </p:sp>
      <p:sp>
        <p:nvSpPr>
          <p:cNvPr id="20" name="Text 18"/>
          <p:cNvSpPr/>
          <p:nvPr/>
        </p:nvSpPr>
        <p:spPr>
          <a:xfrm>
            <a:off x="2011680" y="82296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ENCODER</a:t>
            </a:r>
            <a:endParaRPr lang="en-US" sz="1100" dirty="0"/>
          </a:p>
        </p:txBody>
      </p:sp>
      <p:sp>
        <p:nvSpPr>
          <p:cNvPr id="21" name="Text 19"/>
          <p:cNvSpPr/>
          <p:nvPr/>
        </p:nvSpPr>
        <p:spPr>
          <a:xfrm>
            <a:off x="2011680" y="1207008"/>
            <a:ext cx="1828800" cy="457200"/>
          </a:xfrm>
          <a:prstGeom prst="rect">
            <a:avLst/>
          </a:prstGeom>
          <a:noFill/>
          <a:ln/>
        </p:spPr>
        <p:txBody>
          <a:bodyPr wrap="square" lIns="0" tIns="0" rIns="0" bIns="0" rtlCol="0" anchor="ctr"/>
          <a:lstStyle/>
          <a:p>
            <a:pPr algn="ctr" indent="0" marL="0">
              <a:buNone/>
            </a:pPr>
            <a:r>
              <a:rPr lang="en-US" sz="1000" dirty="0">
                <a:solidFill>
                  <a:srgbClr val="00C9C8"/>
                </a:solidFill>
                <a:latin typeface="Calibri" pitchFamily="34" charset="0"/>
                <a:ea typeface="Calibri" pitchFamily="34" charset="-122"/>
                <a:cs typeface="Calibri" pitchFamily="34" charset="-120"/>
              </a:rPr>
              <a:t>MONAI ResNet-10</a:t>
            </a:r>
            <a:endParaRPr lang="en-US" sz="1000" dirty="0"/>
          </a:p>
          <a:p>
            <a:pPr algn="ctr" indent="0" marL="0">
              <a:buNone/>
            </a:pPr>
            <a:r>
              <a:rPr lang="en-US" sz="1000" dirty="0">
                <a:solidFill>
                  <a:srgbClr val="00C9C8"/>
                </a:solidFill>
                <a:latin typeface="Calibri" pitchFamily="34" charset="0"/>
                <a:ea typeface="Calibri" pitchFamily="34" charset="-122"/>
                <a:cs typeface="Calibri" pitchFamily="34" charset="-120"/>
              </a:rPr>
              <a:t>(3D Volumetric)</a:t>
            </a:r>
            <a:endParaRPr lang="en-US" sz="1000" dirty="0"/>
          </a:p>
        </p:txBody>
      </p:sp>
      <p:sp>
        <p:nvSpPr>
          <p:cNvPr id="22" name="Shape 20"/>
          <p:cNvSpPr/>
          <p:nvPr/>
        </p:nvSpPr>
        <p:spPr>
          <a:xfrm>
            <a:off x="2148840" y="1719072"/>
            <a:ext cx="1554480" cy="347472"/>
          </a:xfrm>
          <a:prstGeom prst="rect">
            <a:avLst/>
          </a:prstGeom>
          <a:solidFill>
            <a:srgbClr val="0F3A7A"/>
          </a:solidFill>
          <a:ln w="12700">
            <a:solidFill>
              <a:srgbClr val="00C9C8"/>
            </a:solidFill>
            <a:prstDash val="solid"/>
          </a:ln>
        </p:spPr>
      </p:sp>
      <p:sp>
        <p:nvSpPr>
          <p:cNvPr id="23" name="Text 21"/>
          <p:cNvSpPr/>
          <p:nvPr/>
        </p:nvSpPr>
        <p:spPr>
          <a:xfrm>
            <a:off x="2148840" y="1719072"/>
            <a:ext cx="1554480" cy="34747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Conv3D + BN</a:t>
            </a:r>
            <a:endParaRPr lang="en-US" sz="950" dirty="0"/>
          </a:p>
        </p:txBody>
      </p:sp>
      <p:sp>
        <p:nvSpPr>
          <p:cNvPr id="24" name="Shape 22"/>
          <p:cNvSpPr/>
          <p:nvPr/>
        </p:nvSpPr>
        <p:spPr>
          <a:xfrm>
            <a:off x="2148840" y="2130552"/>
            <a:ext cx="1554480" cy="347472"/>
          </a:xfrm>
          <a:prstGeom prst="rect">
            <a:avLst/>
          </a:prstGeom>
          <a:solidFill>
            <a:srgbClr val="0F3A7A"/>
          </a:solidFill>
          <a:ln w="12700">
            <a:solidFill>
              <a:srgbClr val="00C9C8"/>
            </a:solidFill>
            <a:prstDash val="solid"/>
          </a:ln>
        </p:spPr>
      </p:sp>
      <p:sp>
        <p:nvSpPr>
          <p:cNvPr id="25" name="Text 23"/>
          <p:cNvSpPr/>
          <p:nvPr/>
        </p:nvSpPr>
        <p:spPr>
          <a:xfrm>
            <a:off x="2148840" y="2130552"/>
            <a:ext cx="1554480" cy="34747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ResBlock ×2</a:t>
            </a:r>
            <a:endParaRPr lang="en-US" sz="950" dirty="0"/>
          </a:p>
        </p:txBody>
      </p:sp>
      <p:sp>
        <p:nvSpPr>
          <p:cNvPr id="26" name="Shape 24"/>
          <p:cNvSpPr/>
          <p:nvPr/>
        </p:nvSpPr>
        <p:spPr>
          <a:xfrm>
            <a:off x="2148840" y="2542032"/>
            <a:ext cx="1554480" cy="347472"/>
          </a:xfrm>
          <a:prstGeom prst="rect">
            <a:avLst/>
          </a:prstGeom>
          <a:solidFill>
            <a:srgbClr val="0A3060"/>
          </a:solidFill>
          <a:ln w="12700">
            <a:solidFill>
              <a:srgbClr val="00C9C8"/>
            </a:solidFill>
            <a:prstDash val="solid"/>
          </a:ln>
        </p:spPr>
      </p:sp>
      <p:sp>
        <p:nvSpPr>
          <p:cNvPr id="27" name="Text 25"/>
          <p:cNvSpPr/>
          <p:nvPr/>
        </p:nvSpPr>
        <p:spPr>
          <a:xfrm>
            <a:off x="2148840" y="2542032"/>
            <a:ext cx="1554480" cy="34747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ResBlock ×2 ↓</a:t>
            </a:r>
            <a:endParaRPr lang="en-US" sz="950" dirty="0"/>
          </a:p>
        </p:txBody>
      </p:sp>
      <p:sp>
        <p:nvSpPr>
          <p:cNvPr id="28" name="Shape 26"/>
          <p:cNvSpPr/>
          <p:nvPr/>
        </p:nvSpPr>
        <p:spPr>
          <a:xfrm>
            <a:off x="2148840" y="2953512"/>
            <a:ext cx="1554480" cy="347472"/>
          </a:xfrm>
          <a:prstGeom prst="rect">
            <a:avLst/>
          </a:prstGeom>
          <a:solidFill>
            <a:srgbClr val="0A3060"/>
          </a:solidFill>
          <a:ln w="12700">
            <a:solidFill>
              <a:srgbClr val="00C9C8"/>
            </a:solidFill>
            <a:prstDash val="solid"/>
          </a:ln>
        </p:spPr>
      </p:sp>
      <p:sp>
        <p:nvSpPr>
          <p:cNvPr id="29" name="Text 27"/>
          <p:cNvSpPr/>
          <p:nvPr/>
        </p:nvSpPr>
        <p:spPr>
          <a:xfrm>
            <a:off x="2148840" y="2953512"/>
            <a:ext cx="1554480" cy="34747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ResBlock ×2 ↓</a:t>
            </a:r>
            <a:endParaRPr lang="en-US" sz="950" dirty="0"/>
          </a:p>
        </p:txBody>
      </p:sp>
      <p:sp>
        <p:nvSpPr>
          <p:cNvPr id="30" name="Shape 28"/>
          <p:cNvSpPr/>
          <p:nvPr/>
        </p:nvSpPr>
        <p:spPr>
          <a:xfrm>
            <a:off x="2148840" y="3364992"/>
            <a:ext cx="1554480" cy="347472"/>
          </a:xfrm>
          <a:prstGeom prst="rect">
            <a:avLst/>
          </a:prstGeom>
          <a:solidFill>
            <a:srgbClr val="0A3060"/>
          </a:solidFill>
          <a:ln w="12700">
            <a:solidFill>
              <a:srgbClr val="00C9C8"/>
            </a:solidFill>
            <a:prstDash val="solid"/>
          </a:ln>
        </p:spPr>
      </p:sp>
      <p:sp>
        <p:nvSpPr>
          <p:cNvPr id="31" name="Text 29"/>
          <p:cNvSpPr/>
          <p:nvPr/>
        </p:nvSpPr>
        <p:spPr>
          <a:xfrm>
            <a:off x="2148840" y="3364992"/>
            <a:ext cx="1554480" cy="34747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ResBlock ×2 ↓</a:t>
            </a:r>
            <a:endParaRPr lang="en-US" sz="950" dirty="0"/>
          </a:p>
        </p:txBody>
      </p:sp>
      <p:sp>
        <p:nvSpPr>
          <p:cNvPr id="32" name="Shape 30"/>
          <p:cNvSpPr/>
          <p:nvPr/>
        </p:nvSpPr>
        <p:spPr>
          <a:xfrm>
            <a:off x="2148840" y="3776472"/>
            <a:ext cx="1554480" cy="347472"/>
          </a:xfrm>
          <a:prstGeom prst="rect">
            <a:avLst/>
          </a:prstGeom>
          <a:solidFill>
            <a:srgbClr val="0A3060"/>
          </a:solidFill>
          <a:ln w="12700">
            <a:solidFill>
              <a:srgbClr val="00C9C8"/>
            </a:solidFill>
            <a:prstDash val="solid"/>
          </a:ln>
        </p:spPr>
      </p:sp>
      <p:sp>
        <p:nvSpPr>
          <p:cNvPr id="33" name="Text 31"/>
          <p:cNvSpPr/>
          <p:nvPr/>
        </p:nvSpPr>
        <p:spPr>
          <a:xfrm>
            <a:off x="2148840" y="3776472"/>
            <a:ext cx="1554480" cy="34747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GlobalAvgPool</a:t>
            </a:r>
            <a:endParaRPr lang="en-US" sz="950" dirty="0"/>
          </a:p>
        </p:txBody>
      </p:sp>
      <p:sp>
        <p:nvSpPr>
          <p:cNvPr id="34" name="Shape 32"/>
          <p:cNvSpPr/>
          <p:nvPr/>
        </p:nvSpPr>
        <p:spPr>
          <a:xfrm>
            <a:off x="3931920" y="2487168"/>
            <a:ext cx="274320" cy="45720"/>
          </a:xfrm>
          <a:prstGeom prst="rect">
            <a:avLst/>
          </a:prstGeom>
          <a:solidFill>
            <a:srgbClr val="F5A623"/>
          </a:solidFill>
          <a:ln w="12700">
            <a:solidFill>
              <a:srgbClr val="F5A623"/>
            </a:solidFill>
            <a:prstDash val="solid"/>
          </a:ln>
        </p:spPr>
      </p:sp>
      <p:sp>
        <p:nvSpPr>
          <p:cNvPr id="35" name="Shape 33"/>
          <p:cNvSpPr/>
          <p:nvPr/>
        </p:nvSpPr>
        <p:spPr>
          <a:xfrm>
            <a:off x="4297680" y="2148840"/>
            <a:ext cx="914400" cy="822960"/>
          </a:xfrm>
          <a:prstGeom prst="rect">
            <a:avLst/>
          </a:prstGeom>
          <a:solidFill>
            <a:srgbClr val="3D1070"/>
          </a:solidFill>
          <a:ln w="12700">
            <a:solidFill>
              <a:srgbClr val="C080F0"/>
            </a:solidFill>
            <a:prstDash val="solid"/>
          </a:ln>
        </p:spPr>
      </p:sp>
      <p:sp>
        <p:nvSpPr>
          <p:cNvPr id="36" name="Text 34"/>
          <p:cNvSpPr/>
          <p:nvPr/>
        </p:nvSpPr>
        <p:spPr>
          <a:xfrm>
            <a:off x="4297680" y="2148840"/>
            <a:ext cx="914400" cy="822960"/>
          </a:xfrm>
          <a:prstGeom prst="rect">
            <a:avLst/>
          </a:prstGeom>
          <a:noFill/>
          <a:ln/>
        </p:spPr>
        <p:txBody>
          <a:bodyPr wrap="square" lIns="0" tIns="0" rIns="0" bIns="0" rtlCol="0" anchor="ctr"/>
          <a:lstStyle/>
          <a:p>
            <a:pPr algn="ctr" indent="0" marL="0">
              <a:buNone/>
            </a:pPr>
            <a:r>
              <a:rPr lang="en-US" sz="950" b="1" dirty="0">
                <a:solidFill>
                  <a:srgbClr val="C080F0"/>
                </a:solidFill>
                <a:latin typeface="Calibri" pitchFamily="34" charset="0"/>
                <a:ea typeface="Calibri" pitchFamily="34" charset="-122"/>
                <a:cs typeface="Calibri" pitchFamily="34" charset="-120"/>
              </a:rPr>
              <a:t>512-d</a:t>
            </a:r>
            <a:endParaRPr lang="en-US" sz="950" dirty="0"/>
          </a:p>
          <a:p>
            <a:pPr algn="ctr" indent="0" marL="0">
              <a:buNone/>
            </a:pPr>
            <a:r>
              <a:rPr lang="en-US" sz="950" b="1" dirty="0">
                <a:solidFill>
                  <a:srgbClr val="C080F0"/>
                </a:solidFill>
                <a:latin typeface="Calibri" pitchFamily="34" charset="0"/>
                <a:ea typeface="Calibri" pitchFamily="34" charset="-122"/>
                <a:cs typeface="Calibri" pitchFamily="34" charset="-120"/>
              </a:rPr>
              <a:t>Features</a:t>
            </a:r>
            <a:endParaRPr lang="en-US" sz="950" dirty="0"/>
          </a:p>
        </p:txBody>
      </p:sp>
      <p:sp>
        <p:nvSpPr>
          <p:cNvPr id="37" name="Shape 35"/>
          <p:cNvSpPr/>
          <p:nvPr/>
        </p:nvSpPr>
        <p:spPr>
          <a:xfrm>
            <a:off x="5440680" y="841248"/>
            <a:ext cx="1645920" cy="731520"/>
          </a:xfrm>
          <a:prstGeom prst="rect">
            <a:avLst/>
          </a:prstGeom>
          <a:solidFill>
            <a:srgbClr val="0D1A2D"/>
          </a:solidFill>
          <a:ln w="12700">
            <a:solidFill>
              <a:srgbClr val="009B9B"/>
            </a:solidFill>
            <a:prstDash val="solid"/>
          </a:ln>
        </p:spPr>
      </p:sp>
      <p:sp>
        <p:nvSpPr>
          <p:cNvPr id="38" name="Text 36"/>
          <p:cNvSpPr/>
          <p:nvPr/>
        </p:nvSpPr>
        <p:spPr>
          <a:xfrm>
            <a:off x="5440680" y="841248"/>
            <a:ext cx="1645920" cy="731520"/>
          </a:xfrm>
          <a:prstGeom prst="rect">
            <a:avLst/>
          </a:prstGeom>
          <a:noFill/>
          <a:ln/>
        </p:spPr>
        <p:txBody>
          <a:bodyPr wrap="square" lIns="0" tIns="0" rIns="0" bIns="0" rtlCol="0" anchor="ctr"/>
          <a:lstStyle/>
          <a:p>
            <a:pPr algn="ctr" indent="0" marL="0">
              <a:buNone/>
            </a:pPr>
            <a:r>
              <a:rPr lang="en-US" sz="950" dirty="0">
                <a:solidFill>
                  <a:srgbClr val="009B9B"/>
                </a:solidFill>
                <a:latin typeface="Calibri" pitchFamily="34" charset="0"/>
                <a:ea typeface="Calibri" pitchFamily="34" charset="-122"/>
                <a:cs typeface="Calibri" pitchFamily="34" charset="-120"/>
              </a:rPr>
              <a:t>Seg Head</a:t>
            </a:r>
            <a:endParaRPr lang="en-US" sz="950" dirty="0"/>
          </a:p>
          <a:p>
            <a:pPr algn="ctr" indent="0" marL="0">
              <a:buNone/>
            </a:pPr>
            <a:r>
              <a:rPr lang="en-US" sz="950" dirty="0">
                <a:solidFill>
                  <a:srgbClr val="009B9B"/>
                </a:solidFill>
                <a:latin typeface="Calibri" pitchFamily="34" charset="0"/>
                <a:ea typeface="Calibri" pitchFamily="34" charset="-122"/>
                <a:cs typeface="Calibri" pitchFamily="34" charset="-120"/>
              </a:rPr>
              <a:t>4-class</a:t>
            </a:r>
            <a:endParaRPr lang="en-US" sz="950" dirty="0"/>
          </a:p>
          <a:p>
            <a:pPr algn="ctr" indent="0" marL="0">
              <a:buNone/>
            </a:pPr>
            <a:r>
              <a:rPr lang="en-US" sz="950" dirty="0">
                <a:solidFill>
                  <a:srgbClr val="009B9B"/>
                </a:solidFill>
                <a:latin typeface="Calibri" pitchFamily="34" charset="0"/>
                <a:ea typeface="Calibri" pitchFamily="34" charset="-122"/>
                <a:cs typeface="Calibri" pitchFamily="34" charset="-120"/>
              </a:rPr>
              <a:t>logits</a:t>
            </a:r>
            <a:endParaRPr lang="en-US" sz="950" dirty="0"/>
          </a:p>
        </p:txBody>
      </p:sp>
      <p:sp>
        <p:nvSpPr>
          <p:cNvPr id="39" name="Shape 37"/>
          <p:cNvSpPr/>
          <p:nvPr/>
        </p:nvSpPr>
        <p:spPr>
          <a:xfrm>
            <a:off x="5285232" y="1170432"/>
            <a:ext cx="164592" cy="45720"/>
          </a:xfrm>
          <a:prstGeom prst="rect">
            <a:avLst/>
          </a:prstGeom>
          <a:solidFill>
            <a:srgbClr val="009B9B"/>
          </a:solidFill>
          <a:ln w="12700">
            <a:solidFill>
              <a:srgbClr val="009B9B"/>
            </a:solidFill>
            <a:prstDash val="solid"/>
          </a:ln>
        </p:spPr>
      </p:sp>
      <p:sp>
        <p:nvSpPr>
          <p:cNvPr id="40" name="Shape 38"/>
          <p:cNvSpPr/>
          <p:nvPr/>
        </p:nvSpPr>
        <p:spPr>
          <a:xfrm>
            <a:off x="5440680" y="1755648"/>
            <a:ext cx="1645920" cy="731520"/>
          </a:xfrm>
          <a:prstGeom prst="rect">
            <a:avLst/>
          </a:prstGeom>
          <a:solidFill>
            <a:srgbClr val="0D1A2D"/>
          </a:solidFill>
          <a:ln w="12700">
            <a:solidFill>
              <a:srgbClr val="1A4A7A"/>
            </a:solidFill>
            <a:prstDash val="solid"/>
          </a:ln>
        </p:spPr>
      </p:sp>
      <p:sp>
        <p:nvSpPr>
          <p:cNvPr id="41" name="Text 39"/>
          <p:cNvSpPr/>
          <p:nvPr/>
        </p:nvSpPr>
        <p:spPr>
          <a:xfrm>
            <a:off x="5440680" y="1755648"/>
            <a:ext cx="1645920" cy="731520"/>
          </a:xfrm>
          <a:prstGeom prst="rect">
            <a:avLst/>
          </a:prstGeom>
          <a:noFill/>
          <a:ln/>
        </p:spPr>
        <p:txBody>
          <a:bodyPr wrap="square" lIns="0" tIns="0" rIns="0" bIns="0" rtlCol="0" anchor="ctr"/>
          <a:lstStyle/>
          <a:p>
            <a:pPr algn="ctr" indent="0" marL="0">
              <a:buNone/>
            </a:pPr>
            <a:r>
              <a:rPr lang="en-US" sz="950" dirty="0">
                <a:solidFill>
                  <a:srgbClr val="1A4A7A"/>
                </a:solidFill>
                <a:latin typeface="Calibri" pitchFamily="34" charset="0"/>
                <a:ea typeface="Calibri" pitchFamily="34" charset="-122"/>
                <a:cs typeface="Calibri" pitchFamily="34" charset="-120"/>
              </a:rPr>
              <a:t>Density Decoder</a:t>
            </a:r>
            <a:endParaRPr lang="en-US" sz="950" dirty="0"/>
          </a:p>
          <a:p>
            <a:pPr algn="ctr" indent="0" marL="0">
              <a:buNone/>
            </a:pPr>
            <a:r>
              <a:rPr lang="en-US" sz="950" dirty="0">
                <a:solidFill>
                  <a:srgbClr val="1A4A7A"/>
                </a:solidFill>
                <a:latin typeface="Calibri" pitchFamily="34" charset="0"/>
                <a:ea typeface="Calibri" pitchFamily="34" charset="-122"/>
                <a:cs typeface="Calibri" pitchFamily="34" charset="-120"/>
              </a:rPr>
              <a:t>u(x)</a:t>
            </a:r>
            <a:endParaRPr lang="en-US" sz="950" dirty="0"/>
          </a:p>
          <a:p>
            <a:pPr algn="ctr" indent="0" marL="0">
              <a:buNone/>
            </a:pPr>
            <a:r>
              <a:rPr lang="en-US" sz="950" dirty="0">
                <a:solidFill>
                  <a:srgbClr val="1A4A7A"/>
                </a:solidFill>
                <a:latin typeface="Calibri" pitchFamily="34" charset="0"/>
                <a:ea typeface="Calibri" pitchFamily="34" charset="-122"/>
                <a:cs typeface="Calibri" pitchFamily="34" charset="-120"/>
              </a:rPr>
              <a:t>[0,1]</a:t>
            </a:r>
            <a:endParaRPr lang="en-US" sz="950" dirty="0"/>
          </a:p>
        </p:txBody>
      </p:sp>
      <p:sp>
        <p:nvSpPr>
          <p:cNvPr id="42" name="Shape 40"/>
          <p:cNvSpPr/>
          <p:nvPr/>
        </p:nvSpPr>
        <p:spPr>
          <a:xfrm>
            <a:off x="5285232" y="2084832"/>
            <a:ext cx="164592" cy="45720"/>
          </a:xfrm>
          <a:prstGeom prst="rect">
            <a:avLst/>
          </a:prstGeom>
          <a:solidFill>
            <a:srgbClr val="1A4A7A"/>
          </a:solidFill>
          <a:ln w="12700">
            <a:solidFill>
              <a:srgbClr val="1A4A7A"/>
            </a:solidFill>
            <a:prstDash val="solid"/>
          </a:ln>
        </p:spPr>
      </p:sp>
      <p:sp>
        <p:nvSpPr>
          <p:cNvPr id="43" name="Shape 41"/>
          <p:cNvSpPr/>
          <p:nvPr/>
        </p:nvSpPr>
        <p:spPr>
          <a:xfrm>
            <a:off x="5440680" y="2670048"/>
            <a:ext cx="1645920" cy="731520"/>
          </a:xfrm>
          <a:prstGeom prst="rect">
            <a:avLst/>
          </a:prstGeom>
          <a:solidFill>
            <a:srgbClr val="0D1A2D"/>
          </a:solidFill>
          <a:ln w="12700">
            <a:solidFill>
              <a:srgbClr val="6A2C8C"/>
            </a:solidFill>
            <a:prstDash val="solid"/>
          </a:ln>
        </p:spPr>
      </p:sp>
      <p:sp>
        <p:nvSpPr>
          <p:cNvPr id="44" name="Text 42"/>
          <p:cNvSpPr/>
          <p:nvPr/>
        </p:nvSpPr>
        <p:spPr>
          <a:xfrm>
            <a:off x="5440680" y="2670048"/>
            <a:ext cx="1645920" cy="731520"/>
          </a:xfrm>
          <a:prstGeom prst="rect">
            <a:avLst/>
          </a:prstGeom>
          <a:noFill/>
          <a:ln/>
        </p:spPr>
        <p:txBody>
          <a:bodyPr wrap="square" lIns="0" tIns="0" rIns="0" bIns="0" rtlCol="0" anchor="ctr"/>
          <a:lstStyle/>
          <a:p>
            <a:pPr algn="ctr" indent="0" marL="0">
              <a:buNone/>
            </a:pPr>
            <a:r>
              <a:rPr lang="en-US" sz="950" dirty="0">
                <a:solidFill>
                  <a:srgbClr val="6A2C8C"/>
                </a:solidFill>
                <a:latin typeface="Calibri" pitchFamily="34" charset="0"/>
                <a:ea typeface="Calibri" pitchFamily="34" charset="-122"/>
                <a:cs typeface="Calibri" pitchFamily="34" charset="-120"/>
              </a:rPr>
              <a:t>Diffusion Head</a:t>
            </a:r>
            <a:endParaRPr lang="en-US" sz="950" dirty="0"/>
          </a:p>
          <a:p>
            <a:pPr algn="ctr" indent="0" marL="0">
              <a:buNone/>
            </a:pPr>
            <a:r>
              <a:rPr lang="en-US" sz="950" dirty="0">
                <a:solidFill>
                  <a:srgbClr val="6A2C8C"/>
                </a:solidFill>
                <a:latin typeface="Calibri" pitchFamily="34" charset="0"/>
                <a:ea typeface="Calibri" pitchFamily="34" charset="-122"/>
                <a:cs typeface="Calibri" pitchFamily="34" charset="-120"/>
              </a:rPr>
              <a:t>D(x)</a:t>
            </a:r>
            <a:endParaRPr lang="en-US" sz="950" dirty="0"/>
          </a:p>
          <a:p>
            <a:pPr algn="ctr" indent="0" marL="0">
              <a:buNone/>
            </a:pPr>
            <a:r>
              <a:rPr lang="en-US" sz="950" dirty="0">
                <a:solidFill>
                  <a:srgbClr val="6A2C8C"/>
                </a:solidFill>
                <a:latin typeface="Calibri" pitchFamily="34" charset="0"/>
                <a:ea typeface="Calibri" pitchFamily="34" charset="-122"/>
                <a:cs typeface="Calibri" pitchFamily="34" charset="-120"/>
              </a:rPr>
              <a:t>scaled</a:t>
            </a:r>
            <a:endParaRPr lang="en-US" sz="950" dirty="0"/>
          </a:p>
        </p:txBody>
      </p:sp>
      <p:sp>
        <p:nvSpPr>
          <p:cNvPr id="45" name="Shape 43"/>
          <p:cNvSpPr/>
          <p:nvPr/>
        </p:nvSpPr>
        <p:spPr>
          <a:xfrm>
            <a:off x="5285232" y="2999232"/>
            <a:ext cx="164592" cy="45720"/>
          </a:xfrm>
          <a:prstGeom prst="rect">
            <a:avLst/>
          </a:prstGeom>
          <a:solidFill>
            <a:srgbClr val="6A2C8C"/>
          </a:solidFill>
          <a:ln w="12700">
            <a:solidFill>
              <a:srgbClr val="6A2C8C"/>
            </a:solidFill>
            <a:prstDash val="solid"/>
          </a:ln>
        </p:spPr>
      </p:sp>
      <p:sp>
        <p:nvSpPr>
          <p:cNvPr id="46" name="Shape 44"/>
          <p:cNvSpPr/>
          <p:nvPr/>
        </p:nvSpPr>
        <p:spPr>
          <a:xfrm>
            <a:off x="5440680" y="3584448"/>
            <a:ext cx="1645920" cy="731520"/>
          </a:xfrm>
          <a:prstGeom prst="rect">
            <a:avLst/>
          </a:prstGeom>
          <a:solidFill>
            <a:srgbClr val="0D1A2D"/>
          </a:solidFill>
          <a:ln w="12700">
            <a:solidFill>
              <a:srgbClr val="8B4513"/>
            </a:solidFill>
            <a:prstDash val="solid"/>
          </a:ln>
        </p:spPr>
      </p:sp>
      <p:sp>
        <p:nvSpPr>
          <p:cNvPr id="47" name="Text 45"/>
          <p:cNvSpPr/>
          <p:nvPr/>
        </p:nvSpPr>
        <p:spPr>
          <a:xfrm>
            <a:off x="5440680" y="3584448"/>
            <a:ext cx="1645920" cy="731520"/>
          </a:xfrm>
          <a:prstGeom prst="rect">
            <a:avLst/>
          </a:prstGeom>
          <a:noFill/>
          <a:ln/>
        </p:spPr>
        <p:txBody>
          <a:bodyPr wrap="square" lIns="0" tIns="0" rIns="0" bIns="0" rtlCol="0" anchor="ctr"/>
          <a:lstStyle/>
          <a:p>
            <a:pPr algn="ctr" indent="0" marL="0">
              <a:buNone/>
            </a:pPr>
            <a:r>
              <a:rPr lang="en-US" sz="950" dirty="0">
                <a:solidFill>
                  <a:srgbClr val="8B4513"/>
                </a:solidFill>
                <a:latin typeface="Calibri" pitchFamily="34" charset="0"/>
                <a:ea typeface="Calibri" pitchFamily="34" charset="-122"/>
                <a:cs typeface="Calibri" pitchFamily="34" charset="-120"/>
              </a:rPr>
              <a:t>Prolif. Head</a:t>
            </a:r>
            <a:endParaRPr lang="en-US" sz="950" dirty="0"/>
          </a:p>
          <a:p>
            <a:pPr algn="ctr" indent="0" marL="0">
              <a:buNone/>
            </a:pPr>
            <a:r>
              <a:rPr lang="en-US" sz="950" dirty="0">
                <a:solidFill>
                  <a:srgbClr val="8B4513"/>
                </a:solidFill>
                <a:latin typeface="Calibri" pitchFamily="34" charset="0"/>
                <a:ea typeface="Calibri" pitchFamily="34" charset="-122"/>
                <a:cs typeface="Calibri" pitchFamily="34" charset="-120"/>
              </a:rPr>
              <a:t>ρ(x)</a:t>
            </a:r>
            <a:endParaRPr lang="en-US" sz="950" dirty="0"/>
          </a:p>
          <a:p>
            <a:pPr algn="ctr" indent="0" marL="0">
              <a:buNone/>
            </a:pPr>
            <a:r>
              <a:rPr lang="en-US" sz="950" dirty="0">
                <a:solidFill>
                  <a:srgbClr val="8B4513"/>
                </a:solidFill>
                <a:latin typeface="Calibri" pitchFamily="34" charset="0"/>
                <a:ea typeface="Calibri" pitchFamily="34" charset="-122"/>
                <a:cs typeface="Calibri" pitchFamily="34" charset="-120"/>
              </a:rPr>
              <a:t>scaled</a:t>
            </a:r>
            <a:endParaRPr lang="en-US" sz="950" dirty="0"/>
          </a:p>
        </p:txBody>
      </p:sp>
      <p:sp>
        <p:nvSpPr>
          <p:cNvPr id="48" name="Shape 46"/>
          <p:cNvSpPr/>
          <p:nvPr/>
        </p:nvSpPr>
        <p:spPr>
          <a:xfrm>
            <a:off x="5285232" y="3913632"/>
            <a:ext cx="164592" cy="45720"/>
          </a:xfrm>
          <a:prstGeom prst="rect">
            <a:avLst/>
          </a:prstGeom>
          <a:solidFill>
            <a:srgbClr val="8B4513"/>
          </a:solidFill>
          <a:ln w="12700">
            <a:solidFill>
              <a:srgbClr val="8B4513"/>
            </a:solidFill>
            <a:prstDash val="solid"/>
          </a:ln>
        </p:spPr>
      </p:sp>
      <p:sp>
        <p:nvSpPr>
          <p:cNvPr id="49" name="Shape 47"/>
          <p:cNvSpPr/>
          <p:nvPr/>
        </p:nvSpPr>
        <p:spPr>
          <a:xfrm>
            <a:off x="7223760" y="841248"/>
            <a:ext cx="1691640" cy="731520"/>
          </a:xfrm>
          <a:prstGeom prst="rect">
            <a:avLst/>
          </a:prstGeom>
          <a:solidFill>
            <a:srgbClr val="050E1A"/>
          </a:solidFill>
          <a:ln w="12700">
            <a:solidFill>
              <a:srgbClr val="009B9B"/>
            </a:solidFill>
            <a:prstDash val="solid"/>
          </a:ln>
        </p:spPr>
      </p:sp>
      <p:sp>
        <p:nvSpPr>
          <p:cNvPr id="50" name="Text 48"/>
          <p:cNvSpPr/>
          <p:nvPr/>
        </p:nvSpPr>
        <p:spPr>
          <a:xfrm>
            <a:off x="7223760" y="841248"/>
            <a:ext cx="1691640" cy="731520"/>
          </a:xfrm>
          <a:prstGeom prst="rect">
            <a:avLst/>
          </a:prstGeom>
          <a:noFill/>
          <a:ln/>
        </p:spPr>
        <p:txBody>
          <a:bodyPr wrap="square" lIns="0" tIns="0" rIns="0" bIns="0" rtlCol="0" anchor="ctr"/>
          <a:lstStyle/>
          <a:p>
            <a:pPr algn="ctr" indent="0" marL="0">
              <a:buNone/>
            </a:pPr>
            <a:r>
              <a:rPr lang="en-US" sz="950" dirty="0">
                <a:solidFill>
                  <a:srgbClr val="009B9B"/>
                </a:solidFill>
                <a:latin typeface="Calibri" pitchFamily="34" charset="0"/>
                <a:ea typeface="Calibri" pitchFamily="34" charset="-122"/>
                <a:cs typeface="Calibri" pitchFamily="34" charset="-120"/>
              </a:rPr>
              <a:t>Segmentation  +  Dice Loss</a:t>
            </a:r>
            <a:endParaRPr lang="en-US" sz="950" dirty="0"/>
          </a:p>
        </p:txBody>
      </p:sp>
      <p:sp>
        <p:nvSpPr>
          <p:cNvPr id="51" name="Shape 49"/>
          <p:cNvSpPr/>
          <p:nvPr/>
        </p:nvSpPr>
        <p:spPr>
          <a:xfrm>
            <a:off x="7114032" y="1170432"/>
            <a:ext cx="128016" cy="45720"/>
          </a:xfrm>
          <a:prstGeom prst="rect">
            <a:avLst/>
          </a:prstGeom>
          <a:solidFill>
            <a:srgbClr val="009B9B"/>
          </a:solidFill>
          <a:ln w="12700">
            <a:solidFill>
              <a:srgbClr val="009B9B"/>
            </a:solidFill>
            <a:prstDash val="solid"/>
          </a:ln>
        </p:spPr>
      </p:sp>
      <p:sp>
        <p:nvSpPr>
          <p:cNvPr id="52" name="Shape 50"/>
          <p:cNvSpPr/>
          <p:nvPr/>
        </p:nvSpPr>
        <p:spPr>
          <a:xfrm>
            <a:off x="7223760" y="1755648"/>
            <a:ext cx="1691640" cy="731520"/>
          </a:xfrm>
          <a:prstGeom prst="rect">
            <a:avLst/>
          </a:prstGeom>
          <a:solidFill>
            <a:srgbClr val="050E1A"/>
          </a:solidFill>
          <a:ln w="12700">
            <a:solidFill>
              <a:srgbClr val="1E5FA8"/>
            </a:solidFill>
            <a:prstDash val="solid"/>
          </a:ln>
        </p:spPr>
      </p:sp>
      <p:sp>
        <p:nvSpPr>
          <p:cNvPr id="53" name="Text 51"/>
          <p:cNvSpPr/>
          <p:nvPr/>
        </p:nvSpPr>
        <p:spPr>
          <a:xfrm>
            <a:off x="7223760" y="1755648"/>
            <a:ext cx="1691640" cy="731520"/>
          </a:xfrm>
          <a:prstGeom prst="rect">
            <a:avLst/>
          </a:prstGeom>
          <a:noFill/>
          <a:ln/>
        </p:spPr>
        <p:txBody>
          <a:bodyPr wrap="square" lIns="0" tIns="0" rIns="0" bIns="0" rtlCol="0" anchor="ctr"/>
          <a:lstStyle/>
          <a:p>
            <a:pPr algn="ctr" indent="0" marL="0">
              <a:buNone/>
            </a:pPr>
            <a:r>
              <a:rPr lang="en-US" sz="950" dirty="0">
                <a:solidFill>
                  <a:srgbClr val="1E5FA8"/>
                </a:solidFill>
                <a:latin typeface="Calibri" pitchFamily="34" charset="0"/>
                <a:ea typeface="Calibri" pitchFamily="34" charset="-122"/>
                <a:cs typeface="Calibri" pitchFamily="34" charset="-120"/>
              </a:rPr>
              <a:t>Tumor Density  +  Data Loss</a:t>
            </a:r>
            <a:endParaRPr lang="en-US" sz="950" dirty="0"/>
          </a:p>
        </p:txBody>
      </p:sp>
      <p:sp>
        <p:nvSpPr>
          <p:cNvPr id="54" name="Shape 52"/>
          <p:cNvSpPr/>
          <p:nvPr/>
        </p:nvSpPr>
        <p:spPr>
          <a:xfrm>
            <a:off x="7114032" y="2084832"/>
            <a:ext cx="128016" cy="45720"/>
          </a:xfrm>
          <a:prstGeom prst="rect">
            <a:avLst/>
          </a:prstGeom>
          <a:solidFill>
            <a:srgbClr val="1E5FA8"/>
          </a:solidFill>
          <a:ln w="12700">
            <a:solidFill>
              <a:srgbClr val="1E5FA8"/>
            </a:solidFill>
            <a:prstDash val="solid"/>
          </a:ln>
        </p:spPr>
      </p:sp>
      <p:sp>
        <p:nvSpPr>
          <p:cNvPr id="55" name="Shape 53"/>
          <p:cNvSpPr/>
          <p:nvPr/>
        </p:nvSpPr>
        <p:spPr>
          <a:xfrm>
            <a:off x="7223760" y="2670048"/>
            <a:ext cx="1691640" cy="731520"/>
          </a:xfrm>
          <a:prstGeom prst="rect">
            <a:avLst/>
          </a:prstGeom>
          <a:solidFill>
            <a:srgbClr val="050E1A"/>
          </a:solidFill>
          <a:ln w="12700">
            <a:solidFill>
              <a:srgbClr val="C080F0"/>
            </a:solidFill>
            <a:prstDash val="solid"/>
          </a:ln>
        </p:spPr>
      </p:sp>
      <p:sp>
        <p:nvSpPr>
          <p:cNvPr id="56" name="Text 54"/>
          <p:cNvSpPr/>
          <p:nvPr/>
        </p:nvSpPr>
        <p:spPr>
          <a:xfrm>
            <a:off x="7223760" y="2670048"/>
            <a:ext cx="1691640" cy="731520"/>
          </a:xfrm>
          <a:prstGeom prst="rect">
            <a:avLst/>
          </a:prstGeom>
          <a:noFill/>
          <a:ln/>
        </p:spPr>
        <p:txBody>
          <a:bodyPr wrap="square" lIns="0" tIns="0" rIns="0" bIns="0" rtlCol="0" anchor="ctr"/>
          <a:lstStyle/>
          <a:p>
            <a:pPr algn="ctr" indent="0" marL="0">
              <a:buNone/>
            </a:pPr>
            <a:r>
              <a:rPr lang="en-US" sz="950" dirty="0">
                <a:solidFill>
                  <a:srgbClr val="C080F0"/>
                </a:solidFill>
                <a:latin typeface="Calibri" pitchFamily="34" charset="0"/>
                <a:ea typeface="Calibri" pitchFamily="34" charset="-122"/>
                <a:cs typeface="Calibri" pitchFamily="34" charset="-120"/>
              </a:rPr>
              <a:t>D(x)  +  PDE Residual Loss</a:t>
            </a:r>
            <a:endParaRPr lang="en-US" sz="950" dirty="0"/>
          </a:p>
        </p:txBody>
      </p:sp>
      <p:sp>
        <p:nvSpPr>
          <p:cNvPr id="57" name="Shape 55"/>
          <p:cNvSpPr/>
          <p:nvPr/>
        </p:nvSpPr>
        <p:spPr>
          <a:xfrm>
            <a:off x="7114032" y="2999232"/>
            <a:ext cx="128016" cy="45720"/>
          </a:xfrm>
          <a:prstGeom prst="rect">
            <a:avLst/>
          </a:prstGeom>
          <a:solidFill>
            <a:srgbClr val="C080F0"/>
          </a:solidFill>
          <a:ln w="12700">
            <a:solidFill>
              <a:srgbClr val="C080F0"/>
            </a:solidFill>
            <a:prstDash val="solid"/>
          </a:ln>
        </p:spPr>
      </p:sp>
      <p:sp>
        <p:nvSpPr>
          <p:cNvPr id="58" name="Shape 56"/>
          <p:cNvSpPr/>
          <p:nvPr/>
        </p:nvSpPr>
        <p:spPr>
          <a:xfrm>
            <a:off x="7223760" y="3584448"/>
            <a:ext cx="1691640" cy="731520"/>
          </a:xfrm>
          <a:prstGeom prst="rect">
            <a:avLst/>
          </a:prstGeom>
          <a:solidFill>
            <a:srgbClr val="050E1A"/>
          </a:solidFill>
          <a:ln w="12700">
            <a:solidFill>
              <a:srgbClr val="F5A623"/>
            </a:solidFill>
            <a:prstDash val="solid"/>
          </a:ln>
        </p:spPr>
      </p:sp>
      <p:sp>
        <p:nvSpPr>
          <p:cNvPr id="59" name="Text 57"/>
          <p:cNvSpPr/>
          <p:nvPr/>
        </p:nvSpPr>
        <p:spPr>
          <a:xfrm>
            <a:off x="7223760" y="3584448"/>
            <a:ext cx="1691640" cy="731520"/>
          </a:xfrm>
          <a:prstGeom prst="rect">
            <a:avLst/>
          </a:prstGeom>
          <a:noFill/>
          <a:ln/>
        </p:spPr>
        <p:txBody>
          <a:bodyPr wrap="square" lIns="0" tIns="0" rIns="0" bIns="0" rtlCol="0" anchor="ctr"/>
          <a:lstStyle/>
          <a:p>
            <a:pPr algn="ctr" indent="0" marL="0">
              <a:buNone/>
            </a:pPr>
            <a:r>
              <a:rPr lang="en-US" sz="950" dirty="0">
                <a:solidFill>
                  <a:srgbClr val="F5A623"/>
                </a:solidFill>
                <a:latin typeface="Calibri" pitchFamily="34" charset="0"/>
                <a:ea typeface="Calibri" pitchFamily="34" charset="-122"/>
                <a:cs typeface="Calibri" pitchFamily="34" charset="-120"/>
              </a:rPr>
              <a:t>ρ(x)  +  Physics Constraint</a:t>
            </a:r>
            <a:endParaRPr lang="en-US" sz="950" dirty="0"/>
          </a:p>
        </p:txBody>
      </p:sp>
      <p:sp>
        <p:nvSpPr>
          <p:cNvPr id="60" name="Shape 58"/>
          <p:cNvSpPr/>
          <p:nvPr/>
        </p:nvSpPr>
        <p:spPr>
          <a:xfrm>
            <a:off x="7114032" y="3913632"/>
            <a:ext cx="128016" cy="45720"/>
          </a:xfrm>
          <a:prstGeom prst="rect">
            <a:avLst/>
          </a:prstGeom>
          <a:solidFill>
            <a:srgbClr val="F5A623"/>
          </a:solidFill>
          <a:ln w="12700">
            <a:solidFill>
              <a:srgbClr val="F5A623"/>
            </a:solidFill>
            <a:prstDash val="solid"/>
          </a:ln>
        </p:spPr>
      </p:sp>
      <p:sp>
        <p:nvSpPr>
          <p:cNvPr id="61" name="Shape 59"/>
          <p:cNvSpPr/>
          <p:nvPr/>
        </p:nvSpPr>
        <p:spPr>
          <a:xfrm>
            <a:off x="182880" y="4407408"/>
            <a:ext cx="8778240" cy="640080"/>
          </a:xfrm>
          <a:prstGeom prst="rect">
            <a:avLst/>
          </a:prstGeom>
          <a:solidFill>
            <a:srgbClr val="0D2748"/>
          </a:solidFill>
          <a:ln w="12700">
            <a:solidFill>
              <a:srgbClr val="00C9C8"/>
            </a:solidFill>
            <a:prstDash val="solid"/>
          </a:ln>
        </p:spPr>
      </p:sp>
      <p:sp>
        <p:nvSpPr>
          <p:cNvPr id="62" name="Text 60"/>
          <p:cNvSpPr/>
          <p:nvPr/>
        </p:nvSpPr>
        <p:spPr>
          <a:xfrm>
            <a:off x="320040" y="4443984"/>
            <a:ext cx="8503920" cy="548640"/>
          </a:xfrm>
          <a:prstGeom prst="rect">
            <a:avLst/>
          </a:prstGeom>
          <a:noFill/>
          <a:ln/>
        </p:spPr>
        <p:txBody>
          <a:bodyPr wrap="square" lIns="0" tIns="0" rIns="0" bIns="0" rtlCol="0" anchor="ctr"/>
          <a:lstStyle/>
          <a:p>
            <a:pPr indent="0" marL="0">
              <a:buNone/>
            </a:pPr>
            <a:r>
              <a:rPr lang="en-US" sz="1050" b="1" dirty="0">
                <a:solidFill>
                  <a:srgbClr val="00C9C8"/>
                </a:solidFill>
                <a:latin typeface="Calibri" pitchFamily="34" charset="0"/>
                <a:ea typeface="Calibri" pitchFamily="34" charset="-122"/>
                <a:cs typeface="Calibri" pitchFamily="34" charset="-120"/>
              </a:rPr>
              <a:t>ResNet-10: </a:t>
            </a:r>
            <a:pPr indent="0" marL="0">
              <a:buNone/>
            </a:pPr>
            <a:r>
              <a:rPr lang="en-US" sz="1050" dirty="0">
                <a:solidFill>
                  <a:srgbClr val="A0C0E0"/>
                </a:solidFill>
                <a:latin typeface="Calibri" pitchFamily="34" charset="0"/>
                <a:ea typeface="Calibri" pitchFamily="34" charset="-122"/>
                <a:cs typeface="Calibri" pitchFamily="34" charset="-120"/>
              </a:rPr>
              <a:t>~1.7M params  |  </a:t>
            </a:r>
            <a:pPr indent="0" marL="0">
              <a:buNone/>
            </a:pPr>
            <a:r>
              <a:rPr lang="en-US" sz="1050" b="1" dirty="0">
                <a:solidFill>
                  <a:srgbClr val="00C9C8"/>
                </a:solidFill>
                <a:latin typeface="Calibri" pitchFamily="34" charset="0"/>
                <a:ea typeface="Calibri" pitchFamily="34" charset="-122"/>
                <a:cs typeface="Calibri" pitchFamily="34" charset="-120"/>
              </a:rPr>
              <a:t>ResNet-50: </a:t>
            </a:r>
            <a:pPr indent="0" marL="0">
              <a:buNone/>
            </a:pPr>
            <a:r>
              <a:rPr lang="en-US" sz="1050" dirty="0">
                <a:solidFill>
                  <a:srgbClr val="A0C0E0"/>
                </a:solidFill>
                <a:latin typeface="Calibri" pitchFamily="34" charset="0"/>
                <a:ea typeface="Calibri" pitchFamily="34" charset="-122"/>
                <a:cs typeface="Calibri" pitchFamily="34" charset="-120"/>
              </a:rPr>
              <a:t>~46M params  |  </a:t>
            </a:r>
            <a:pPr indent="0" marL="0">
              <a:buNone/>
            </a:pPr>
            <a:r>
              <a:rPr lang="en-US" sz="1050" b="1" dirty="0">
                <a:solidFill>
                  <a:srgbClr val="F5A623"/>
                </a:solidFill>
                <a:latin typeface="Calibri" pitchFamily="34" charset="0"/>
                <a:ea typeface="Calibri" pitchFamily="34" charset="-122"/>
                <a:cs typeface="Calibri" pitchFamily="34" charset="-120"/>
              </a:rPr>
              <a:t>Attention Gates: </a:t>
            </a:r>
            <a:pPr indent="0" marL="0">
              <a:buNone/>
            </a:pPr>
            <a:r>
              <a:rPr lang="en-US" sz="1050" dirty="0">
                <a:solidFill>
                  <a:srgbClr val="A0C0E0"/>
                </a:solidFill>
                <a:latin typeface="Calibri" pitchFamily="34" charset="0"/>
                <a:ea typeface="Calibri" pitchFamily="34" charset="-122"/>
                <a:cs typeface="Calibri" pitchFamily="34" charset="-120"/>
              </a:rPr>
              <a:t>Oktay (2018)  |  </a:t>
            </a:r>
            <a:pPr indent="0" marL="0">
              <a:buNone/>
            </a:pPr>
            <a:r>
              <a:rPr lang="en-US" sz="1050" b="1" dirty="0">
                <a:solidFill>
                  <a:srgbClr val="C080F0"/>
                </a:solidFill>
                <a:latin typeface="Calibri" pitchFamily="34" charset="0"/>
                <a:ea typeface="Calibri" pitchFamily="34" charset="-122"/>
                <a:cs typeface="Calibri" pitchFamily="34" charset="-120"/>
              </a:rPr>
              <a:t>Deep Supervision: </a:t>
            </a:r>
            <a:pPr indent="0" marL="0">
              <a:buNone/>
            </a:pPr>
            <a:r>
              <a:rPr lang="en-US" sz="1050" dirty="0">
                <a:solidFill>
                  <a:srgbClr val="A0C0E0"/>
                </a:solidFill>
                <a:latin typeface="Calibri" pitchFamily="34" charset="0"/>
                <a:ea typeface="Calibri" pitchFamily="34" charset="-122"/>
                <a:cs typeface="Calibri" pitchFamily="34" charset="-120"/>
              </a:rPr>
              <a:t>intermediate decoder outputs for better gradient flow</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Training Strategy — Two-Phase Physics-Informed Learning</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17 / 20</a:t>
            </a:r>
            <a:endParaRPr lang="en-US" sz="900" dirty="0"/>
          </a:p>
        </p:txBody>
      </p:sp>
      <p:sp>
        <p:nvSpPr>
          <p:cNvPr id="6" name="Shape 4"/>
          <p:cNvSpPr/>
          <p:nvPr/>
        </p:nvSpPr>
        <p:spPr>
          <a:xfrm>
            <a:off x="228600" y="804672"/>
            <a:ext cx="4160520" cy="4160520"/>
          </a:xfrm>
          <a:prstGeom prst="rect">
            <a:avLst/>
          </a:prstGeom>
          <a:solidFill>
            <a:srgbClr val="0B1E3D"/>
          </a:solidFill>
          <a:ln w="12700">
            <a:solidFill>
              <a:srgbClr val="0B1E3D"/>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28600" y="804672"/>
            <a:ext cx="4160520" cy="384048"/>
          </a:xfrm>
          <a:prstGeom prst="rect">
            <a:avLst/>
          </a:prstGeom>
          <a:solidFill>
            <a:srgbClr val="009B9B"/>
          </a:solidFill>
          <a:ln w="12700">
            <a:solidFill>
              <a:srgbClr val="009B9B"/>
            </a:solidFill>
            <a:prstDash val="solid"/>
          </a:ln>
        </p:spPr>
      </p:sp>
      <p:sp>
        <p:nvSpPr>
          <p:cNvPr id="8" name="Text 6"/>
          <p:cNvSpPr/>
          <p:nvPr/>
        </p:nvSpPr>
        <p:spPr>
          <a:xfrm>
            <a:off x="365760" y="804672"/>
            <a:ext cx="38862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PHASE 1  —  Pretraining (Data-Driven)</a:t>
            </a:r>
            <a:endParaRPr lang="en-US" sz="1300" dirty="0"/>
          </a:p>
        </p:txBody>
      </p:sp>
      <p:sp>
        <p:nvSpPr>
          <p:cNvPr id="9" name="Text 7"/>
          <p:cNvSpPr/>
          <p:nvPr/>
        </p:nvSpPr>
        <p:spPr>
          <a:xfrm>
            <a:off x="365760" y="1234440"/>
            <a:ext cx="3840480" cy="320040"/>
          </a:xfrm>
          <a:prstGeom prst="rect">
            <a:avLst/>
          </a:prstGeom>
          <a:noFill/>
          <a:ln/>
        </p:spPr>
        <p:txBody>
          <a:bodyPr wrap="square" lIns="0" tIns="0" rIns="0" bIns="0" rtlCol="0" anchor="ctr"/>
          <a:lstStyle/>
          <a:p>
            <a:pPr indent="0" marL="0">
              <a:buNone/>
            </a:pPr>
            <a:r>
              <a:rPr lang="en-US" sz="1100" i="1" dirty="0">
                <a:solidFill>
                  <a:srgbClr val="00C9C8"/>
                </a:solidFill>
                <a:latin typeface="Calibri" pitchFamily="34" charset="0"/>
                <a:ea typeface="Calibri" pitchFamily="34" charset="-122"/>
                <a:cs typeface="Calibri" pitchFamily="34" charset="-120"/>
              </a:rPr>
              <a:t>Goal: Learn tumor structure features before engaging physics.</a:t>
            </a:r>
            <a:endParaRPr lang="en-US" sz="1100" dirty="0"/>
          </a:p>
        </p:txBody>
      </p:sp>
      <p:sp>
        <p:nvSpPr>
          <p:cNvPr id="10" name="Shape 8"/>
          <p:cNvSpPr/>
          <p:nvPr/>
        </p:nvSpPr>
        <p:spPr>
          <a:xfrm>
            <a:off x="365760" y="1627632"/>
            <a:ext cx="3886200" cy="365760"/>
          </a:xfrm>
          <a:prstGeom prst="rect">
            <a:avLst/>
          </a:prstGeom>
          <a:solidFill>
            <a:srgbClr val="0D2748"/>
          </a:solidFill>
          <a:ln w="12700">
            <a:solidFill>
              <a:srgbClr val="1A3A60"/>
            </a:solidFill>
            <a:prstDash val="solid"/>
          </a:ln>
        </p:spPr>
      </p:sp>
      <p:sp>
        <p:nvSpPr>
          <p:cNvPr id="11" name="Text 9"/>
          <p:cNvSpPr/>
          <p:nvPr/>
        </p:nvSpPr>
        <p:spPr>
          <a:xfrm>
            <a:off x="457200" y="1627632"/>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Active Head: </a:t>
            </a:r>
            <a:endParaRPr lang="en-US" sz="1000" dirty="0"/>
          </a:p>
        </p:txBody>
      </p:sp>
      <p:sp>
        <p:nvSpPr>
          <p:cNvPr id="12" name="Text 10"/>
          <p:cNvSpPr/>
          <p:nvPr/>
        </p:nvSpPr>
        <p:spPr>
          <a:xfrm>
            <a:off x="1463040" y="1627632"/>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Segmentation only (4-class Dice+CE loss)</a:t>
            </a:r>
            <a:endParaRPr lang="en-US" sz="1000" dirty="0"/>
          </a:p>
        </p:txBody>
      </p:sp>
      <p:sp>
        <p:nvSpPr>
          <p:cNvPr id="13" name="Shape 11"/>
          <p:cNvSpPr/>
          <p:nvPr/>
        </p:nvSpPr>
        <p:spPr>
          <a:xfrm>
            <a:off x="365760" y="2029968"/>
            <a:ext cx="3886200" cy="365760"/>
          </a:xfrm>
          <a:prstGeom prst="rect">
            <a:avLst/>
          </a:prstGeom>
          <a:solidFill>
            <a:srgbClr val="0A1E38"/>
          </a:solidFill>
          <a:ln w="12700">
            <a:solidFill>
              <a:srgbClr val="1A3A60"/>
            </a:solidFill>
            <a:prstDash val="solid"/>
          </a:ln>
        </p:spPr>
      </p:sp>
      <p:sp>
        <p:nvSpPr>
          <p:cNvPr id="14" name="Text 12"/>
          <p:cNvSpPr/>
          <p:nvPr/>
        </p:nvSpPr>
        <p:spPr>
          <a:xfrm>
            <a:off x="457200" y="2029968"/>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Frozen Heads: </a:t>
            </a:r>
            <a:endParaRPr lang="en-US" sz="1000" dirty="0"/>
          </a:p>
        </p:txBody>
      </p:sp>
      <p:sp>
        <p:nvSpPr>
          <p:cNvPr id="15" name="Text 13"/>
          <p:cNvSpPr/>
          <p:nvPr/>
        </p:nvSpPr>
        <p:spPr>
          <a:xfrm>
            <a:off x="1463040" y="2029968"/>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Physics parameter heads (D, ρ, density) — frozen</a:t>
            </a:r>
            <a:endParaRPr lang="en-US" sz="1000" dirty="0"/>
          </a:p>
        </p:txBody>
      </p:sp>
      <p:sp>
        <p:nvSpPr>
          <p:cNvPr id="16" name="Shape 14"/>
          <p:cNvSpPr/>
          <p:nvPr/>
        </p:nvSpPr>
        <p:spPr>
          <a:xfrm>
            <a:off x="365760" y="2432304"/>
            <a:ext cx="3886200" cy="365760"/>
          </a:xfrm>
          <a:prstGeom prst="rect">
            <a:avLst/>
          </a:prstGeom>
          <a:solidFill>
            <a:srgbClr val="0D2748"/>
          </a:solidFill>
          <a:ln w="12700">
            <a:solidFill>
              <a:srgbClr val="1A3A60"/>
            </a:solidFill>
            <a:prstDash val="solid"/>
          </a:ln>
        </p:spPr>
      </p:sp>
      <p:sp>
        <p:nvSpPr>
          <p:cNvPr id="17" name="Text 15"/>
          <p:cNvSpPr/>
          <p:nvPr/>
        </p:nvSpPr>
        <p:spPr>
          <a:xfrm>
            <a:off x="457200" y="2432304"/>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Loss: </a:t>
            </a:r>
            <a:endParaRPr lang="en-US" sz="1000" dirty="0"/>
          </a:p>
        </p:txBody>
      </p:sp>
      <p:sp>
        <p:nvSpPr>
          <p:cNvPr id="18" name="Text 16"/>
          <p:cNvSpPr/>
          <p:nvPr/>
        </p:nvSpPr>
        <p:spPr>
          <a:xfrm>
            <a:off x="1463040" y="2432304"/>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L = λ_seg · Dice_CE(seg, label)</a:t>
            </a:r>
            <a:endParaRPr lang="en-US" sz="1000" dirty="0"/>
          </a:p>
        </p:txBody>
      </p:sp>
      <p:sp>
        <p:nvSpPr>
          <p:cNvPr id="19" name="Shape 17"/>
          <p:cNvSpPr/>
          <p:nvPr/>
        </p:nvSpPr>
        <p:spPr>
          <a:xfrm>
            <a:off x="365760" y="2834640"/>
            <a:ext cx="3886200" cy="365760"/>
          </a:xfrm>
          <a:prstGeom prst="rect">
            <a:avLst/>
          </a:prstGeom>
          <a:solidFill>
            <a:srgbClr val="0A1E38"/>
          </a:solidFill>
          <a:ln w="12700">
            <a:solidFill>
              <a:srgbClr val="1A3A60"/>
            </a:solidFill>
            <a:prstDash val="solid"/>
          </a:ln>
        </p:spPr>
      </p:sp>
      <p:sp>
        <p:nvSpPr>
          <p:cNvPr id="20" name="Text 18"/>
          <p:cNvSpPr/>
          <p:nvPr/>
        </p:nvSpPr>
        <p:spPr>
          <a:xfrm>
            <a:off x="457200" y="2834640"/>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Epochs: </a:t>
            </a:r>
            <a:endParaRPr lang="en-US" sz="1000" dirty="0"/>
          </a:p>
        </p:txBody>
      </p:sp>
      <p:sp>
        <p:nvSpPr>
          <p:cNvPr id="21" name="Text 19"/>
          <p:cNvSpPr/>
          <p:nvPr/>
        </p:nvSpPr>
        <p:spPr>
          <a:xfrm>
            <a:off x="1463040" y="2834640"/>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100 epochs on Kaggle T4 GPU</a:t>
            </a:r>
            <a:endParaRPr lang="en-US" sz="1000" dirty="0"/>
          </a:p>
        </p:txBody>
      </p:sp>
      <p:sp>
        <p:nvSpPr>
          <p:cNvPr id="22" name="Shape 20"/>
          <p:cNvSpPr/>
          <p:nvPr/>
        </p:nvSpPr>
        <p:spPr>
          <a:xfrm>
            <a:off x="365760" y="3236976"/>
            <a:ext cx="3886200" cy="365760"/>
          </a:xfrm>
          <a:prstGeom prst="rect">
            <a:avLst/>
          </a:prstGeom>
          <a:solidFill>
            <a:srgbClr val="0D2748"/>
          </a:solidFill>
          <a:ln w="12700">
            <a:solidFill>
              <a:srgbClr val="1A3A60"/>
            </a:solidFill>
            <a:prstDash val="solid"/>
          </a:ln>
        </p:spPr>
      </p:sp>
      <p:sp>
        <p:nvSpPr>
          <p:cNvPr id="23" name="Text 21"/>
          <p:cNvSpPr/>
          <p:nvPr/>
        </p:nvSpPr>
        <p:spPr>
          <a:xfrm>
            <a:off x="457200" y="3236976"/>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Optimizer: </a:t>
            </a:r>
            <a:endParaRPr lang="en-US" sz="1000" dirty="0"/>
          </a:p>
        </p:txBody>
      </p:sp>
      <p:sp>
        <p:nvSpPr>
          <p:cNvPr id="24" name="Text 22"/>
          <p:cNvSpPr/>
          <p:nvPr/>
        </p:nvSpPr>
        <p:spPr>
          <a:xfrm>
            <a:off x="1463040" y="3236976"/>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AdamW (lr=1e-4, backbone lr=1e-5)</a:t>
            </a:r>
            <a:endParaRPr lang="en-US" sz="1000" dirty="0"/>
          </a:p>
        </p:txBody>
      </p:sp>
      <p:sp>
        <p:nvSpPr>
          <p:cNvPr id="25" name="Shape 23"/>
          <p:cNvSpPr/>
          <p:nvPr/>
        </p:nvSpPr>
        <p:spPr>
          <a:xfrm>
            <a:off x="365760" y="3639312"/>
            <a:ext cx="3886200" cy="365760"/>
          </a:xfrm>
          <a:prstGeom prst="rect">
            <a:avLst/>
          </a:prstGeom>
          <a:solidFill>
            <a:srgbClr val="0A1E38"/>
          </a:solidFill>
          <a:ln w="12700">
            <a:solidFill>
              <a:srgbClr val="1A3A60"/>
            </a:solidFill>
            <a:prstDash val="solid"/>
          </a:ln>
        </p:spPr>
      </p:sp>
      <p:sp>
        <p:nvSpPr>
          <p:cNvPr id="26" name="Text 24"/>
          <p:cNvSpPr/>
          <p:nvPr/>
        </p:nvSpPr>
        <p:spPr>
          <a:xfrm>
            <a:off x="457200" y="3639312"/>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Scheduler: </a:t>
            </a:r>
            <a:endParaRPr lang="en-US" sz="1000" dirty="0"/>
          </a:p>
        </p:txBody>
      </p:sp>
      <p:sp>
        <p:nvSpPr>
          <p:cNvPr id="27" name="Text 25"/>
          <p:cNvSpPr/>
          <p:nvPr/>
        </p:nvSpPr>
        <p:spPr>
          <a:xfrm>
            <a:off x="1463040" y="3639312"/>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Cosine annealing with warmup (10 epochs)</a:t>
            </a:r>
            <a:endParaRPr lang="en-US" sz="1000" dirty="0"/>
          </a:p>
        </p:txBody>
      </p:sp>
      <p:sp>
        <p:nvSpPr>
          <p:cNvPr id="28" name="Shape 26"/>
          <p:cNvSpPr/>
          <p:nvPr/>
        </p:nvSpPr>
        <p:spPr>
          <a:xfrm>
            <a:off x="365760" y="4041648"/>
            <a:ext cx="3886200" cy="365760"/>
          </a:xfrm>
          <a:prstGeom prst="rect">
            <a:avLst/>
          </a:prstGeom>
          <a:solidFill>
            <a:srgbClr val="0D2748"/>
          </a:solidFill>
          <a:ln w="12700">
            <a:solidFill>
              <a:srgbClr val="1A3A60"/>
            </a:solidFill>
            <a:prstDash val="solid"/>
          </a:ln>
        </p:spPr>
      </p:sp>
      <p:sp>
        <p:nvSpPr>
          <p:cNvPr id="29" name="Text 27"/>
          <p:cNvSpPr/>
          <p:nvPr/>
        </p:nvSpPr>
        <p:spPr>
          <a:xfrm>
            <a:off x="457200" y="4041648"/>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Batch Size: </a:t>
            </a:r>
            <a:endParaRPr lang="en-US" sz="1000" dirty="0"/>
          </a:p>
        </p:txBody>
      </p:sp>
      <p:sp>
        <p:nvSpPr>
          <p:cNvPr id="30" name="Text 28"/>
          <p:cNvSpPr/>
          <p:nvPr/>
        </p:nvSpPr>
        <p:spPr>
          <a:xfrm>
            <a:off x="1463040" y="4041648"/>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2 (with 4-step gradient accumulation → eff. batch 8)</a:t>
            </a:r>
            <a:endParaRPr lang="en-US" sz="1000" dirty="0"/>
          </a:p>
        </p:txBody>
      </p:sp>
      <p:sp>
        <p:nvSpPr>
          <p:cNvPr id="31" name="Shape 29"/>
          <p:cNvSpPr/>
          <p:nvPr/>
        </p:nvSpPr>
        <p:spPr>
          <a:xfrm>
            <a:off x="365760" y="4443984"/>
            <a:ext cx="3886200" cy="365760"/>
          </a:xfrm>
          <a:prstGeom prst="rect">
            <a:avLst/>
          </a:prstGeom>
          <a:solidFill>
            <a:srgbClr val="0A1E38"/>
          </a:solidFill>
          <a:ln w="12700">
            <a:solidFill>
              <a:srgbClr val="1A3A60"/>
            </a:solidFill>
            <a:prstDash val="solid"/>
          </a:ln>
        </p:spPr>
      </p:sp>
      <p:sp>
        <p:nvSpPr>
          <p:cNvPr id="32" name="Text 30"/>
          <p:cNvSpPr/>
          <p:nvPr/>
        </p:nvSpPr>
        <p:spPr>
          <a:xfrm>
            <a:off x="457200" y="4443984"/>
            <a:ext cx="1005840" cy="365760"/>
          </a:xfrm>
          <a:prstGeom prst="rect">
            <a:avLst/>
          </a:prstGeom>
          <a:noFill/>
          <a:ln/>
        </p:spPr>
        <p:txBody>
          <a:bodyPr wrap="square" lIns="0" tIns="0" rIns="0" bIns="0" rtlCol="0" anchor="ctr"/>
          <a:lstStyle/>
          <a:p>
            <a:pPr indent="0" marL="0">
              <a:buNone/>
            </a:pPr>
            <a:r>
              <a:rPr lang="en-US" sz="1000" b="1" dirty="0">
                <a:solidFill>
                  <a:srgbClr val="00C9C8"/>
                </a:solidFill>
                <a:latin typeface="Calibri" pitchFamily="34" charset="0"/>
                <a:ea typeface="Calibri" pitchFamily="34" charset="-122"/>
                <a:cs typeface="Calibri" pitchFamily="34" charset="-120"/>
              </a:rPr>
              <a:t>Why first?: </a:t>
            </a:r>
            <a:endParaRPr lang="en-US" sz="1000" dirty="0"/>
          </a:p>
        </p:txBody>
      </p:sp>
      <p:sp>
        <p:nvSpPr>
          <p:cNvPr id="33" name="Text 31"/>
          <p:cNvSpPr/>
          <p:nvPr/>
        </p:nvSpPr>
        <p:spPr>
          <a:xfrm>
            <a:off x="1463040" y="4443984"/>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Random physics predictions corrupt PDE loss if activated too early. Stable features first.</a:t>
            </a:r>
            <a:endParaRPr lang="en-US" sz="1000" dirty="0"/>
          </a:p>
        </p:txBody>
      </p:sp>
      <p:sp>
        <p:nvSpPr>
          <p:cNvPr id="34" name="Shape 32"/>
          <p:cNvSpPr/>
          <p:nvPr/>
        </p:nvSpPr>
        <p:spPr>
          <a:xfrm>
            <a:off x="4754880" y="804672"/>
            <a:ext cx="4160520" cy="4160520"/>
          </a:xfrm>
          <a:prstGeom prst="rect">
            <a:avLst/>
          </a:prstGeom>
          <a:solidFill>
            <a:srgbClr val="0B1E3D"/>
          </a:solidFill>
          <a:ln w="12700">
            <a:solidFill>
              <a:srgbClr val="0B1E3D"/>
            </a:solidFill>
            <a:prstDash val="solid"/>
          </a:ln>
          <a:effectLst>
            <a:outerShdw sx="100000" sy="100000" kx="0" ky="0" algn="bl" rotWithShape="0" blurRad="101600" dist="38100" dir="8100000">
              <a:srgbClr val="000000">
                <a:alpha val="20000"/>
              </a:srgbClr>
            </a:outerShdw>
          </a:effectLst>
        </p:spPr>
      </p:sp>
      <p:sp>
        <p:nvSpPr>
          <p:cNvPr id="35" name="Shape 33"/>
          <p:cNvSpPr/>
          <p:nvPr/>
        </p:nvSpPr>
        <p:spPr>
          <a:xfrm>
            <a:off x="4754880" y="804672"/>
            <a:ext cx="4160520" cy="384048"/>
          </a:xfrm>
          <a:prstGeom prst="rect">
            <a:avLst/>
          </a:prstGeom>
          <a:solidFill>
            <a:srgbClr val="6A2C8C"/>
          </a:solidFill>
          <a:ln w="12700">
            <a:solidFill>
              <a:srgbClr val="6A2C8C"/>
            </a:solidFill>
            <a:prstDash val="solid"/>
          </a:ln>
        </p:spPr>
      </p:sp>
      <p:sp>
        <p:nvSpPr>
          <p:cNvPr id="36" name="Text 34"/>
          <p:cNvSpPr/>
          <p:nvPr/>
        </p:nvSpPr>
        <p:spPr>
          <a:xfrm>
            <a:off x="4892040" y="804672"/>
            <a:ext cx="38862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PHASE 2  —  Physics Fine-Tuning</a:t>
            </a:r>
            <a:endParaRPr lang="en-US" sz="1300" dirty="0"/>
          </a:p>
        </p:txBody>
      </p:sp>
      <p:sp>
        <p:nvSpPr>
          <p:cNvPr id="37" name="Text 35"/>
          <p:cNvSpPr/>
          <p:nvPr/>
        </p:nvSpPr>
        <p:spPr>
          <a:xfrm>
            <a:off x="4892040" y="1234440"/>
            <a:ext cx="3840480" cy="320040"/>
          </a:xfrm>
          <a:prstGeom prst="rect">
            <a:avLst/>
          </a:prstGeom>
          <a:noFill/>
          <a:ln/>
        </p:spPr>
        <p:txBody>
          <a:bodyPr wrap="square" lIns="0" tIns="0" rIns="0" bIns="0" rtlCol="0" anchor="ctr"/>
          <a:lstStyle/>
          <a:p>
            <a:pPr indent="0" marL="0">
              <a:buNone/>
            </a:pPr>
            <a:r>
              <a:rPr lang="en-US" sz="1100" i="1" dirty="0">
                <a:solidFill>
                  <a:srgbClr val="C080F0"/>
                </a:solidFill>
                <a:latin typeface="Calibri" pitchFamily="34" charset="0"/>
                <a:ea typeface="Calibri" pitchFamily="34" charset="-122"/>
                <a:cs typeface="Calibri" pitchFamily="34" charset="-120"/>
              </a:rPr>
              <a:t>Goal: Activate physics constraints — PDE residual, IC, BC losses.</a:t>
            </a:r>
            <a:endParaRPr lang="en-US" sz="1100" dirty="0"/>
          </a:p>
        </p:txBody>
      </p:sp>
      <p:sp>
        <p:nvSpPr>
          <p:cNvPr id="38" name="Shape 36"/>
          <p:cNvSpPr/>
          <p:nvPr/>
        </p:nvSpPr>
        <p:spPr>
          <a:xfrm>
            <a:off x="4892040" y="1627632"/>
            <a:ext cx="3886200" cy="365760"/>
          </a:xfrm>
          <a:prstGeom prst="rect">
            <a:avLst/>
          </a:prstGeom>
          <a:solidFill>
            <a:srgbClr val="1A0835"/>
          </a:solidFill>
          <a:ln w="12700">
            <a:solidFill>
              <a:srgbClr val="3A1860"/>
            </a:solidFill>
            <a:prstDash val="solid"/>
          </a:ln>
        </p:spPr>
      </p:sp>
      <p:sp>
        <p:nvSpPr>
          <p:cNvPr id="39" name="Text 37"/>
          <p:cNvSpPr/>
          <p:nvPr/>
        </p:nvSpPr>
        <p:spPr>
          <a:xfrm>
            <a:off x="4983480" y="1627632"/>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Active Heads: </a:t>
            </a:r>
            <a:endParaRPr lang="en-US" sz="1000" dirty="0"/>
          </a:p>
        </p:txBody>
      </p:sp>
      <p:sp>
        <p:nvSpPr>
          <p:cNvPr id="40" name="Text 38"/>
          <p:cNvSpPr/>
          <p:nvPr/>
        </p:nvSpPr>
        <p:spPr>
          <a:xfrm>
            <a:off x="5989320" y="1627632"/>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All heads — density, D(x), ρ(x), segmentation</a:t>
            </a:r>
            <a:endParaRPr lang="en-US" sz="1000" dirty="0"/>
          </a:p>
        </p:txBody>
      </p:sp>
      <p:sp>
        <p:nvSpPr>
          <p:cNvPr id="41" name="Shape 39"/>
          <p:cNvSpPr/>
          <p:nvPr/>
        </p:nvSpPr>
        <p:spPr>
          <a:xfrm>
            <a:off x="4892040" y="2029968"/>
            <a:ext cx="3886200" cy="365760"/>
          </a:xfrm>
          <a:prstGeom prst="rect">
            <a:avLst/>
          </a:prstGeom>
          <a:solidFill>
            <a:srgbClr val="140628"/>
          </a:solidFill>
          <a:ln w="12700">
            <a:solidFill>
              <a:srgbClr val="3A1860"/>
            </a:solidFill>
            <a:prstDash val="solid"/>
          </a:ln>
        </p:spPr>
      </p:sp>
      <p:sp>
        <p:nvSpPr>
          <p:cNvPr id="42" name="Text 40"/>
          <p:cNvSpPr/>
          <p:nvPr/>
        </p:nvSpPr>
        <p:spPr>
          <a:xfrm>
            <a:off x="4983480" y="2029968"/>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Resume: </a:t>
            </a:r>
            <a:endParaRPr lang="en-US" sz="1000" dirty="0"/>
          </a:p>
        </p:txBody>
      </p:sp>
      <p:sp>
        <p:nvSpPr>
          <p:cNvPr id="43" name="Text 41"/>
          <p:cNvSpPr/>
          <p:nvPr/>
        </p:nvSpPr>
        <p:spPr>
          <a:xfrm>
            <a:off x="5989320" y="2029968"/>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Load pretrain_best.pth checkpoint</a:t>
            </a:r>
            <a:endParaRPr lang="en-US" sz="1000" dirty="0"/>
          </a:p>
        </p:txBody>
      </p:sp>
      <p:sp>
        <p:nvSpPr>
          <p:cNvPr id="44" name="Shape 42"/>
          <p:cNvSpPr/>
          <p:nvPr/>
        </p:nvSpPr>
        <p:spPr>
          <a:xfrm>
            <a:off x="4892040" y="2432304"/>
            <a:ext cx="3886200" cy="365760"/>
          </a:xfrm>
          <a:prstGeom prst="rect">
            <a:avLst/>
          </a:prstGeom>
          <a:solidFill>
            <a:srgbClr val="1A0835"/>
          </a:solidFill>
          <a:ln w="12700">
            <a:solidFill>
              <a:srgbClr val="3A1860"/>
            </a:solidFill>
            <a:prstDash val="solid"/>
          </a:ln>
        </p:spPr>
      </p:sp>
      <p:sp>
        <p:nvSpPr>
          <p:cNvPr id="45" name="Text 43"/>
          <p:cNvSpPr/>
          <p:nvPr/>
        </p:nvSpPr>
        <p:spPr>
          <a:xfrm>
            <a:off x="4983480" y="2432304"/>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Loss: </a:t>
            </a:r>
            <a:endParaRPr lang="en-US" sz="1000" dirty="0"/>
          </a:p>
        </p:txBody>
      </p:sp>
      <p:sp>
        <p:nvSpPr>
          <p:cNvPr id="46" name="Text 44"/>
          <p:cNvSpPr/>
          <p:nvPr/>
        </p:nvSpPr>
        <p:spPr>
          <a:xfrm>
            <a:off x="5989320" y="2432304"/>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L_total = L_data + L_PDE + L_IC + L_BC + L_reg</a:t>
            </a:r>
            <a:endParaRPr lang="en-US" sz="1000" dirty="0"/>
          </a:p>
        </p:txBody>
      </p:sp>
      <p:sp>
        <p:nvSpPr>
          <p:cNvPr id="47" name="Shape 45"/>
          <p:cNvSpPr/>
          <p:nvPr/>
        </p:nvSpPr>
        <p:spPr>
          <a:xfrm>
            <a:off x="4892040" y="2834640"/>
            <a:ext cx="3886200" cy="365760"/>
          </a:xfrm>
          <a:prstGeom prst="rect">
            <a:avLst/>
          </a:prstGeom>
          <a:solidFill>
            <a:srgbClr val="140628"/>
          </a:solidFill>
          <a:ln w="12700">
            <a:solidFill>
              <a:srgbClr val="3A1860"/>
            </a:solidFill>
            <a:prstDash val="solid"/>
          </a:ln>
        </p:spPr>
      </p:sp>
      <p:sp>
        <p:nvSpPr>
          <p:cNvPr id="48" name="Text 46"/>
          <p:cNvSpPr/>
          <p:nvPr/>
        </p:nvSpPr>
        <p:spPr>
          <a:xfrm>
            <a:off x="4983480" y="2834640"/>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PDE Supervision: </a:t>
            </a:r>
            <a:endParaRPr lang="en-US" sz="1000" dirty="0"/>
          </a:p>
        </p:txBody>
      </p:sp>
      <p:sp>
        <p:nvSpPr>
          <p:cNvPr id="49" name="Text 47"/>
          <p:cNvSpPr/>
          <p:nvPr/>
        </p:nvSpPr>
        <p:spPr>
          <a:xfrm>
            <a:off x="5989320" y="2834640"/>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Synthetic u(t+Δt) via FisherKPP RK4 solver</a:t>
            </a:r>
            <a:endParaRPr lang="en-US" sz="1000" dirty="0"/>
          </a:p>
        </p:txBody>
      </p:sp>
      <p:sp>
        <p:nvSpPr>
          <p:cNvPr id="50" name="Shape 48"/>
          <p:cNvSpPr/>
          <p:nvPr/>
        </p:nvSpPr>
        <p:spPr>
          <a:xfrm>
            <a:off x="4892040" y="3236976"/>
            <a:ext cx="3886200" cy="365760"/>
          </a:xfrm>
          <a:prstGeom prst="rect">
            <a:avLst/>
          </a:prstGeom>
          <a:solidFill>
            <a:srgbClr val="1A0835"/>
          </a:solidFill>
          <a:ln w="12700">
            <a:solidFill>
              <a:srgbClr val="3A1860"/>
            </a:solidFill>
            <a:prstDash val="solid"/>
          </a:ln>
        </p:spPr>
      </p:sp>
      <p:sp>
        <p:nvSpPr>
          <p:cNvPr id="51" name="Text 49"/>
          <p:cNvSpPr/>
          <p:nvPr/>
        </p:nvSpPr>
        <p:spPr>
          <a:xfrm>
            <a:off x="4983480" y="3236976"/>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Epochs: </a:t>
            </a:r>
            <a:endParaRPr lang="en-US" sz="1000" dirty="0"/>
          </a:p>
        </p:txBody>
      </p:sp>
      <p:sp>
        <p:nvSpPr>
          <p:cNvPr id="52" name="Text 50"/>
          <p:cNvSpPr/>
          <p:nvPr/>
        </p:nvSpPr>
        <p:spPr>
          <a:xfrm>
            <a:off x="5989320" y="3236976"/>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100 additional epochs (total 200 on Kaggle)</a:t>
            </a:r>
            <a:endParaRPr lang="en-US" sz="1000" dirty="0"/>
          </a:p>
        </p:txBody>
      </p:sp>
      <p:sp>
        <p:nvSpPr>
          <p:cNvPr id="53" name="Shape 51"/>
          <p:cNvSpPr/>
          <p:nvPr/>
        </p:nvSpPr>
        <p:spPr>
          <a:xfrm>
            <a:off x="4892040" y="3639312"/>
            <a:ext cx="3886200" cy="365760"/>
          </a:xfrm>
          <a:prstGeom prst="rect">
            <a:avLst/>
          </a:prstGeom>
          <a:solidFill>
            <a:srgbClr val="140628"/>
          </a:solidFill>
          <a:ln w="12700">
            <a:solidFill>
              <a:srgbClr val="3A1860"/>
            </a:solidFill>
            <a:prstDash val="solid"/>
          </a:ln>
        </p:spPr>
      </p:sp>
      <p:sp>
        <p:nvSpPr>
          <p:cNvPr id="54" name="Text 52"/>
          <p:cNvSpPr/>
          <p:nvPr/>
        </p:nvSpPr>
        <p:spPr>
          <a:xfrm>
            <a:off x="4983480" y="3639312"/>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Batch Size: </a:t>
            </a:r>
            <a:endParaRPr lang="en-US" sz="1000" dirty="0"/>
          </a:p>
        </p:txBody>
      </p:sp>
      <p:sp>
        <p:nvSpPr>
          <p:cNvPr id="55" name="Text 53"/>
          <p:cNvSpPr/>
          <p:nvPr/>
        </p:nvSpPr>
        <p:spPr>
          <a:xfrm>
            <a:off x="5989320" y="3639312"/>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1 (PDE computation is memory-intensive)</a:t>
            </a:r>
            <a:endParaRPr lang="en-US" sz="1000" dirty="0"/>
          </a:p>
        </p:txBody>
      </p:sp>
      <p:sp>
        <p:nvSpPr>
          <p:cNvPr id="56" name="Shape 54"/>
          <p:cNvSpPr/>
          <p:nvPr/>
        </p:nvSpPr>
        <p:spPr>
          <a:xfrm>
            <a:off x="4892040" y="4041648"/>
            <a:ext cx="3886200" cy="365760"/>
          </a:xfrm>
          <a:prstGeom prst="rect">
            <a:avLst/>
          </a:prstGeom>
          <a:solidFill>
            <a:srgbClr val="1A0835"/>
          </a:solidFill>
          <a:ln w="12700">
            <a:solidFill>
              <a:srgbClr val="3A1860"/>
            </a:solidFill>
            <a:prstDash val="solid"/>
          </a:ln>
        </p:spPr>
      </p:sp>
      <p:sp>
        <p:nvSpPr>
          <p:cNvPr id="57" name="Text 55"/>
          <p:cNvSpPr/>
          <p:nvPr/>
        </p:nvSpPr>
        <p:spPr>
          <a:xfrm>
            <a:off x="4983480" y="4041648"/>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Adaptive Weights: </a:t>
            </a:r>
            <a:endParaRPr lang="en-US" sz="1000" dirty="0"/>
          </a:p>
        </p:txBody>
      </p:sp>
      <p:sp>
        <p:nvSpPr>
          <p:cNvPr id="58" name="Text 56"/>
          <p:cNvSpPr/>
          <p:nvPr/>
        </p:nvSpPr>
        <p:spPr>
          <a:xfrm>
            <a:off x="5989320" y="4041648"/>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Gradient-norm balancing across loss terms</a:t>
            </a:r>
            <a:endParaRPr lang="en-US" sz="1000" dirty="0"/>
          </a:p>
        </p:txBody>
      </p:sp>
      <p:sp>
        <p:nvSpPr>
          <p:cNvPr id="59" name="Shape 57"/>
          <p:cNvSpPr/>
          <p:nvPr/>
        </p:nvSpPr>
        <p:spPr>
          <a:xfrm>
            <a:off x="4892040" y="4443984"/>
            <a:ext cx="3886200" cy="365760"/>
          </a:xfrm>
          <a:prstGeom prst="rect">
            <a:avLst/>
          </a:prstGeom>
          <a:solidFill>
            <a:srgbClr val="140628"/>
          </a:solidFill>
          <a:ln w="12700">
            <a:solidFill>
              <a:srgbClr val="3A1860"/>
            </a:solidFill>
            <a:prstDash val="solid"/>
          </a:ln>
        </p:spPr>
      </p:sp>
      <p:sp>
        <p:nvSpPr>
          <p:cNvPr id="60" name="Text 58"/>
          <p:cNvSpPr/>
          <p:nvPr/>
        </p:nvSpPr>
        <p:spPr>
          <a:xfrm>
            <a:off x="4983480" y="4443984"/>
            <a:ext cx="1005840" cy="365760"/>
          </a:xfrm>
          <a:prstGeom prst="rect">
            <a:avLst/>
          </a:prstGeom>
          <a:noFill/>
          <a:ln/>
        </p:spPr>
        <p:txBody>
          <a:bodyPr wrap="square" lIns="0" tIns="0" rIns="0" bIns="0" rtlCol="0" anchor="ctr"/>
          <a:lstStyle/>
          <a:p>
            <a:pPr indent="0" marL="0">
              <a:buNone/>
            </a:pPr>
            <a:r>
              <a:rPr lang="en-US" sz="1000" b="1" dirty="0">
                <a:solidFill>
                  <a:srgbClr val="C080F0"/>
                </a:solidFill>
                <a:latin typeface="Calibri" pitchFamily="34" charset="0"/>
                <a:ea typeface="Calibri" pitchFamily="34" charset="-122"/>
                <a:cs typeface="Calibri" pitchFamily="34" charset="-120"/>
              </a:rPr>
              <a:t>EMA: </a:t>
            </a:r>
            <a:endParaRPr lang="en-US" sz="1000" dirty="0"/>
          </a:p>
        </p:txBody>
      </p:sp>
      <p:sp>
        <p:nvSpPr>
          <p:cNvPr id="61" name="Text 59"/>
          <p:cNvSpPr/>
          <p:nvPr/>
        </p:nvSpPr>
        <p:spPr>
          <a:xfrm>
            <a:off x="5989320" y="4443984"/>
            <a:ext cx="2651760" cy="36576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Exponential Moving Average of weights for stable inference</a:t>
            </a:r>
            <a:endParaRPr lang="en-US" sz="1000" dirty="0"/>
          </a:p>
        </p:txBody>
      </p:sp>
      <p:sp>
        <p:nvSpPr>
          <p:cNvPr id="62" name="Text 60"/>
          <p:cNvSpPr/>
          <p:nvPr/>
        </p:nvSpPr>
        <p:spPr>
          <a:xfrm>
            <a:off x="228600" y="4965192"/>
            <a:ext cx="8686800" cy="201168"/>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Gradient Chaos Prevention: Physics losses are only activated after the network has stable segmentation features. Starting with PDE loss on random weights causes catastrophic divergence.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Combined Loss Function — Multi-Objective Physics Constraint</a:t>
            </a:r>
            <a:endParaRPr lang="en-US" sz="2200" dirty="0"/>
          </a:p>
        </p:txBody>
      </p:sp>
      <p:sp>
        <p:nvSpPr>
          <p:cNvPr id="5" name="Shape 3"/>
          <p:cNvSpPr/>
          <p:nvPr/>
        </p:nvSpPr>
        <p:spPr>
          <a:xfrm>
            <a:off x="0" y="685800"/>
            <a:ext cx="9144000" cy="36576"/>
          </a:xfrm>
          <a:prstGeom prst="rect">
            <a:avLst/>
          </a:prstGeom>
          <a:solidFill>
            <a:srgbClr val="00C9C8"/>
          </a:solidFill>
          <a:ln w="12700">
            <a:solidFill>
              <a:srgbClr val="00C9C8"/>
            </a:solidFill>
            <a:prstDash val="solid"/>
          </a:ln>
        </p:spPr>
      </p:sp>
      <p:sp>
        <p:nvSpPr>
          <p:cNvPr id="6" name="Text 4"/>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18 / 20</a:t>
            </a:r>
            <a:endParaRPr lang="en-US" sz="900" dirty="0"/>
          </a:p>
        </p:txBody>
      </p:sp>
      <p:sp>
        <p:nvSpPr>
          <p:cNvPr id="7" name="Shape 5"/>
          <p:cNvSpPr/>
          <p:nvPr/>
        </p:nvSpPr>
        <p:spPr>
          <a:xfrm>
            <a:off x="182880" y="804672"/>
            <a:ext cx="8778240" cy="713232"/>
          </a:xfrm>
          <a:prstGeom prst="rect">
            <a:avLst/>
          </a:prstGeom>
          <a:solidFill>
            <a:srgbClr val="0D2748"/>
          </a:solidFill>
          <a:ln w="12700">
            <a:solidFill>
              <a:srgbClr val="00C9C8"/>
            </a:solidFill>
            <a:prstDash val="solid"/>
          </a:ln>
        </p:spPr>
      </p:sp>
      <p:sp>
        <p:nvSpPr>
          <p:cNvPr id="8" name="Text 6"/>
          <p:cNvSpPr/>
          <p:nvPr/>
        </p:nvSpPr>
        <p:spPr>
          <a:xfrm>
            <a:off x="182880" y="804672"/>
            <a:ext cx="8778240"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L_total  =  λ_data · L_data  +  λ_PDE · L_PDE  +  λ_IC · L_IC  +  λ_BC · L_BC  +  λ_reg · L_reg  +  λ_seg · L_seg</a:t>
            </a:r>
            <a:endParaRPr lang="en-US" sz="1400" dirty="0"/>
          </a:p>
        </p:txBody>
      </p:sp>
      <p:sp>
        <p:nvSpPr>
          <p:cNvPr id="9" name="Shape 7"/>
          <p:cNvSpPr/>
          <p:nvPr/>
        </p:nvSpPr>
        <p:spPr>
          <a:xfrm>
            <a:off x="182880" y="1600200"/>
            <a:ext cx="4297680" cy="1078992"/>
          </a:xfrm>
          <a:prstGeom prst="rect">
            <a:avLst/>
          </a:prstGeom>
          <a:solidFill>
            <a:srgbClr val="0D1A2D"/>
          </a:solidFill>
          <a:ln w="12700">
            <a:solidFill>
              <a:srgbClr val="009B9B"/>
            </a:solidFill>
            <a:prstDash val="solid"/>
          </a:ln>
        </p:spPr>
      </p:sp>
      <p:sp>
        <p:nvSpPr>
          <p:cNvPr id="10" name="Shape 8"/>
          <p:cNvSpPr/>
          <p:nvPr/>
        </p:nvSpPr>
        <p:spPr>
          <a:xfrm>
            <a:off x="182880" y="1600200"/>
            <a:ext cx="4297680" cy="320040"/>
          </a:xfrm>
          <a:prstGeom prst="rect">
            <a:avLst/>
          </a:prstGeom>
          <a:solidFill>
            <a:srgbClr val="009B9B"/>
          </a:solidFill>
          <a:ln w="12700">
            <a:solidFill>
              <a:srgbClr val="009B9B"/>
            </a:solidFill>
            <a:prstDash val="solid"/>
          </a:ln>
        </p:spPr>
      </p:sp>
      <p:sp>
        <p:nvSpPr>
          <p:cNvPr id="11" name="Text 9"/>
          <p:cNvSpPr/>
          <p:nvPr/>
        </p:nvSpPr>
        <p:spPr>
          <a:xfrm>
            <a:off x="256032" y="1600200"/>
            <a:ext cx="1097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L_data</a:t>
            </a:r>
            <a:endParaRPr lang="en-US" sz="1300" dirty="0"/>
          </a:p>
        </p:txBody>
      </p:sp>
      <p:sp>
        <p:nvSpPr>
          <p:cNvPr id="12" name="Shape 10"/>
          <p:cNvSpPr/>
          <p:nvPr/>
        </p:nvSpPr>
        <p:spPr>
          <a:xfrm>
            <a:off x="1417320" y="1645920"/>
            <a:ext cx="658368" cy="256032"/>
          </a:xfrm>
          <a:prstGeom prst="rect">
            <a:avLst/>
          </a:prstGeom>
          <a:solidFill>
            <a:srgbClr val="FFFFFF"/>
          </a:solidFill>
          <a:ln w="12700">
            <a:solidFill>
              <a:srgbClr val="009B9B"/>
            </a:solidFill>
            <a:prstDash val="solid"/>
          </a:ln>
        </p:spPr>
      </p:sp>
      <p:sp>
        <p:nvSpPr>
          <p:cNvPr id="13" name="Text 11"/>
          <p:cNvSpPr/>
          <p:nvPr/>
        </p:nvSpPr>
        <p:spPr>
          <a:xfrm>
            <a:off x="1417320" y="1645920"/>
            <a:ext cx="658368" cy="256032"/>
          </a:xfrm>
          <a:prstGeom prst="rect">
            <a:avLst/>
          </a:prstGeom>
          <a:noFill/>
          <a:ln/>
        </p:spPr>
        <p:txBody>
          <a:bodyPr wrap="square" lIns="0" tIns="0" rIns="0" bIns="0" rtlCol="0" anchor="ctr"/>
          <a:lstStyle/>
          <a:p>
            <a:pPr algn="ctr" indent="0" marL="0">
              <a:buNone/>
            </a:pPr>
            <a:r>
              <a:rPr lang="en-US" sz="950" b="1" dirty="0">
                <a:solidFill>
                  <a:srgbClr val="009B9B"/>
                </a:solidFill>
                <a:latin typeface="Calibri" pitchFamily="34" charset="0"/>
                <a:ea typeface="Calibri" pitchFamily="34" charset="-122"/>
                <a:cs typeface="Calibri" pitchFamily="34" charset="-120"/>
              </a:rPr>
              <a:t>λ=1.0</a:t>
            </a:r>
            <a:endParaRPr lang="en-US" sz="950" dirty="0"/>
          </a:p>
        </p:txBody>
      </p:sp>
      <p:sp>
        <p:nvSpPr>
          <p:cNvPr id="14" name="Text 12"/>
          <p:cNvSpPr/>
          <p:nvPr/>
        </p:nvSpPr>
        <p:spPr>
          <a:xfrm>
            <a:off x="2148840" y="1600200"/>
            <a:ext cx="22402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Fidelity</a:t>
            </a:r>
            <a:endParaRPr lang="en-US" sz="1100" dirty="0"/>
          </a:p>
        </p:txBody>
      </p:sp>
      <p:sp>
        <p:nvSpPr>
          <p:cNvPr id="15" name="Text 13"/>
          <p:cNvSpPr/>
          <p:nvPr/>
        </p:nvSpPr>
        <p:spPr>
          <a:xfrm>
            <a:off x="274320" y="1947672"/>
            <a:ext cx="4114800" cy="228600"/>
          </a:xfrm>
          <a:prstGeom prst="rect">
            <a:avLst/>
          </a:prstGeom>
          <a:noFill/>
          <a:ln/>
        </p:spPr>
        <p:txBody>
          <a:bodyPr wrap="square" lIns="0" tIns="0" rIns="0" bIns="0" rtlCol="0" anchor="ctr"/>
          <a:lstStyle/>
          <a:p>
            <a:pPr indent="0" marL="0">
              <a:buNone/>
            </a:pPr>
            <a:r>
              <a:rPr lang="en-US" sz="950" b="1" dirty="0">
                <a:solidFill>
                  <a:srgbClr val="009B9B"/>
                </a:solidFill>
                <a:latin typeface="Calibri" pitchFamily="34" charset="0"/>
                <a:ea typeface="Calibri" pitchFamily="34" charset="-122"/>
                <a:cs typeface="Calibri" pitchFamily="34" charset="-120"/>
              </a:rPr>
              <a:t>‖u_pred − u_target‖²  (MSE on density field)</a:t>
            </a:r>
            <a:endParaRPr lang="en-US" sz="950" dirty="0"/>
          </a:p>
        </p:txBody>
      </p:sp>
      <p:sp>
        <p:nvSpPr>
          <p:cNvPr id="16" name="Text 14"/>
          <p:cNvSpPr/>
          <p:nvPr/>
        </p:nvSpPr>
        <p:spPr>
          <a:xfrm>
            <a:off x="274320" y="2176272"/>
            <a:ext cx="4114800" cy="347472"/>
          </a:xfrm>
          <a:prstGeom prst="rect">
            <a:avLst/>
          </a:prstGeom>
          <a:noFill/>
          <a:ln/>
        </p:spPr>
        <p:txBody>
          <a:bodyPr wrap="square" lIns="0" tIns="0" rIns="0" bIns="0" rtlCol="0" anchor="ctr"/>
          <a:lstStyle/>
          <a:p>
            <a:pPr indent="0" marL="0">
              <a:buNone/>
            </a:pPr>
            <a:r>
              <a:rPr lang="en-US" sz="950" dirty="0">
                <a:solidFill>
                  <a:srgbClr val="8090A0"/>
                </a:solidFill>
                <a:latin typeface="Calibri" pitchFamily="34" charset="0"/>
                <a:ea typeface="Calibri" pitchFamily="34" charset="-122"/>
                <a:cs typeface="Calibri" pitchFamily="34" charset="-120"/>
              </a:rPr>
              <a:t>The network's predicted tumor density must match the biophysically-constructed ground truth u(x) from seg labels.</a:t>
            </a:r>
            <a:endParaRPr lang="en-US" sz="950" dirty="0"/>
          </a:p>
        </p:txBody>
      </p:sp>
      <p:sp>
        <p:nvSpPr>
          <p:cNvPr id="17" name="Shape 15"/>
          <p:cNvSpPr/>
          <p:nvPr/>
        </p:nvSpPr>
        <p:spPr>
          <a:xfrm>
            <a:off x="4663440" y="1600200"/>
            <a:ext cx="4297680" cy="1078992"/>
          </a:xfrm>
          <a:prstGeom prst="rect">
            <a:avLst/>
          </a:prstGeom>
          <a:solidFill>
            <a:srgbClr val="0D1A2D"/>
          </a:solidFill>
          <a:ln w="12700">
            <a:solidFill>
              <a:srgbClr val="6A2C8C"/>
            </a:solidFill>
            <a:prstDash val="solid"/>
          </a:ln>
        </p:spPr>
      </p:sp>
      <p:sp>
        <p:nvSpPr>
          <p:cNvPr id="18" name="Shape 16"/>
          <p:cNvSpPr/>
          <p:nvPr/>
        </p:nvSpPr>
        <p:spPr>
          <a:xfrm>
            <a:off x="4663440" y="1600200"/>
            <a:ext cx="4297680" cy="320040"/>
          </a:xfrm>
          <a:prstGeom prst="rect">
            <a:avLst/>
          </a:prstGeom>
          <a:solidFill>
            <a:srgbClr val="6A2C8C"/>
          </a:solidFill>
          <a:ln w="12700">
            <a:solidFill>
              <a:srgbClr val="6A2C8C"/>
            </a:solidFill>
            <a:prstDash val="solid"/>
          </a:ln>
        </p:spPr>
      </p:sp>
      <p:sp>
        <p:nvSpPr>
          <p:cNvPr id="19" name="Text 17"/>
          <p:cNvSpPr/>
          <p:nvPr/>
        </p:nvSpPr>
        <p:spPr>
          <a:xfrm>
            <a:off x="4736592" y="1600200"/>
            <a:ext cx="1097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L_PDE</a:t>
            </a:r>
            <a:endParaRPr lang="en-US" sz="1300" dirty="0"/>
          </a:p>
        </p:txBody>
      </p:sp>
      <p:sp>
        <p:nvSpPr>
          <p:cNvPr id="20" name="Shape 18"/>
          <p:cNvSpPr/>
          <p:nvPr/>
        </p:nvSpPr>
        <p:spPr>
          <a:xfrm>
            <a:off x="5897880" y="1645920"/>
            <a:ext cx="658368" cy="256032"/>
          </a:xfrm>
          <a:prstGeom prst="rect">
            <a:avLst/>
          </a:prstGeom>
          <a:solidFill>
            <a:srgbClr val="FFFFFF"/>
          </a:solidFill>
          <a:ln w="12700">
            <a:solidFill>
              <a:srgbClr val="6A2C8C"/>
            </a:solidFill>
            <a:prstDash val="solid"/>
          </a:ln>
        </p:spPr>
      </p:sp>
      <p:sp>
        <p:nvSpPr>
          <p:cNvPr id="21" name="Text 19"/>
          <p:cNvSpPr/>
          <p:nvPr/>
        </p:nvSpPr>
        <p:spPr>
          <a:xfrm>
            <a:off x="5897880" y="1645920"/>
            <a:ext cx="658368" cy="256032"/>
          </a:xfrm>
          <a:prstGeom prst="rect">
            <a:avLst/>
          </a:prstGeom>
          <a:noFill/>
          <a:ln/>
        </p:spPr>
        <p:txBody>
          <a:bodyPr wrap="square" lIns="0" tIns="0" rIns="0" bIns="0" rtlCol="0" anchor="ctr"/>
          <a:lstStyle/>
          <a:p>
            <a:pPr algn="ctr" indent="0" marL="0">
              <a:buNone/>
            </a:pPr>
            <a:r>
              <a:rPr lang="en-US" sz="950" b="1" dirty="0">
                <a:solidFill>
                  <a:srgbClr val="6A2C8C"/>
                </a:solidFill>
                <a:latin typeface="Calibri" pitchFamily="34" charset="0"/>
                <a:ea typeface="Calibri" pitchFamily="34" charset="-122"/>
                <a:cs typeface="Calibri" pitchFamily="34" charset="-120"/>
              </a:rPr>
              <a:t>λ=0.1</a:t>
            </a:r>
            <a:endParaRPr lang="en-US" sz="950" dirty="0"/>
          </a:p>
        </p:txBody>
      </p:sp>
      <p:sp>
        <p:nvSpPr>
          <p:cNvPr id="22" name="Text 20"/>
          <p:cNvSpPr/>
          <p:nvPr/>
        </p:nvSpPr>
        <p:spPr>
          <a:xfrm>
            <a:off x="6629400" y="1600200"/>
            <a:ext cx="22402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PDE Residual</a:t>
            </a:r>
            <a:endParaRPr lang="en-US" sz="1100" dirty="0"/>
          </a:p>
        </p:txBody>
      </p:sp>
      <p:sp>
        <p:nvSpPr>
          <p:cNvPr id="23" name="Text 21"/>
          <p:cNvSpPr/>
          <p:nvPr/>
        </p:nvSpPr>
        <p:spPr>
          <a:xfrm>
            <a:off x="4754880" y="1947672"/>
            <a:ext cx="4114800" cy="228600"/>
          </a:xfrm>
          <a:prstGeom prst="rect">
            <a:avLst/>
          </a:prstGeom>
          <a:noFill/>
          <a:ln/>
        </p:spPr>
        <p:txBody>
          <a:bodyPr wrap="square" lIns="0" tIns="0" rIns="0" bIns="0" rtlCol="0" anchor="ctr"/>
          <a:lstStyle/>
          <a:p>
            <a:pPr indent="0" marL="0">
              <a:buNone/>
            </a:pPr>
            <a:r>
              <a:rPr lang="en-US" sz="950" b="1" dirty="0">
                <a:solidFill>
                  <a:srgbClr val="6A2C8C"/>
                </a:solidFill>
                <a:latin typeface="Calibri" pitchFamily="34" charset="0"/>
                <a:ea typeface="Calibri" pitchFamily="34" charset="-122"/>
                <a:cs typeface="Calibri" pitchFamily="34" charset="-120"/>
              </a:rPr>
              <a:t>‖∂u/∂t − ∇·(D∇u) − ρu(1−u)‖²</a:t>
            </a:r>
            <a:endParaRPr lang="en-US" sz="950" dirty="0"/>
          </a:p>
        </p:txBody>
      </p:sp>
      <p:sp>
        <p:nvSpPr>
          <p:cNvPr id="24" name="Text 22"/>
          <p:cNvSpPr/>
          <p:nvPr/>
        </p:nvSpPr>
        <p:spPr>
          <a:xfrm>
            <a:off x="4754880" y="2176272"/>
            <a:ext cx="4114800" cy="347472"/>
          </a:xfrm>
          <a:prstGeom prst="rect">
            <a:avLst/>
          </a:prstGeom>
          <a:noFill/>
          <a:ln/>
        </p:spPr>
        <p:txBody>
          <a:bodyPr wrap="square" lIns="0" tIns="0" rIns="0" bIns="0" rtlCol="0" anchor="ctr"/>
          <a:lstStyle/>
          <a:p>
            <a:pPr indent="0" marL="0">
              <a:buNone/>
            </a:pPr>
            <a:r>
              <a:rPr lang="en-US" sz="950" dirty="0">
                <a:solidFill>
                  <a:srgbClr val="8090A0"/>
                </a:solidFill>
                <a:latin typeface="Calibri" pitchFamily="34" charset="0"/>
                <a:ea typeface="Calibri" pitchFamily="34" charset="-122"/>
                <a:cs typeface="Calibri" pitchFamily="34" charset="-120"/>
              </a:rPr>
              <a:t>Penalizes violations of the Fisher-KPP equation. Computed with finite-difference Laplacian on predicted D and ρ.</a:t>
            </a:r>
            <a:endParaRPr lang="en-US" sz="950" dirty="0"/>
          </a:p>
        </p:txBody>
      </p:sp>
      <p:sp>
        <p:nvSpPr>
          <p:cNvPr id="25" name="Shape 23"/>
          <p:cNvSpPr/>
          <p:nvPr/>
        </p:nvSpPr>
        <p:spPr>
          <a:xfrm>
            <a:off x="182880" y="2743200"/>
            <a:ext cx="4297680" cy="1078992"/>
          </a:xfrm>
          <a:prstGeom prst="rect">
            <a:avLst/>
          </a:prstGeom>
          <a:solidFill>
            <a:srgbClr val="0D1A2D"/>
          </a:solidFill>
          <a:ln w="12700">
            <a:solidFill>
              <a:srgbClr val="F5A623"/>
            </a:solidFill>
            <a:prstDash val="solid"/>
          </a:ln>
        </p:spPr>
      </p:sp>
      <p:sp>
        <p:nvSpPr>
          <p:cNvPr id="26" name="Shape 24"/>
          <p:cNvSpPr/>
          <p:nvPr/>
        </p:nvSpPr>
        <p:spPr>
          <a:xfrm>
            <a:off x="182880" y="2743200"/>
            <a:ext cx="4297680" cy="320040"/>
          </a:xfrm>
          <a:prstGeom prst="rect">
            <a:avLst/>
          </a:prstGeom>
          <a:solidFill>
            <a:srgbClr val="F5A623"/>
          </a:solidFill>
          <a:ln w="12700">
            <a:solidFill>
              <a:srgbClr val="F5A623"/>
            </a:solidFill>
            <a:prstDash val="solid"/>
          </a:ln>
        </p:spPr>
      </p:sp>
      <p:sp>
        <p:nvSpPr>
          <p:cNvPr id="27" name="Text 25"/>
          <p:cNvSpPr/>
          <p:nvPr/>
        </p:nvSpPr>
        <p:spPr>
          <a:xfrm>
            <a:off x="256032" y="2743200"/>
            <a:ext cx="1097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L_IC</a:t>
            </a:r>
            <a:endParaRPr lang="en-US" sz="1300" dirty="0"/>
          </a:p>
        </p:txBody>
      </p:sp>
      <p:sp>
        <p:nvSpPr>
          <p:cNvPr id="28" name="Shape 26"/>
          <p:cNvSpPr/>
          <p:nvPr/>
        </p:nvSpPr>
        <p:spPr>
          <a:xfrm>
            <a:off x="1417320" y="2788920"/>
            <a:ext cx="658368" cy="256032"/>
          </a:xfrm>
          <a:prstGeom prst="rect">
            <a:avLst/>
          </a:prstGeom>
          <a:solidFill>
            <a:srgbClr val="FFFFFF"/>
          </a:solidFill>
          <a:ln w="12700">
            <a:solidFill>
              <a:srgbClr val="F5A623"/>
            </a:solidFill>
            <a:prstDash val="solid"/>
          </a:ln>
        </p:spPr>
      </p:sp>
      <p:sp>
        <p:nvSpPr>
          <p:cNvPr id="29" name="Text 27"/>
          <p:cNvSpPr/>
          <p:nvPr/>
        </p:nvSpPr>
        <p:spPr>
          <a:xfrm>
            <a:off x="1417320" y="2788920"/>
            <a:ext cx="658368" cy="256032"/>
          </a:xfrm>
          <a:prstGeom prst="rect">
            <a:avLst/>
          </a:prstGeom>
          <a:noFill/>
          <a:ln/>
        </p:spPr>
        <p:txBody>
          <a:bodyPr wrap="square" lIns="0" tIns="0" rIns="0" bIns="0" rtlCol="0" anchor="ctr"/>
          <a:lstStyle/>
          <a:p>
            <a:pPr algn="ctr" indent="0" marL="0">
              <a:buNone/>
            </a:pPr>
            <a:r>
              <a:rPr lang="en-US" sz="950" b="1" dirty="0">
                <a:solidFill>
                  <a:srgbClr val="F5A623"/>
                </a:solidFill>
                <a:latin typeface="Calibri" pitchFamily="34" charset="0"/>
                <a:ea typeface="Calibri" pitchFamily="34" charset="-122"/>
                <a:cs typeface="Calibri" pitchFamily="34" charset="-120"/>
              </a:rPr>
              <a:t>λ=0.05</a:t>
            </a:r>
            <a:endParaRPr lang="en-US" sz="950" dirty="0"/>
          </a:p>
        </p:txBody>
      </p:sp>
      <p:sp>
        <p:nvSpPr>
          <p:cNvPr id="30" name="Text 28"/>
          <p:cNvSpPr/>
          <p:nvPr/>
        </p:nvSpPr>
        <p:spPr>
          <a:xfrm>
            <a:off x="2148840" y="2743200"/>
            <a:ext cx="22402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Initial Condition</a:t>
            </a:r>
            <a:endParaRPr lang="en-US" sz="1100" dirty="0"/>
          </a:p>
        </p:txBody>
      </p:sp>
      <p:sp>
        <p:nvSpPr>
          <p:cNvPr id="31" name="Text 29"/>
          <p:cNvSpPr/>
          <p:nvPr/>
        </p:nvSpPr>
        <p:spPr>
          <a:xfrm>
            <a:off x="274320" y="3090672"/>
            <a:ext cx="4114800" cy="228600"/>
          </a:xfrm>
          <a:prstGeom prst="rect">
            <a:avLst/>
          </a:prstGeom>
          <a:noFill/>
          <a:ln/>
        </p:spPr>
        <p:txBody>
          <a:bodyPr wrap="square" lIns="0" tIns="0" rIns="0" bIns="0" rtlCol="0" anchor="ctr"/>
          <a:lstStyle/>
          <a:p>
            <a:pPr indent="0" marL="0">
              <a:buNone/>
            </a:pPr>
            <a:r>
              <a:rPr lang="en-US" sz="950" b="1" dirty="0">
                <a:solidFill>
                  <a:srgbClr val="F5A623"/>
                </a:solidFill>
                <a:latin typeface="Calibri" pitchFamily="34" charset="0"/>
                <a:ea typeface="Calibri" pitchFamily="34" charset="-122"/>
                <a:cs typeface="Calibri" pitchFamily="34" charset="-120"/>
              </a:rPr>
              <a:t>‖u_pred(t₀) − u₀‖²  at t=0</a:t>
            </a:r>
            <a:endParaRPr lang="en-US" sz="950" dirty="0"/>
          </a:p>
        </p:txBody>
      </p:sp>
      <p:sp>
        <p:nvSpPr>
          <p:cNvPr id="32" name="Text 30"/>
          <p:cNvSpPr/>
          <p:nvPr/>
        </p:nvSpPr>
        <p:spPr>
          <a:xfrm>
            <a:off x="274320" y="3319272"/>
            <a:ext cx="4114800" cy="347472"/>
          </a:xfrm>
          <a:prstGeom prst="rect">
            <a:avLst/>
          </a:prstGeom>
          <a:noFill/>
          <a:ln/>
        </p:spPr>
        <p:txBody>
          <a:bodyPr wrap="square" lIns="0" tIns="0" rIns="0" bIns="0" rtlCol="0" anchor="ctr"/>
          <a:lstStyle/>
          <a:p>
            <a:pPr indent="0" marL="0">
              <a:buNone/>
            </a:pPr>
            <a:r>
              <a:rPr lang="en-US" sz="950" dirty="0">
                <a:solidFill>
                  <a:srgbClr val="8090A0"/>
                </a:solidFill>
                <a:latin typeface="Calibri" pitchFamily="34" charset="0"/>
                <a:ea typeface="Calibri" pitchFamily="34" charset="-122"/>
                <a:cs typeface="Calibri" pitchFamily="34" charset="-120"/>
              </a:rPr>
              <a:t>Ensures the predicted density matches the observed initial tumor state from MRI segmentation at the current timepoint.</a:t>
            </a:r>
            <a:endParaRPr lang="en-US" sz="950" dirty="0"/>
          </a:p>
        </p:txBody>
      </p:sp>
      <p:sp>
        <p:nvSpPr>
          <p:cNvPr id="33" name="Shape 31"/>
          <p:cNvSpPr/>
          <p:nvPr/>
        </p:nvSpPr>
        <p:spPr>
          <a:xfrm>
            <a:off x="4663440" y="2743200"/>
            <a:ext cx="4297680" cy="1078992"/>
          </a:xfrm>
          <a:prstGeom prst="rect">
            <a:avLst/>
          </a:prstGeom>
          <a:solidFill>
            <a:srgbClr val="0D1A2D"/>
          </a:solidFill>
          <a:ln w="12700">
            <a:solidFill>
              <a:srgbClr val="0E6655"/>
            </a:solidFill>
            <a:prstDash val="solid"/>
          </a:ln>
        </p:spPr>
      </p:sp>
      <p:sp>
        <p:nvSpPr>
          <p:cNvPr id="34" name="Shape 32"/>
          <p:cNvSpPr/>
          <p:nvPr/>
        </p:nvSpPr>
        <p:spPr>
          <a:xfrm>
            <a:off x="4663440" y="2743200"/>
            <a:ext cx="4297680" cy="320040"/>
          </a:xfrm>
          <a:prstGeom prst="rect">
            <a:avLst/>
          </a:prstGeom>
          <a:solidFill>
            <a:srgbClr val="0E6655"/>
          </a:solidFill>
          <a:ln w="12700">
            <a:solidFill>
              <a:srgbClr val="0E6655"/>
            </a:solidFill>
            <a:prstDash val="solid"/>
          </a:ln>
        </p:spPr>
      </p:sp>
      <p:sp>
        <p:nvSpPr>
          <p:cNvPr id="35" name="Text 33"/>
          <p:cNvSpPr/>
          <p:nvPr/>
        </p:nvSpPr>
        <p:spPr>
          <a:xfrm>
            <a:off x="4736592" y="2743200"/>
            <a:ext cx="1097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L_BC</a:t>
            </a:r>
            <a:endParaRPr lang="en-US" sz="1300" dirty="0"/>
          </a:p>
        </p:txBody>
      </p:sp>
      <p:sp>
        <p:nvSpPr>
          <p:cNvPr id="36" name="Shape 34"/>
          <p:cNvSpPr/>
          <p:nvPr/>
        </p:nvSpPr>
        <p:spPr>
          <a:xfrm>
            <a:off x="5897880" y="2788920"/>
            <a:ext cx="658368" cy="256032"/>
          </a:xfrm>
          <a:prstGeom prst="rect">
            <a:avLst/>
          </a:prstGeom>
          <a:solidFill>
            <a:srgbClr val="FFFFFF"/>
          </a:solidFill>
          <a:ln w="12700">
            <a:solidFill>
              <a:srgbClr val="0E6655"/>
            </a:solidFill>
            <a:prstDash val="solid"/>
          </a:ln>
        </p:spPr>
      </p:sp>
      <p:sp>
        <p:nvSpPr>
          <p:cNvPr id="37" name="Text 35"/>
          <p:cNvSpPr/>
          <p:nvPr/>
        </p:nvSpPr>
        <p:spPr>
          <a:xfrm>
            <a:off x="5897880" y="2788920"/>
            <a:ext cx="658368" cy="256032"/>
          </a:xfrm>
          <a:prstGeom prst="rect">
            <a:avLst/>
          </a:prstGeom>
          <a:noFill/>
          <a:ln/>
        </p:spPr>
        <p:txBody>
          <a:bodyPr wrap="square" lIns="0" tIns="0" rIns="0" bIns="0" rtlCol="0" anchor="ctr"/>
          <a:lstStyle/>
          <a:p>
            <a:pPr algn="ctr" indent="0" marL="0">
              <a:buNone/>
            </a:pPr>
            <a:r>
              <a:rPr lang="en-US" sz="950" b="1" dirty="0">
                <a:solidFill>
                  <a:srgbClr val="0E6655"/>
                </a:solidFill>
                <a:latin typeface="Calibri" pitchFamily="34" charset="0"/>
                <a:ea typeface="Calibri" pitchFamily="34" charset="-122"/>
                <a:cs typeface="Calibri" pitchFamily="34" charset="-120"/>
              </a:rPr>
              <a:t>λ=0.01</a:t>
            </a:r>
            <a:endParaRPr lang="en-US" sz="950" dirty="0"/>
          </a:p>
        </p:txBody>
      </p:sp>
      <p:sp>
        <p:nvSpPr>
          <p:cNvPr id="38" name="Text 36"/>
          <p:cNvSpPr/>
          <p:nvPr/>
        </p:nvSpPr>
        <p:spPr>
          <a:xfrm>
            <a:off x="6629400" y="2743200"/>
            <a:ext cx="22402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Boundary Condition</a:t>
            </a:r>
            <a:endParaRPr lang="en-US" sz="1100" dirty="0"/>
          </a:p>
        </p:txBody>
      </p:sp>
      <p:sp>
        <p:nvSpPr>
          <p:cNvPr id="39" name="Text 37"/>
          <p:cNvSpPr/>
          <p:nvPr/>
        </p:nvSpPr>
        <p:spPr>
          <a:xfrm>
            <a:off x="4754880" y="3090672"/>
            <a:ext cx="4114800" cy="228600"/>
          </a:xfrm>
          <a:prstGeom prst="rect">
            <a:avLst/>
          </a:prstGeom>
          <a:noFill/>
          <a:ln/>
        </p:spPr>
        <p:txBody>
          <a:bodyPr wrap="square" lIns="0" tIns="0" rIns="0" bIns="0" rtlCol="0" anchor="ctr"/>
          <a:lstStyle/>
          <a:p>
            <a:pPr indent="0" marL="0">
              <a:buNone/>
            </a:pPr>
            <a:r>
              <a:rPr lang="en-US" sz="950" b="1" dirty="0">
                <a:solidFill>
                  <a:srgbClr val="0E6655"/>
                </a:solidFill>
                <a:latin typeface="Calibri" pitchFamily="34" charset="0"/>
                <a:ea typeface="Calibri" pitchFamily="34" charset="-122"/>
                <a:cs typeface="Calibri" pitchFamily="34" charset="-120"/>
              </a:rPr>
              <a:t>‖∇u · n̂‖²  at skull boundary voxels</a:t>
            </a:r>
            <a:endParaRPr lang="en-US" sz="950" dirty="0"/>
          </a:p>
        </p:txBody>
      </p:sp>
      <p:sp>
        <p:nvSpPr>
          <p:cNvPr id="40" name="Text 38"/>
          <p:cNvSpPr/>
          <p:nvPr/>
        </p:nvSpPr>
        <p:spPr>
          <a:xfrm>
            <a:off x="4754880" y="3319272"/>
            <a:ext cx="4114800" cy="347472"/>
          </a:xfrm>
          <a:prstGeom prst="rect">
            <a:avLst/>
          </a:prstGeom>
          <a:noFill/>
          <a:ln/>
        </p:spPr>
        <p:txBody>
          <a:bodyPr wrap="square" lIns="0" tIns="0" rIns="0" bIns="0" rtlCol="0" anchor="ctr"/>
          <a:lstStyle/>
          <a:p>
            <a:pPr indent="0" marL="0">
              <a:buNone/>
            </a:pPr>
            <a:r>
              <a:rPr lang="en-US" sz="950" dirty="0">
                <a:solidFill>
                  <a:srgbClr val="8090A0"/>
                </a:solidFill>
                <a:latin typeface="Calibri" pitchFamily="34" charset="0"/>
                <a:ea typeface="Calibri" pitchFamily="34" charset="-122"/>
                <a:cs typeface="Calibri" pitchFamily="34" charset="-120"/>
              </a:rPr>
              <a:t>Neumann no-flux: tumor cells cannot cross the brain boundary. Ensures biological realism.</a:t>
            </a:r>
            <a:endParaRPr lang="en-US" sz="950" dirty="0"/>
          </a:p>
        </p:txBody>
      </p:sp>
      <p:sp>
        <p:nvSpPr>
          <p:cNvPr id="41" name="Shape 39"/>
          <p:cNvSpPr/>
          <p:nvPr/>
        </p:nvSpPr>
        <p:spPr>
          <a:xfrm>
            <a:off x="182880" y="3886200"/>
            <a:ext cx="4297680" cy="1078992"/>
          </a:xfrm>
          <a:prstGeom prst="rect">
            <a:avLst/>
          </a:prstGeom>
          <a:solidFill>
            <a:srgbClr val="0D1A2D"/>
          </a:solidFill>
          <a:ln w="12700">
            <a:solidFill>
              <a:srgbClr val="E67E22"/>
            </a:solidFill>
            <a:prstDash val="solid"/>
          </a:ln>
        </p:spPr>
      </p:sp>
      <p:sp>
        <p:nvSpPr>
          <p:cNvPr id="42" name="Shape 40"/>
          <p:cNvSpPr/>
          <p:nvPr/>
        </p:nvSpPr>
        <p:spPr>
          <a:xfrm>
            <a:off x="182880" y="3886200"/>
            <a:ext cx="4297680" cy="320040"/>
          </a:xfrm>
          <a:prstGeom prst="rect">
            <a:avLst/>
          </a:prstGeom>
          <a:solidFill>
            <a:srgbClr val="E67E22"/>
          </a:solidFill>
          <a:ln w="12700">
            <a:solidFill>
              <a:srgbClr val="E67E22"/>
            </a:solidFill>
            <a:prstDash val="solid"/>
          </a:ln>
        </p:spPr>
      </p:sp>
      <p:sp>
        <p:nvSpPr>
          <p:cNvPr id="43" name="Text 41"/>
          <p:cNvSpPr/>
          <p:nvPr/>
        </p:nvSpPr>
        <p:spPr>
          <a:xfrm>
            <a:off x="256032" y="3886200"/>
            <a:ext cx="1097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L_reg</a:t>
            </a:r>
            <a:endParaRPr lang="en-US" sz="1300" dirty="0"/>
          </a:p>
        </p:txBody>
      </p:sp>
      <p:sp>
        <p:nvSpPr>
          <p:cNvPr id="44" name="Shape 42"/>
          <p:cNvSpPr/>
          <p:nvPr/>
        </p:nvSpPr>
        <p:spPr>
          <a:xfrm>
            <a:off x="1417320" y="3931920"/>
            <a:ext cx="658368" cy="256032"/>
          </a:xfrm>
          <a:prstGeom prst="rect">
            <a:avLst/>
          </a:prstGeom>
          <a:solidFill>
            <a:srgbClr val="FFFFFF"/>
          </a:solidFill>
          <a:ln w="12700">
            <a:solidFill>
              <a:srgbClr val="E67E22"/>
            </a:solidFill>
            <a:prstDash val="solid"/>
          </a:ln>
        </p:spPr>
      </p:sp>
      <p:sp>
        <p:nvSpPr>
          <p:cNvPr id="45" name="Text 43"/>
          <p:cNvSpPr/>
          <p:nvPr/>
        </p:nvSpPr>
        <p:spPr>
          <a:xfrm>
            <a:off x="1417320" y="3931920"/>
            <a:ext cx="658368" cy="256032"/>
          </a:xfrm>
          <a:prstGeom prst="rect">
            <a:avLst/>
          </a:prstGeom>
          <a:noFill/>
          <a:ln/>
        </p:spPr>
        <p:txBody>
          <a:bodyPr wrap="square" lIns="0" tIns="0" rIns="0" bIns="0" rtlCol="0" anchor="ctr"/>
          <a:lstStyle/>
          <a:p>
            <a:pPr algn="ctr" indent="0" marL="0">
              <a:buNone/>
            </a:pPr>
            <a:r>
              <a:rPr lang="en-US" sz="950" b="1" dirty="0">
                <a:solidFill>
                  <a:srgbClr val="E67E22"/>
                </a:solidFill>
                <a:latin typeface="Calibri" pitchFamily="34" charset="0"/>
                <a:ea typeface="Calibri" pitchFamily="34" charset="-122"/>
                <a:cs typeface="Calibri" pitchFamily="34" charset="-120"/>
              </a:rPr>
              <a:t>λ=0.01</a:t>
            </a:r>
            <a:endParaRPr lang="en-US" sz="950" dirty="0"/>
          </a:p>
        </p:txBody>
      </p:sp>
      <p:sp>
        <p:nvSpPr>
          <p:cNvPr id="46" name="Text 44"/>
          <p:cNvSpPr/>
          <p:nvPr/>
        </p:nvSpPr>
        <p:spPr>
          <a:xfrm>
            <a:off x="2148840" y="3886200"/>
            <a:ext cx="22402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Regularization</a:t>
            </a:r>
            <a:endParaRPr lang="en-US" sz="1100" dirty="0"/>
          </a:p>
        </p:txBody>
      </p:sp>
      <p:sp>
        <p:nvSpPr>
          <p:cNvPr id="47" name="Text 45"/>
          <p:cNvSpPr/>
          <p:nvPr/>
        </p:nvSpPr>
        <p:spPr>
          <a:xfrm>
            <a:off x="274320" y="4233672"/>
            <a:ext cx="4114800" cy="22860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Non-negativity + Boundedness + Smoothness of u, D, ρ</a:t>
            </a:r>
            <a:endParaRPr lang="en-US" sz="950" dirty="0"/>
          </a:p>
        </p:txBody>
      </p:sp>
      <p:sp>
        <p:nvSpPr>
          <p:cNvPr id="48" name="Text 46"/>
          <p:cNvSpPr/>
          <p:nvPr/>
        </p:nvSpPr>
        <p:spPr>
          <a:xfrm>
            <a:off x="274320" y="4462272"/>
            <a:ext cx="4114800" cy="347472"/>
          </a:xfrm>
          <a:prstGeom prst="rect">
            <a:avLst/>
          </a:prstGeom>
          <a:noFill/>
          <a:ln/>
        </p:spPr>
        <p:txBody>
          <a:bodyPr wrap="square" lIns="0" tIns="0" rIns="0" bIns="0" rtlCol="0" anchor="ctr"/>
          <a:lstStyle/>
          <a:p>
            <a:pPr indent="0" marL="0">
              <a:buNone/>
            </a:pPr>
            <a:r>
              <a:rPr lang="en-US" sz="950" dirty="0">
                <a:solidFill>
                  <a:srgbClr val="8090A0"/>
                </a:solidFill>
                <a:latin typeface="Calibri" pitchFamily="34" charset="0"/>
                <a:ea typeface="Calibri" pitchFamily="34" charset="-122"/>
                <a:cs typeface="Calibri" pitchFamily="34" charset="-120"/>
              </a:rPr>
              <a:t>u ∈ [0,1], D &gt; 0, ρ &gt; 0 at all voxels. Prevents unphysical negative densities or explosion.</a:t>
            </a:r>
            <a:endParaRPr lang="en-US" sz="950" dirty="0"/>
          </a:p>
        </p:txBody>
      </p:sp>
      <p:sp>
        <p:nvSpPr>
          <p:cNvPr id="49" name="Shape 47"/>
          <p:cNvSpPr/>
          <p:nvPr/>
        </p:nvSpPr>
        <p:spPr>
          <a:xfrm>
            <a:off x="4663440" y="3886200"/>
            <a:ext cx="4297680" cy="1078992"/>
          </a:xfrm>
          <a:prstGeom prst="rect">
            <a:avLst/>
          </a:prstGeom>
          <a:solidFill>
            <a:srgbClr val="0D1A2D"/>
          </a:solidFill>
          <a:ln w="12700">
            <a:solidFill>
              <a:srgbClr val="3D5A80"/>
            </a:solidFill>
            <a:prstDash val="solid"/>
          </a:ln>
        </p:spPr>
      </p:sp>
      <p:sp>
        <p:nvSpPr>
          <p:cNvPr id="50" name="Shape 48"/>
          <p:cNvSpPr/>
          <p:nvPr/>
        </p:nvSpPr>
        <p:spPr>
          <a:xfrm>
            <a:off x="4663440" y="3886200"/>
            <a:ext cx="4297680" cy="320040"/>
          </a:xfrm>
          <a:prstGeom prst="rect">
            <a:avLst/>
          </a:prstGeom>
          <a:solidFill>
            <a:srgbClr val="3D5A80"/>
          </a:solidFill>
          <a:ln w="12700">
            <a:solidFill>
              <a:srgbClr val="3D5A80"/>
            </a:solidFill>
            <a:prstDash val="solid"/>
          </a:ln>
        </p:spPr>
      </p:sp>
      <p:sp>
        <p:nvSpPr>
          <p:cNvPr id="51" name="Text 49"/>
          <p:cNvSpPr/>
          <p:nvPr/>
        </p:nvSpPr>
        <p:spPr>
          <a:xfrm>
            <a:off x="4736592" y="3886200"/>
            <a:ext cx="1097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L_seg</a:t>
            </a:r>
            <a:endParaRPr lang="en-US" sz="1300" dirty="0"/>
          </a:p>
        </p:txBody>
      </p:sp>
      <p:sp>
        <p:nvSpPr>
          <p:cNvPr id="52" name="Shape 50"/>
          <p:cNvSpPr/>
          <p:nvPr/>
        </p:nvSpPr>
        <p:spPr>
          <a:xfrm>
            <a:off x="5897880" y="3931920"/>
            <a:ext cx="658368" cy="256032"/>
          </a:xfrm>
          <a:prstGeom prst="rect">
            <a:avLst/>
          </a:prstGeom>
          <a:solidFill>
            <a:srgbClr val="FFFFFF"/>
          </a:solidFill>
          <a:ln w="12700">
            <a:solidFill>
              <a:srgbClr val="3D5A80"/>
            </a:solidFill>
            <a:prstDash val="solid"/>
          </a:ln>
        </p:spPr>
      </p:sp>
      <p:sp>
        <p:nvSpPr>
          <p:cNvPr id="53" name="Text 51"/>
          <p:cNvSpPr/>
          <p:nvPr/>
        </p:nvSpPr>
        <p:spPr>
          <a:xfrm>
            <a:off x="5897880" y="3931920"/>
            <a:ext cx="658368" cy="256032"/>
          </a:xfrm>
          <a:prstGeom prst="rect">
            <a:avLst/>
          </a:prstGeom>
          <a:noFill/>
          <a:ln/>
        </p:spPr>
        <p:txBody>
          <a:bodyPr wrap="square" lIns="0" tIns="0" rIns="0" bIns="0" rtlCol="0" anchor="ctr"/>
          <a:lstStyle/>
          <a:p>
            <a:pPr algn="ctr" indent="0" marL="0">
              <a:buNone/>
            </a:pPr>
            <a:r>
              <a:rPr lang="en-US" sz="950" b="1" dirty="0">
                <a:solidFill>
                  <a:srgbClr val="3D5A80"/>
                </a:solidFill>
                <a:latin typeface="Calibri" pitchFamily="34" charset="0"/>
                <a:ea typeface="Calibri" pitchFamily="34" charset="-122"/>
                <a:cs typeface="Calibri" pitchFamily="34" charset="-120"/>
              </a:rPr>
              <a:t>λ=1.0</a:t>
            </a:r>
            <a:endParaRPr lang="en-US" sz="950" dirty="0"/>
          </a:p>
        </p:txBody>
      </p:sp>
      <p:sp>
        <p:nvSpPr>
          <p:cNvPr id="54" name="Text 52"/>
          <p:cNvSpPr/>
          <p:nvPr/>
        </p:nvSpPr>
        <p:spPr>
          <a:xfrm>
            <a:off x="6629400" y="3886200"/>
            <a:ext cx="22402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Segmentation</a:t>
            </a:r>
            <a:endParaRPr lang="en-US" sz="1100" dirty="0"/>
          </a:p>
        </p:txBody>
      </p:sp>
      <p:sp>
        <p:nvSpPr>
          <p:cNvPr id="55" name="Text 53"/>
          <p:cNvSpPr/>
          <p:nvPr/>
        </p:nvSpPr>
        <p:spPr>
          <a:xfrm>
            <a:off x="4754880" y="4233672"/>
            <a:ext cx="4114800" cy="228600"/>
          </a:xfrm>
          <a:prstGeom prst="rect">
            <a:avLst/>
          </a:prstGeom>
          <a:noFill/>
          <a:ln/>
        </p:spPr>
        <p:txBody>
          <a:bodyPr wrap="square" lIns="0" tIns="0" rIns="0" bIns="0" rtlCol="0" anchor="ctr"/>
          <a:lstStyle/>
          <a:p>
            <a:pPr indent="0" marL="0">
              <a:buNone/>
            </a:pPr>
            <a:r>
              <a:rPr lang="en-US" sz="950" b="1" dirty="0">
                <a:solidFill>
                  <a:srgbClr val="3D5A80"/>
                </a:solidFill>
                <a:latin typeface="Calibri" pitchFamily="34" charset="0"/>
                <a:ea typeface="Calibri" pitchFamily="34" charset="-122"/>
                <a:cs typeface="Calibri" pitchFamily="34" charset="-120"/>
              </a:rPr>
              <a:t>DiceCE(seg_logits, labels)  =  Dice + CrossEntropy</a:t>
            </a:r>
            <a:endParaRPr lang="en-US" sz="950" dirty="0"/>
          </a:p>
        </p:txBody>
      </p:sp>
      <p:sp>
        <p:nvSpPr>
          <p:cNvPr id="56" name="Text 54"/>
          <p:cNvSpPr/>
          <p:nvPr/>
        </p:nvSpPr>
        <p:spPr>
          <a:xfrm>
            <a:off x="4754880" y="4462272"/>
            <a:ext cx="4114800" cy="347472"/>
          </a:xfrm>
          <a:prstGeom prst="rect">
            <a:avLst/>
          </a:prstGeom>
          <a:noFill/>
          <a:ln/>
        </p:spPr>
        <p:txBody>
          <a:bodyPr wrap="square" lIns="0" tIns="0" rIns="0" bIns="0" rtlCol="0" anchor="ctr"/>
          <a:lstStyle/>
          <a:p>
            <a:pPr indent="0" marL="0">
              <a:buNone/>
            </a:pPr>
            <a:r>
              <a:rPr lang="en-US" sz="950" dirty="0">
                <a:solidFill>
                  <a:srgbClr val="8090A0"/>
                </a:solidFill>
                <a:latin typeface="Calibri" pitchFamily="34" charset="0"/>
                <a:ea typeface="Calibri" pitchFamily="34" charset="-122"/>
                <a:cs typeface="Calibri" pitchFamily="34" charset="-120"/>
              </a:rPr>
              <a:t>Multi-class segmentation loss for BG/NCR/ED/ET classes. Active in Phase 1; kept active in Phase 2.</a:t>
            </a:r>
            <a:endParaRPr lang="en-US" sz="950" dirty="0"/>
          </a:p>
        </p:txBody>
      </p:sp>
      <p:sp>
        <p:nvSpPr>
          <p:cNvPr id="57" name="Text 55"/>
          <p:cNvSpPr/>
          <p:nvPr/>
        </p:nvSpPr>
        <p:spPr>
          <a:xfrm>
            <a:off x="182880" y="5029200"/>
            <a:ext cx="8778240" cy="164592"/>
          </a:xfrm>
          <a:prstGeom prst="rect">
            <a:avLst/>
          </a:prstGeom>
          <a:noFill/>
          <a:ln/>
        </p:spPr>
        <p:txBody>
          <a:bodyPr wrap="square" lIns="0" tIns="0" rIns="0" bIns="0" rtlCol="0" anchor="ctr"/>
          <a:lstStyle/>
          <a:p>
            <a:pPr indent="0" marL="0">
              <a:buNone/>
            </a:pPr>
            <a:r>
              <a:rPr lang="en-US" sz="950" b="1" dirty="0">
                <a:solidFill>
                  <a:srgbClr val="F5A623"/>
                </a:solidFill>
                <a:latin typeface="Calibri" pitchFamily="34" charset="0"/>
                <a:ea typeface="Calibri" pitchFamily="34" charset="-122"/>
                <a:cs typeface="Calibri" pitchFamily="34" charset="-120"/>
              </a:rPr>
              <a:t>★  Adaptive weighting (grad-norm method): Loss weights are re-balanced each epoch to prevent any single term from dominating gradient flow</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E3D"/>
          </a:solidFill>
          <a:ln w="12700">
            <a:solidFill>
              <a:srgbClr val="0B1E3D"/>
            </a:solidFill>
            <a:prstDash val="solid"/>
          </a:ln>
        </p:spPr>
      </p:sp>
      <p:sp>
        <p:nvSpPr>
          <p:cNvPr id="3" name="Shape 1"/>
          <p:cNvSpPr/>
          <p:nvPr/>
        </p:nvSpPr>
        <p:spPr>
          <a:xfrm>
            <a:off x="0" y="0"/>
            <a:ext cx="54864" cy="685800"/>
          </a:xfrm>
          <a:prstGeom prst="rect">
            <a:avLst/>
          </a:prstGeom>
          <a:solidFill>
            <a:srgbClr val="00C9C8"/>
          </a:solidFill>
          <a:ln w="12700">
            <a:solidFill>
              <a:srgbClr val="00C9C8"/>
            </a:solidFill>
            <a:prstDash val="solid"/>
          </a:ln>
        </p:spPr>
      </p:sp>
      <p:sp>
        <p:nvSpPr>
          <p:cNvPr id="4" name="Text 2"/>
          <p:cNvSpPr/>
          <p:nvPr/>
        </p:nvSpPr>
        <p:spPr>
          <a:xfrm>
            <a:off x="228600" y="0"/>
            <a:ext cx="868680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 &amp; Scientific Validation</a:t>
            </a:r>
            <a:endParaRPr lang="en-US" sz="2200" dirty="0"/>
          </a:p>
        </p:txBody>
      </p:sp>
      <p:sp>
        <p:nvSpPr>
          <p:cNvPr id="5" name="Text 3"/>
          <p:cNvSpPr/>
          <p:nvPr/>
        </p:nvSpPr>
        <p:spPr>
          <a:xfrm>
            <a:off x="8046720" y="4892040"/>
            <a:ext cx="914400" cy="228600"/>
          </a:xfrm>
          <a:prstGeom prst="rect">
            <a:avLst/>
          </a:prstGeom>
          <a:noFill/>
          <a:ln/>
        </p:spPr>
        <p:txBody>
          <a:bodyPr wrap="square" lIns="0" tIns="0" rIns="0" bIns="0" rtlCol="0" anchor="ctr"/>
          <a:lstStyle/>
          <a:p>
            <a:pPr algn="r" indent="0" marL="0">
              <a:buNone/>
            </a:pPr>
            <a:r>
              <a:rPr lang="en-US" sz="900" dirty="0">
                <a:solidFill>
                  <a:srgbClr val="7A90A8"/>
                </a:solidFill>
              </a:rPr>
              <a:t>19 / 20</a:t>
            </a:r>
            <a:endParaRPr lang="en-US" sz="900" dirty="0"/>
          </a:p>
        </p:txBody>
      </p:sp>
      <p:sp>
        <p:nvSpPr>
          <p:cNvPr id="6" name="Shape 4"/>
          <p:cNvSpPr/>
          <p:nvPr/>
        </p:nvSpPr>
        <p:spPr>
          <a:xfrm>
            <a:off x="228600" y="804672"/>
            <a:ext cx="8686800" cy="713232"/>
          </a:xfrm>
          <a:prstGeom prst="rect">
            <a:avLst/>
          </a:prstGeom>
          <a:solidFill>
            <a:srgbClr val="0B1E3D"/>
          </a:solidFill>
          <a:ln w="12700">
            <a:solidFill>
              <a:srgbClr val="0B1E3D"/>
            </a:solidFill>
            <a:prstDash val="solid"/>
          </a:ln>
        </p:spPr>
      </p:sp>
      <p:sp>
        <p:nvSpPr>
          <p:cNvPr id="7" name="Shape 5"/>
          <p:cNvSpPr/>
          <p:nvPr/>
        </p:nvSpPr>
        <p:spPr>
          <a:xfrm>
            <a:off x="228600" y="804672"/>
            <a:ext cx="73152" cy="713232"/>
          </a:xfrm>
          <a:prstGeom prst="rect">
            <a:avLst/>
          </a:prstGeom>
          <a:solidFill>
            <a:srgbClr val="27AE60"/>
          </a:solidFill>
          <a:ln w="12700">
            <a:solidFill>
              <a:srgbClr val="27AE60"/>
            </a:solidFill>
            <a:prstDash val="solid"/>
          </a:ln>
        </p:spPr>
      </p:sp>
      <p:pic>
        <p:nvPicPr>
          <p:cNvPr id="8" name="Image 0" descr="preencoded.png">    </p:cNvPr>
          <p:cNvPicPr>
            <a:picLocks noChangeAspect="1"/>
          </p:cNvPicPr>
          <p:nvPr/>
        </p:nvPicPr>
        <p:blipFill>
          <a:blip r:embed="rId1"/>
          <a:stretch>
            <a:fillRect/>
          </a:stretch>
        </p:blipFill>
        <p:spPr>
          <a:xfrm>
            <a:off x="411480" y="877824"/>
            <a:ext cx="347472" cy="347472"/>
          </a:xfrm>
          <a:prstGeom prst="rect">
            <a:avLst/>
          </a:prstGeom>
        </p:spPr>
      </p:pic>
      <p:sp>
        <p:nvSpPr>
          <p:cNvPr id="9" name="Text 6"/>
          <p:cNvSpPr/>
          <p:nvPr/>
        </p:nvSpPr>
        <p:spPr>
          <a:xfrm>
            <a:off x="868680" y="841248"/>
            <a:ext cx="7909560" cy="566928"/>
          </a:xfrm>
          <a:prstGeom prst="rect">
            <a:avLst/>
          </a:prstGeom>
          <a:noFill/>
          <a:ln/>
        </p:spPr>
        <p:txBody>
          <a:bodyPr wrap="square" lIns="0" tIns="0" rIns="0" bIns="0" rtlCol="0" anchor="ctr"/>
          <a:lstStyle/>
          <a:p>
            <a:pPr indent="0" marL="0">
              <a:buNone/>
            </a:pPr>
            <a:r>
              <a:rPr lang="en-US" sz="1150" b="1" dirty="0">
                <a:solidFill>
                  <a:srgbClr val="27AE60"/>
                </a:solidFill>
                <a:latin typeface="Calibri" pitchFamily="34" charset="0"/>
                <a:ea typeface="Calibri" pitchFamily="34" charset="-122"/>
                <a:cs typeface="Calibri" pitchFamily="34" charset="-120"/>
              </a:rPr>
              <a:t>Physics Validation: 50/51 unit tests PASSED (validate_physics.py) — Gradients, Laplacians, Divergence, PDE residuals all numerically verified</a:t>
            </a:r>
            <a:endParaRPr lang="en-US" sz="1150" dirty="0"/>
          </a:p>
        </p:txBody>
      </p:sp>
      <p:sp>
        <p:nvSpPr>
          <p:cNvPr id="10" name="Shape 7"/>
          <p:cNvSpPr/>
          <p:nvPr/>
        </p:nvSpPr>
        <p:spPr>
          <a:xfrm>
            <a:off x="228600" y="1572768"/>
            <a:ext cx="8686800" cy="292608"/>
          </a:xfrm>
          <a:prstGeom prst="rect">
            <a:avLst/>
          </a:prstGeom>
          <a:solidFill>
            <a:srgbClr val="1A4A7A"/>
          </a:solidFill>
          <a:ln w="12700">
            <a:solidFill>
              <a:srgbClr val="1A4A7A"/>
            </a:solidFill>
            <a:prstDash val="solid"/>
          </a:ln>
        </p:spPr>
      </p:sp>
      <p:sp>
        <p:nvSpPr>
          <p:cNvPr id="11" name="Text 8"/>
          <p:cNvSpPr/>
          <p:nvPr/>
        </p:nvSpPr>
        <p:spPr>
          <a:xfrm>
            <a:off x="320040" y="1572768"/>
            <a:ext cx="3200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p>
        </p:txBody>
      </p:sp>
      <p:sp>
        <p:nvSpPr>
          <p:cNvPr id="12" name="Text 9"/>
          <p:cNvSpPr/>
          <p:nvPr/>
        </p:nvSpPr>
        <p:spPr>
          <a:xfrm>
            <a:off x="3611880" y="1572768"/>
            <a:ext cx="19202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p>
        </p:txBody>
      </p:sp>
      <p:sp>
        <p:nvSpPr>
          <p:cNvPr id="13" name="Text 10"/>
          <p:cNvSpPr/>
          <p:nvPr/>
        </p:nvSpPr>
        <p:spPr>
          <a:xfrm>
            <a:off x="5623560" y="1572768"/>
            <a:ext cx="315468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Interpretation</a:t>
            </a:r>
            <a:endParaRPr lang="en-US" sz="1100" dirty="0"/>
          </a:p>
        </p:txBody>
      </p:sp>
      <p:sp>
        <p:nvSpPr>
          <p:cNvPr id="14" name="Shape 11"/>
          <p:cNvSpPr/>
          <p:nvPr/>
        </p:nvSpPr>
        <p:spPr>
          <a:xfrm>
            <a:off x="228600" y="1901952"/>
            <a:ext cx="8686800" cy="457200"/>
          </a:xfrm>
          <a:prstGeom prst="rect">
            <a:avLst/>
          </a:prstGeom>
          <a:solidFill>
            <a:srgbClr val="FFFFFF"/>
          </a:solidFill>
          <a:ln w="12700">
            <a:solidFill>
              <a:srgbClr val="D0DCF0"/>
            </a:solidFill>
            <a:prstDash val="solid"/>
          </a:ln>
        </p:spPr>
      </p:sp>
      <p:sp>
        <p:nvSpPr>
          <p:cNvPr id="15" name="Text 12"/>
          <p:cNvSpPr/>
          <p:nvPr/>
        </p:nvSpPr>
        <p:spPr>
          <a:xfrm>
            <a:off x="320040" y="1901952"/>
            <a:ext cx="3200400" cy="457200"/>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Dice Score (WT — Whole Tumor)</a:t>
            </a:r>
            <a:endParaRPr lang="en-US" sz="1050" dirty="0"/>
          </a:p>
        </p:txBody>
      </p:sp>
      <p:sp>
        <p:nvSpPr>
          <p:cNvPr id="16" name="Shape 13"/>
          <p:cNvSpPr/>
          <p:nvPr/>
        </p:nvSpPr>
        <p:spPr>
          <a:xfrm>
            <a:off x="3611880" y="1975104"/>
            <a:ext cx="1828800" cy="320040"/>
          </a:xfrm>
          <a:prstGeom prst="rect">
            <a:avLst/>
          </a:prstGeom>
          <a:solidFill>
            <a:srgbClr val="0B1E3D"/>
          </a:solidFill>
          <a:ln w="12700">
            <a:solidFill>
              <a:srgbClr val="00C9C8"/>
            </a:solidFill>
            <a:prstDash val="solid"/>
          </a:ln>
        </p:spPr>
      </p:sp>
      <p:sp>
        <p:nvSpPr>
          <p:cNvPr id="17" name="Text 14"/>
          <p:cNvSpPr/>
          <p:nvPr/>
        </p:nvSpPr>
        <p:spPr>
          <a:xfrm>
            <a:off x="3611880" y="1975104"/>
            <a:ext cx="1828800" cy="320040"/>
          </a:xfrm>
          <a:prstGeom prst="rect">
            <a:avLst/>
          </a:prstGeom>
          <a:noFill/>
          <a:ln/>
        </p:spPr>
        <p:txBody>
          <a:bodyPr wrap="square" lIns="0" tIns="0" rIns="0" bIns="0" rtlCol="0" anchor="ctr"/>
          <a:lstStyle/>
          <a:p>
            <a:pPr algn="ctr" indent="0" marL="0">
              <a:buNone/>
            </a:pPr>
            <a:r>
              <a:rPr lang="en-US" sz="1000" b="1" dirty="0">
                <a:solidFill>
                  <a:srgbClr val="00C9C8"/>
                </a:solidFill>
                <a:latin typeface="Calibri" pitchFamily="34" charset="0"/>
                <a:ea typeface="Calibri" pitchFamily="34" charset="-122"/>
                <a:cs typeface="Calibri" pitchFamily="34" charset="-120"/>
              </a:rPr>
              <a:t>&gt; 0.85 (Phase 1)</a:t>
            </a:r>
            <a:endParaRPr lang="en-US" sz="1000" dirty="0"/>
          </a:p>
        </p:txBody>
      </p:sp>
      <p:sp>
        <p:nvSpPr>
          <p:cNvPr id="18" name="Text 15"/>
          <p:cNvSpPr/>
          <p:nvPr/>
        </p:nvSpPr>
        <p:spPr>
          <a:xfrm>
            <a:off x="5623560" y="1901952"/>
            <a:ext cx="3154680" cy="45720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Segmentation accuracy vs expert labels — on par with BraTS top entries</a:t>
            </a:r>
            <a:endParaRPr lang="en-US" sz="1000" dirty="0"/>
          </a:p>
        </p:txBody>
      </p:sp>
      <p:sp>
        <p:nvSpPr>
          <p:cNvPr id="19" name="Shape 16"/>
          <p:cNvSpPr/>
          <p:nvPr/>
        </p:nvSpPr>
        <p:spPr>
          <a:xfrm>
            <a:off x="228600" y="2377440"/>
            <a:ext cx="8686800" cy="457200"/>
          </a:xfrm>
          <a:prstGeom prst="rect">
            <a:avLst/>
          </a:prstGeom>
          <a:solidFill>
            <a:srgbClr val="F0F4FF"/>
          </a:solidFill>
          <a:ln w="12700">
            <a:solidFill>
              <a:srgbClr val="D0DCF0"/>
            </a:solidFill>
            <a:prstDash val="solid"/>
          </a:ln>
        </p:spPr>
      </p:sp>
      <p:sp>
        <p:nvSpPr>
          <p:cNvPr id="20" name="Text 17"/>
          <p:cNvSpPr/>
          <p:nvPr/>
        </p:nvSpPr>
        <p:spPr>
          <a:xfrm>
            <a:off x="320040" y="2377440"/>
            <a:ext cx="3200400" cy="457200"/>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Dice Score (ET — Enhancing Tumor)</a:t>
            </a:r>
            <a:endParaRPr lang="en-US" sz="1050" dirty="0"/>
          </a:p>
        </p:txBody>
      </p:sp>
      <p:sp>
        <p:nvSpPr>
          <p:cNvPr id="21" name="Shape 18"/>
          <p:cNvSpPr/>
          <p:nvPr/>
        </p:nvSpPr>
        <p:spPr>
          <a:xfrm>
            <a:off x="3611880" y="2450592"/>
            <a:ext cx="1828800" cy="320040"/>
          </a:xfrm>
          <a:prstGeom prst="rect">
            <a:avLst/>
          </a:prstGeom>
          <a:solidFill>
            <a:srgbClr val="0B1E3D"/>
          </a:solidFill>
          <a:ln w="12700">
            <a:solidFill>
              <a:srgbClr val="00C9C8"/>
            </a:solidFill>
            <a:prstDash val="solid"/>
          </a:ln>
        </p:spPr>
      </p:sp>
      <p:sp>
        <p:nvSpPr>
          <p:cNvPr id="22" name="Text 19"/>
          <p:cNvSpPr/>
          <p:nvPr/>
        </p:nvSpPr>
        <p:spPr>
          <a:xfrm>
            <a:off x="3611880" y="2450592"/>
            <a:ext cx="1828800" cy="320040"/>
          </a:xfrm>
          <a:prstGeom prst="rect">
            <a:avLst/>
          </a:prstGeom>
          <a:noFill/>
          <a:ln/>
        </p:spPr>
        <p:txBody>
          <a:bodyPr wrap="square" lIns="0" tIns="0" rIns="0" bIns="0" rtlCol="0" anchor="ctr"/>
          <a:lstStyle/>
          <a:p>
            <a:pPr algn="ctr" indent="0" marL="0">
              <a:buNone/>
            </a:pPr>
            <a:r>
              <a:rPr lang="en-US" sz="1000" b="1" dirty="0">
                <a:solidFill>
                  <a:srgbClr val="00C9C8"/>
                </a:solidFill>
                <a:latin typeface="Calibri" pitchFamily="34" charset="0"/>
                <a:ea typeface="Calibri" pitchFamily="34" charset="-122"/>
                <a:cs typeface="Calibri" pitchFamily="34" charset="-120"/>
              </a:rPr>
              <a:t>&gt; 0.75 (Phase 1)</a:t>
            </a:r>
            <a:endParaRPr lang="en-US" sz="1000" dirty="0"/>
          </a:p>
        </p:txBody>
      </p:sp>
      <p:sp>
        <p:nvSpPr>
          <p:cNvPr id="23" name="Text 20"/>
          <p:cNvSpPr/>
          <p:nvPr/>
        </p:nvSpPr>
        <p:spPr>
          <a:xfrm>
            <a:off x="5623560" y="2377440"/>
            <a:ext cx="3154680" cy="45720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Hardest sub-region; clinically most important</a:t>
            </a:r>
            <a:endParaRPr lang="en-US" sz="1000" dirty="0"/>
          </a:p>
        </p:txBody>
      </p:sp>
      <p:sp>
        <p:nvSpPr>
          <p:cNvPr id="24" name="Shape 21"/>
          <p:cNvSpPr/>
          <p:nvPr/>
        </p:nvSpPr>
        <p:spPr>
          <a:xfrm>
            <a:off x="228600" y="2852928"/>
            <a:ext cx="8686800" cy="457200"/>
          </a:xfrm>
          <a:prstGeom prst="rect">
            <a:avLst/>
          </a:prstGeom>
          <a:solidFill>
            <a:srgbClr val="FFFFFF"/>
          </a:solidFill>
          <a:ln w="12700">
            <a:solidFill>
              <a:srgbClr val="D0DCF0"/>
            </a:solidFill>
            <a:prstDash val="solid"/>
          </a:ln>
        </p:spPr>
      </p:sp>
      <p:sp>
        <p:nvSpPr>
          <p:cNvPr id="25" name="Text 22"/>
          <p:cNvSpPr/>
          <p:nvPr/>
        </p:nvSpPr>
        <p:spPr>
          <a:xfrm>
            <a:off x="320040" y="2852928"/>
            <a:ext cx="3200400" cy="457200"/>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PDE Residual L²</a:t>
            </a:r>
            <a:endParaRPr lang="en-US" sz="1050" dirty="0"/>
          </a:p>
        </p:txBody>
      </p:sp>
      <p:sp>
        <p:nvSpPr>
          <p:cNvPr id="26" name="Shape 23"/>
          <p:cNvSpPr/>
          <p:nvPr/>
        </p:nvSpPr>
        <p:spPr>
          <a:xfrm>
            <a:off x="3611880" y="2926080"/>
            <a:ext cx="1828800" cy="320040"/>
          </a:xfrm>
          <a:prstGeom prst="rect">
            <a:avLst/>
          </a:prstGeom>
          <a:solidFill>
            <a:srgbClr val="0B1E3D"/>
          </a:solidFill>
          <a:ln w="12700">
            <a:solidFill>
              <a:srgbClr val="00C9C8"/>
            </a:solidFill>
            <a:prstDash val="solid"/>
          </a:ln>
        </p:spPr>
      </p:sp>
      <p:sp>
        <p:nvSpPr>
          <p:cNvPr id="27" name="Text 24"/>
          <p:cNvSpPr/>
          <p:nvPr/>
        </p:nvSpPr>
        <p:spPr>
          <a:xfrm>
            <a:off x="3611880" y="2926080"/>
            <a:ext cx="1828800" cy="320040"/>
          </a:xfrm>
          <a:prstGeom prst="rect">
            <a:avLst/>
          </a:prstGeom>
          <a:noFill/>
          <a:ln/>
        </p:spPr>
        <p:txBody>
          <a:bodyPr wrap="square" lIns="0" tIns="0" rIns="0" bIns="0" rtlCol="0" anchor="ctr"/>
          <a:lstStyle/>
          <a:p>
            <a:pPr algn="ctr" indent="0" marL="0">
              <a:buNone/>
            </a:pPr>
            <a:r>
              <a:rPr lang="en-US" sz="1000" b="1" dirty="0">
                <a:solidFill>
                  <a:srgbClr val="00C9C8"/>
                </a:solidFill>
                <a:latin typeface="Calibri" pitchFamily="34" charset="0"/>
                <a:ea typeface="Calibri" pitchFamily="34" charset="-122"/>
                <a:cs typeface="Calibri" pitchFamily="34" charset="-120"/>
              </a:rPr>
              <a:t>&lt; 0.002 (Phase 2)</a:t>
            </a:r>
            <a:endParaRPr lang="en-US" sz="1000" dirty="0"/>
          </a:p>
        </p:txBody>
      </p:sp>
      <p:sp>
        <p:nvSpPr>
          <p:cNvPr id="28" name="Text 25"/>
          <p:cNvSpPr/>
          <p:nvPr/>
        </p:nvSpPr>
        <p:spPr>
          <a:xfrm>
            <a:off x="5623560" y="2852928"/>
            <a:ext cx="3154680" cy="45720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Computed on test set; proves Fisher-KPP constraints are satisfied</a:t>
            </a:r>
            <a:endParaRPr lang="en-US" sz="1000" dirty="0"/>
          </a:p>
        </p:txBody>
      </p:sp>
      <p:sp>
        <p:nvSpPr>
          <p:cNvPr id="29" name="Shape 26"/>
          <p:cNvSpPr/>
          <p:nvPr/>
        </p:nvSpPr>
        <p:spPr>
          <a:xfrm>
            <a:off x="228600" y="3328416"/>
            <a:ext cx="8686800" cy="457200"/>
          </a:xfrm>
          <a:prstGeom prst="rect">
            <a:avLst/>
          </a:prstGeom>
          <a:solidFill>
            <a:srgbClr val="F0F4FF"/>
          </a:solidFill>
          <a:ln w="12700">
            <a:solidFill>
              <a:srgbClr val="D0DCF0"/>
            </a:solidFill>
            <a:prstDash val="solid"/>
          </a:ln>
        </p:spPr>
      </p:sp>
      <p:sp>
        <p:nvSpPr>
          <p:cNvPr id="30" name="Text 27"/>
          <p:cNvSpPr/>
          <p:nvPr/>
        </p:nvSpPr>
        <p:spPr>
          <a:xfrm>
            <a:off x="320040" y="3328416"/>
            <a:ext cx="3200400" cy="457200"/>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Diffusion D (mean)</a:t>
            </a:r>
            <a:endParaRPr lang="en-US" sz="1050" dirty="0"/>
          </a:p>
        </p:txBody>
      </p:sp>
      <p:sp>
        <p:nvSpPr>
          <p:cNvPr id="31" name="Shape 28"/>
          <p:cNvSpPr/>
          <p:nvPr/>
        </p:nvSpPr>
        <p:spPr>
          <a:xfrm>
            <a:off x="3611880" y="3401568"/>
            <a:ext cx="1828800" cy="320040"/>
          </a:xfrm>
          <a:prstGeom prst="rect">
            <a:avLst/>
          </a:prstGeom>
          <a:solidFill>
            <a:srgbClr val="0B1E3D"/>
          </a:solidFill>
          <a:ln w="12700">
            <a:solidFill>
              <a:srgbClr val="00C9C8"/>
            </a:solidFill>
            <a:prstDash val="solid"/>
          </a:ln>
        </p:spPr>
      </p:sp>
      <p:sp>
        <p:nvSpPr>
          <p:cNvPr id="32" name="Text 29"/>
          <p:cNvSpPr/>
          <p:nvPr/>
        </p:nvSpPr>
        <p:spPr>
          <a:xfrm>
            <a:off x="3611880" y="3401568"/>
            <a:ext cx="1828800" cy="320040"/>
          </a:xfrm>
          <a:prstGeom prst="rect">
            <a:avLst/>
          </a:prstGeom>
          <a:noFill/>
          <a:ln/>
        </p:spPr>
        <p:txBody>
          <a:bodyPr wrap="square" lIns="0" tIns="0" rIns="0" bIns="0" rtlCol="0" anchor="ctr"/>
          <a:lstStyle/>
          <a:p>
            <a:pPr algn="ctr" indent="0" marL="0">
              <a:buNone/>
            </a:pPr>
            <a:r>
              <a:rPr lang="en-US" sz="1000" b="1" dirty="0">
                <a:solidFill>
                  <a:srgbClr val="00C9C8"/>
                </a:solidFill>
                <a:latin typeface="Calibri" pitchFamily="34" charset="0"/>
                <a:ea typeface="Calibri" pitchFamily="34" charset="-122"/>
                <a:cs typeface="Calibri" pitchFamily="34" charset="-120"/>
              </a:rPr>
              <a:t>~0.04–0.08 mm²/day</a:t>
            </a:r>
            <a:endParaRPr lang="en-US" sz="1000" dirty="0"/>
          </a:p>
        </p:txBody>
      </p:sp>
      <p:sp>
        <p:nvSpPr>
          <p:cNvPr id="33" name="Text 30"/>
          <p:cNvSpPr/>
          <p:nvPr/>
        </p:nvSpPr>
        <p:spPr>
          <a:xfrm>
            <a:off x="5623560" y="3328416"/>
            <a:ext cx="3154680" cy="45720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Within Swanson (2000) biophysical range — validates parameter estimation</a:t>
            </a:r>
            <a:endParaRPr lang="en-US" sz="1000" dirty="0"/>
          </a:p>
        </p:txBody>
      </p:sp>
      <p:sp>
        <p:nvSpPr>
          <p:cNvPr id="34" name="Shape 31"/>
          <p:cNvSpPr/>
          <p:nvPr/>
        </p:nvSpPr>
        <p:spPr>
          <a:xfrm>
            <a:off x="228600" y="3803904"/>
            <a:ext cx="8686800" cy="457200"/>
          </a:xfrm>
          <a:prstGeom prst="rect">
            <a:avLst/>
          </a:prstGeom>
          <a:solidFill>
            <a:srgbClr val="FFFFFF"/>
          </a:solidFill>
          <a:ln w="12700">
            <a:solidFill>
              <a:srgbClr val="D0DCF0"/>
            </a:solidFill>
            <a:prstDash val="solid"/>
          </a:ln>
        </p:spPr>
      </p:sp>
      <p:sp>
        <p:nvSpPr>
          <p:cNvPr id="35" name="Text 32"/>
          <p:cNvSpPr/>
          <p:nvPr/>
        </p:nvSpPr>
        <p:spPr>
          <a:xfrm>
            <a:off x="320040" y="3803904"/>
            <a:ext cx="3200400" cy="457200"/>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Proliferation ρ (mean)</a:t>
            </a:r>
            <a:endParaRPr lang="en-US" sz="1050" dirty="0"/>
          </a:p>
        </p:txBody>
      </p:sp>
      <p:sp>
        <p:nvSpPr>
          <p:cNvPr id="36" name="Shape 33"/>
          <p:cNvSpPr/>
          <p:nvPr/>
        </p:nvSpPr>
        <p:spPr>
          <a:xfrm>
            <a:off x="3611880" y="3877056"/>
            <a:ext cx="1828800" cy="320040"/>
          </a:xfrm>
          <a:prstGeom prst="rect">
            <a:avLst/>
          </a:prstGeom>
          <a:solidFill>
            <a:srgbClr val="0B1E3D"/>
          </a:solidFill>
          <a:ln w="12700">
            <a:solidFill>
              <a:srgbClr val="00C9C8"/>
            </a:solidFill>
            <a:prstDash val="solid"/>
          </a:ln>
        </p:spPr>
      </p:sp>
      <p:sp>
        <p:nvSpPr>
          <p:cNvPr id="37" name="Text 34"/>
          <p:cNvSpPr/>
          <p:nvPr/>
        </p:nvSpPr>
        <p:spPr>
          <a:xfrm>
            <a:off x="3611880" y="3877056"/>
            <a:ext cx="1828800" cy="320040"/>
          </a:xfrm>
          <a:prstGeom prst="rect">
            <a:avLst/>
          </a:prstGeom>
          <a:noFill/>
          <a:ln/>
        </p:spPr>
        <p:txBody>
          <a:bodyPr wrap="square" lIns="0" tIns="0" rIns="0" bIns="0" rtlCol="0" anchor="ctr"/>
          <a:lstStyle/>
          <a:p>
            <a:pPr algn="ctr" indent="0" marL="0">
              <a:buNone/>
            </a:pPr>
            <a:r>
              <a:rPr lang="en-US" sz="1000" b="1" dirty="0">
                <a:solidFill>
                  <a:srgbClr val="00C9C8"/>
                </a:solidFill>
                <a:latin typeface="Calibri" pitchFamily="34" charset="0"/>
                <a:ea typeface="Calibri" pitchFamily="34" charset="-122"/>
                <a:cs typeface="Calibri" pitchFamily="34" charset="-120"/>
              </a:rPr>
              <a:t>~0.015–0.025/day</a:t>
            </a:r>
            <a:endParaRPr lang="en-US" sz="1000" dirty="0"/>
          </a:p>
        </p:txBody>
      </p:sp>
      <p:sp>
        <p:nvSpPr>
          <p:cNvPr id="38" name="Text 35"/>
          <p:cNvSpPr/>
          <p:nvPr/>
        </p:nvSpPr>
        <p:spPr>
          <a:xfrm>
            <a:off x="5623560" y="3803904"/>
            <a:ext cx="3154680" cy="45720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Within Harpold (2007) range — biologically plausible values</a:t>
            </a:r>
            <a:endParaRPr lang="en-US" sz="1000" dirty="0"/>
          </a:p>
        </p:txBody>
      </p:sp>
      <p:sp>
        <p:nvSpPr>
          <p:cNvPr id="39" name="Shape 36"/>
          <p:cNvSpPr/>
          <p:nvPr/>
        </p:nvSpPr>
        <p:spPr>
          <a:xfrm>
            <a:off x="228600" y="4279392"/>
            <a:ext cx="8686800" cy="457200"/>
          </a:xfrm>
          <a:prstGeom prst="rect">
            <a:avLst/>
          </a:prstGeom>
          <a:solidFill>
            <a:srgbClr val="F0F4FF"/>
          </a:solidFill>
          <a:ln w="12700">
            <a:solidFill>
              <a:srgbClr val="D0DCF0"/>
            </a:solidFill>
            <a:prstDash val="solid"/>
          </a:ln>
        </p:spPr>
      </p:sp>
      <p:sp>
        <p:nvSpPr>
          <p:cNvPr id="40" name="Text 37"/>
          <p:cNvSpPr/>
          <p:nvPr/>
        </p:nvSpPr>
        <p:spPr>
          <a:xfrm>
            <a:off x="320040" y="4279392"/>
            <a:ext cx="3200400" cy="457200"/>
          </a:xfrm>
          <a:prstGeom prst="rect">
            <a:avLst/>
          </a:prstGeom>
          <a:noFill/>
          <a:ln/>
        </p:spPr>
        <p:txBody>
          <a:bodyPr wrap="square" lIns="0" tIns="0" rIns="0" bIns="0" rtlCol="0" anchor="ctr"/>
          <a:lstStyle/>
          <a:p>
            <a:pPr indent="0" marL="0">
              <a:buNone/>
            </a:pPr>
            <a:r>
              <a:rPr lang="en-US" sz="1050" dirty="0">
                <a:solidFill>
                  <a:srgbClr val="0B1E3D"/>
                </a:solidFill>
                <a:latin typeface="Calibri" pitchFamily="34" charset="0"/>
                <a:ea typeface="Calibri" pitchFamily="34" charset="-122"/>
                <a:cs typeface="Calibri" pitchFamily="34" charset="-120"/>
              </a:rPr>
              <a:t>Proof of Concept</a:t>
            </a:r>
            <a:endParaRPr lang="en-US" sz="1050" dirty="0"/>
          </a:p>
        </p:txBody>
      </p:sp>
      <p:sp>
        <p:nvSpPr>
          <p:cNvPr id="41" name="Shape 38"/>
          <p:cNvSpPr/>
          <p:nvPr/>
        </p:nvSpPr>
        <p:spPr>
          <a:xfrm>
            <a:off x="3611880" y="4352544"/>
            <a:ext cx="1828800" cy="320040"/>
          </a:xfrm>
          <a:prstGeom prst="rect">
            <a:avLst/>
          </a:prstGeom>
          <a:solidFill>
            <a:srgbClr val="0B1E3D"/>
          </a:solidFill>
          <a:ln w="12700">
            <a:solidFill>
              <a:srgbClr val="00C9C8"/>
            </a:solidFill>
            <a:prstDash val="solid"/>
          </a:ln>
        </p:spPr>
      </p:sp>
      <p:sp>
        <p:nvSpPr>
          <p:cNvPr id="42" name="Text 39"/>
          <p:cNvSpPr/>
          <p:nvPr/>
        </p:nvSpPr>
        <p:spPr>
          <a:xfrm>
            <a:off x="3611880" y="4352544"/>
            <a:ext cx="1828800" cy="320040"/>
          </a:xfrm>
          <a:prstGeom prst="rect">
            <a:avLst/>
          </a:prstGeom>
          <a:noFill/>
          <a:ln/>
        </p:spPr>
        <p:txBody>
          <a:bodyPr wrap="square" lIns="0" tIns="0" rIns="0" bIns="0" rtlCol="0" anchor="ctr"/>
          <a:lstStyle/>
          <a:p>
            <a:pPr algn="ctr" indent="0" marL="0">
              <a:buNone/>
            </a:pPr>
            <a:r>
              <a:rPr lang="en-US" sz="1000" b="1" dirty="0">
                <a:solidFill>
                  <a:srgbClr val="00C9C8"/>
                </a:solidFill>
                <a:latin typeface="Calibri" pitchFamily="34" charset="0"/>
                <a:ea typeface="Calibri" pitchFamily="34" charset="-122"/>
                <a:cs typeface="Calibri" pitchFamily="34" charset="-120"/>
              </a:rPr>
              <a:t>1-epoch test PASSED</a:t>
            </a:r>
            <a:endParaRPr lang="en-US" sz="1000" dirty="0"/>
          </a:p>
        </p:txBody>
      </p:sp>
      <p:sp>
        <p:nvSpPr>
          <p:cNvPr id="43" name="Text 40"/>
          <p:cNvSpPr/>
          <p:nvPr/>
        </p:nvSpPr>
        <p:spPr>
          <a:xfrm>
            <a:off x="5623560" y="4279392"/>
            <a:ext cx="3154680" cy="457200"/>
          </a:xfrm>
          <a:prstGeom prst="rect">
            <a:avLst/>
          </a:prstGeom>
          <a:noFill/>
          <a:ln/>
        </p:spPr>
        <p:txBody>
          <a:bodyPr wrap="square" lIns="0" tIns="0" rIns="0" bIns="0" rtlCol="0" anchor="ctr"/>
          <a:lstStyle/>
          <a:p>
            <a:pPr indent="0" marL="0">
              <a:buNone/>
            </a:pPr>
            <a:r>
              <a:rPr lang="en-US" sz="1000" i="1" dirty="0">
                <a:solidFill>
                  <a:srgbClr val="3A5070"/>
                </a:solidFill>
                <a:latin typeface="Calibri" pitchFamily="34" charset="0"/>
                <a:ea typeface="Calibri" pitchFamily="34" charset="-122"/>
                <a:cs typeface="Calibri" pitchFamily="34" charset="-120"/>
              </a:rPr>
              <a:t>Full pipeline runs on real BraTS data — Phase 1 → Phase 2 → Inference</a:t>
            </a:r>
            <a:endParaRPr lang="en-US" sz="1000" dirty="0"/>
          </a:p>
        </p:txBody>
      </p:sp>
      <p:sp>
        <p:nvSpPr>
          <p:cNvPr id="44" name="Shape 41"/>
          <p:cNvSpPr/>
          <p:nvPr/>
        </p:nvSpPr>
        <p:spPr>
          <a:xfrm>
            <a:off x="228600" y="4754880"/>
            <a:ext cx="8686800" cy="384048"/>
          </a:xfrm>
          <a:prstGeom prst="rect">
            <a:avLst/>
          </a:prstGeom>
          <a:solidFill>
            <a:srgbClr val="EFF8EE"/>
          </a:solidFill>
          <a:ln w="12700">
            <a:solidFill>
              <a:srgbClr val="27AE60"/>
            </a:solidFill>
            <a:prstDash val="solid"/>
          </a:ln>
        </p:spPr>
      </p:sp>
      <p:sp>
        <p:nvSpPr>
          <p:cNvPr id="45" name="Text 42"/>
          <p:cNvSpPr/>
          <p:nvPr/>
        </p:nvSpPr>
        <p:spPr>
          <a:xfrm>
            <a:off x="365760" y="4773168"/>
            <a:ext cx="8412480" cy="347472"/>
          </a:xfrm>
          <a:prstGeom prst="rect">
            <a:avLst/>
          </a:prstGeom>
          <a:noFill/>
          <a:ln/>
        </p:spPr>
        <p:txBody>
          <a:bodyPr wrap="square" lIns="0" tIns="0" rIns="0" bIns="0" rtlCol="0" anchor="ctr"/>
          <a:lstStyle/>
          <a:p>
            <a:pPr indent="0" marL="0">
              <a:buNone/>
            </a:pPr>
            <a:r>
              <a:rPr lang="en-US" sz="1000" b="1" dirty="0">
                <a:solidFill>
                  <a:srgbClr val="1A6B35"/>
                </a:solidFill>
                <a:latin typeface="Calibri" pitchFamily="34" charset="0"/>
                <a:ea typeface="Calibri" pitchFamily="34" charset="-122"/>
                <a:cs typeface="Calibri" pitchFamily="34" charset="-120"/>
              </a:rPr>
              <a:t>★  The model is Kaggle-ready for 100+100 epoch training on T4 GPU (~6 hours). Notebook: Kaggle_PINN_Training.ipynb (205KB, all source code embedded)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E3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E3D"/>
          </a:solidFill>
          <a:ln w="12700">
            <a:solidFill>
              <a:srgbClr val="0B1E3D"/>
            </a:solidFill>
            <a:prstDash val="solid"/>
          </a:ln>
        </p:spPr>
      </p:sp>
      <p:sp>
        <p:nvSpPr>
          <p:cNvPr id="3" name="Shape 1"/>
          <p:cNvSpPr/>
          <p:nvPr/>
        </p:nvSpPr>
        <p:spPr>
          <a:xfrm>
            <a:off x="0" y="0"/>
            <a:ext cx="109728" cy="5143500"/>
          </a:xfrm>
          <a:prstGeom prst="rect">
            <a:avLst/>
          </a:prstGeom>
          <a:solidFill>
            <a:srgbClr val="00C9C8"/>
          </a:solidFill>
          <a:ln w="12700">
            <a:solidFill>
              <a:srgbClr val="00C9C8"/>
            </a:solidFill>
            <a:prstDash val="solid"/>
          </a:ln>
        </p:spPr>
      </p:sp>
      <p:sp>
        <p:nvSpPr>
          <p:cNvPr id="4" name="Text 2"/>
          <p:cNvSpPr/>
          <p:nvPr/>
        </p:nvSpPr>
        <p:spPr>
          <a:xfrm>
            <a:off x="274320" y="109728"/>
            <a:ext cx="8686800" cy="548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Advantages, Limitations, Future Scope &amp; Conclusion</a:t>
            </a:r>
            <a:endParaRPr lang="en-US" sz="1800" dirty="0"/>
          </a:p>
        </p:txBody>
      </p:sp>
      <p:sp>
        <p:nvSpPr>
          <p:cNvPr id="5" name="Shape 3"/>
          <p:cNvSpPr/>
          <p:nvPr/>
        </p:nvSpPr>
        <p:spPr>
          <a:xfrm>
            <a:off x="274320" y="658368"/>
            <a:ext cx="8686800" cy="36576"/>
          </a:xfrm>
          <a:prstGeom prst="rect">
            <a:avLst/>
          </a:prstGeom>
          <a:solidFill>
            <a:srgbClr val="00C9C8"/>
          </a:solidFill>
          <a:ln w="12700">
            <a:solidFill>
              <a:srgbClr val="00C9C8"/>
            </a:solidFill>
            <a:prstDash val="solid"/>
          </a:ln>
        </p:spPr>
      </p:sp>
      <p:sp>
        <p:nvSpPr>
          <p:cNvPr id="6" name="Shape 4"/>
          <p:cNvSpPr/>
          <p:nvPr/>
        </p:nvSpPr>
        <p:spPr>
          <a:xfrm>
            <a:off x="274320" y="749808"/>
            <a:ext cx="1965960" cy="4251960"/>
          </a:xfrm>
          <a:prstGeom prst="rect">
            <a:avLst/>
          </a:prstGeom>
          <a:solidFill>
            <a:srgbClr val="0D2748"/>
          </a:solidFill>
          <a:ln w="12700">
            <a:solidFill>
              <a:srgbClr val="00C9C8"/>
            </a:solidFill>
            <a:prstDash val="solid"/>
          </a:ln>
        </p:spPr>
      </p:sp>
      <p:sp>
        <p:nvSpPr>
          <p:cNvPr id="7" name="Shape 5"/>
          <p:cNvSpPr/>
          <p:nvPr/>
        </p:nvSpPr>
        <p:spPr>
          <a:xfrm>
            <a:off x="274320" y="749808"/>
            <a:ext cx="1965960" cy="320040"/>
          </a:xfrm>
          <a:prstGeom prst="rect">
            <a:avLst/>
          </a:prstGeom>
          <a:solidFill>
            <a:srgbClr val="009B9B"/>
          </a:solidFill>
          <a:ln w="12700">
            <a:solidFill>
              <a:srgbClr val="009B9B"/>
            </a:solidFill>
            <a:prstDash val="solid"/>
          </a:ln>
        </p:spPr>
      </p:sp>
      <p:sp>
        <p:nvSpPr>
          <p:cNvPr id="8" name="Text 6"/>
          <p:cNvSpPr/>
          <p:nvPr/>
        </p:nvSpPr>
        <p:spPr>
          <a:xfrm>
            <a:off x="347472" y="749808"/>
            <a:ext cx="17830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Advantages</a:t>
            </a:r>
            <a:endParaRPr lang="en-US" sz="1100" dirty="0"/>
          </a:p>
        </p:txBody>
      </p:sp>
      <p:sp>
        <p:nvSpPr>
          <p:cNvPr id="9" name="Text 7"/>
          <p:cNvSpPr/>
          <p:nvPr/>
        </p:nvSpPr>
        <p:spPr>
          <a:xfrm>
            <a:off x="365760" y="1124712"/>
            <a:ext cx="1737360" cy="594360"/>
          </a:xfrm>
          <a:prstGeom prst="rect">
            <a:avLst/>
          </a:prstGeom>
          <a:noFill/>
          <a:ln/>
        </p:spPr>
        <p:txBody>
          <a:bodyPr wrap="square" lIns="0" tIns="0" rIns="0" bIns="0" rtlCol="0" anchor="ctr"/>
          <a:lstStyle/>
          <a:p>
            <a:pPr indent="0" marL="0">
              <a:buNone/>
            </a:pPr>
            <a:r>
              <a:rPr lang="en-US" sz="950" dirty="0">
                <a:solidFill>
                  <a:srgbClr val="A0D0C0"/>
                </a:solidFill>
                <a:latin typeface="Calibri" pitchFamily="34" charset="0"/>
                <a:ea typeface="Calibri" pitchFamily="34" charset="-122"/>
                <a:cs typeface="Calibri" pitchFamily="34" charset="-120"/>
              </a:rPr>
              <a:t>• Physics-grounded predictions: D(x) and ρ(x) values fall within clinically validated biophysical ranges.</a:t>
            </a:r>
            <a:endParaRPr lang="en-US" sz="950" dirty="0"/>
          </a:p>
        </p:txBody>
      </p:sp>
      <p:sp>
        <p:nvSpPr>
          <p:cNvPr id="10" name="Text 8"/>
          <p:cNvSpPr/>
          <p:nvPr/>
        </p:nvSpPr>
        <p:spPr>
          <a:xfrm>
            <a:off x="365760" y="1764792"/>
            <a:ext cx="1737360" cy="594360"/>
          </a:xfrm>
          <a:prstGeom prst="rect">
            <a:avLst/>
          </a:prstGeom>
          <a:noFill/>
          <a:ln/>
        </p:spPr>
        <p:txBody>
          <a:bodyPr wrap="square" lIns="0" tIns="0" rIns="0" bIns="0" rtlCol="0" anchor="ctr"/>
          <a:lstStyle/>
          <a:p>
            <a:pPr indent="0" marL="0">
              <a:buNone/>
            </a:pPr>
            <a:r>
              <a:rPr lang="en-US" sz="950" dirty="0">
                <a:solidFill>
                  <a:srgbClr val="A0D0C0"/>
                </a:solidFill>
                <a:latin typeface="Calibri" pitchFamily="34" charset="0"/>
                <a:ea typeface="Calibri" pitchFamily="34" charset="-122"/>
                <a:cs typeface="Calibri" pitchFamily="34" charset="-120"/>
              </a:rPr>
              <a:t>• No real longitudinal data needed — RK4 PDE simulation generates temporal supervision.</a:t>
            </a:r>
            <a:endParaRPr lang="en-US" sz="950" dirty="0"/>
          </a:p>
        </p:txBody>
      </p:sp>
      <p:sp>
        <p:nvSpPr>
          <p:cNvPr id="11" name="Text 9"/>
          <p:cNvSpPr/>
          <p:nvPr/>
        </p:nvSpPr>
        <p:spPr>
          <a:xfrm>
            <a:off x="365760" y="2404872"/>
            <a:ext cx="1737360" cy="594360"/>
          </a:xfrm>
          <a:prstGeom prst="rect">
            <a:avLst/>
          </a:prstGeom>
          <a:noFill/>
          <a:ln/>
        </p:spPr>
        <p:txBody>
          <a:bodyPr wrap="square" lIns="0" tIns="0" rIns="0" bIns="0" rtlCol="0" anchor="ctr"/>
          <a:lstStyle/>
          <a:p>
            <a:pPr indent="0" marL="0">
              <a:buNone/>
            </a:pPr>
            <a:r>
              <a:rPr lang="en-US" sz="950" dirty="0">
                <a:solidFill>
                  <a:srgbClr val="A0D0C0"/>
                </a:solidFill>
                <a:latin typeface="Calibri" pitchFamily="34" charset="0"/>
                <a:ea typeface="Calibri" pitchFamily="34" charset="-122"/>
                <a:cs typeface="Calibri" pitchFamily="34" charset="-120"/>
              </a:rPr>
              <a:t>• Interpretable outputs explainable to oncologists and radiologists.</a:t>
            </a:r>
            <a:endParaRPr lang="en-US" sz="950" dirty="0"/>
          </a:p>
        </p:txBody>
      </p:sp>
      <p:sp>
        <p:nvSpPr>
          <p:cNvPr id="12" name="Text 10"/>
          <p:cNvSpPr/>
          <p:nvPr/>
        </p:nvSpPr>
        <p:spPr>
          <a:xfrm>
            <a:off x="365760" y="3044952"/>
            <a:ext cx="1737360" cy="594360"/>
          </a:xfrm>
          <a:prstGeom prst="rect">
            <a:avLst/>
          </a:prstGeom>
          <a:noFill/>
          <a:ln/>
        </p:spPr>
        <p:txBody>
          <a:bodyPr wrap="square" lIns="0" tIns="0" rIns="0" bIns="0" rtlCol="0" anchor="ctr"/>
          <a:lstStyle/>
          <a:p>
            <a:pPr indent="0" marL="0">
              <a:buNone/>
            </a:pPr>
            <a:r>
              <a:rPr lang="en-US" sz="950" dirty="0">
                <a:solidFill>
                  <a:srgbClr val="A0D0C0"/>
                </a:solidFill>
                <a:latin typeface="Calibri" pitchFamily="34" charset="0"/>
                <a:ea typeface="Calibri" pitchFamily="34" charset="-122"/>
                <a:cs typeface="Calibri" pitchFamily="34" charset="-120"/>
              </a:rPr>
              <a:t>• Multi-task: simultaneous segmentation + physics estimation.</a:t>
            </a:r>
            <a:endParaRPr lang="en-US" sz="950" dirty="0"/>
          </a:p>
        </p:txBody>
      </p:sp>
      <p:sp>
        <p:nvSpPr>
          <p:cNvPr id="13" name="Text 11"/>
          <p:cNvSpPr/>
          <p:nvPr/>
        </p:nvSpPr>
        <p:spPr>
          <a:xfrm>
            <a:off x="365760" y="3685032"/>
            <a:ext cx="1737360" cy="594360"/>
          </a:xfrm>
          <a:prstGeom prst="rect">
            <a:avLst/>
          </a:prstGeom>
          <a:noFill/>
          <a:ln/>
        </p:spPr>
        <p:txBody>
          <a:bodyPr wrap="square" lIns="0" tIns="0" rIns="0" bIns="0" rtlCol="0" anchor="ctr"/>
          <a:lstStyle/>
          <a:p>
            <a:pPr indent="0" marL="0">
              <a:buNone/>
            </a:pPr>
            <a:r>
              <a:rPr lang="en-US" sz="950" dirty="0">
                <a:solidFill>
                  <a:srgbClr val="A0D0C0"/>
                </a:solidFill>
                <a:latin typeface="Calibri" pitchFamily="34" charset="0"/>
                <a:ea typeface="Calibri" pitchFamily="34" charset="-122"/>
                <a:cs typeface="Calibri" pitchFamily="34" charset="-120"/>
              </a:rPr>
              <a:t>• Uncertainty quantification via MC Dropout.</a:t>
            </a:r>
            <a:endParaRPr lang="en-US" sz="950" dirty="0"/>
          </a:p>
        </p:txBody>
      </p:sp>
      <p:sp>
        <p:nvSpPr>
          <p:cNvPr id="14" name="Text 12"/>
          <p:cNvSpPr/>
          <p:nvPr/>
        </p:nvSpPr>
        <p:spPr>
          <a:xfrm>
            <a:off x="365760" y="4325112"/>
            <a:ext cx="1737360" cy="594360"/>
          </a:xfrm>
          <a:prstGeom prst="rect">
            <a:avLst/>
          </a:prstGeom>
          <a:noFill/>
          <a:ln/>
        </p:spPr>
        <p:txBody>
          <a:bodyPr wrap="square" lIns="0" tIns="0" rIns="0" bIns="0" rtlCol="0" anchor="ctr"/>
          <a:lstStyle/>
          <a:p>
            <a:pPr indent="0" marL="0">
              <a:buNone/>
            </a:pPr>
            <a:r>
              <a:rPr lang="en-US" sz="950" dirty="0">
                <a:solidFill>
                  <a:srgbClr val="A0D0C0"/>
                </a:solidFill>
                <a:latin typeface="Calibri" pitchFamily="34" charset="0"/>
                <a:ea typeface="Calibri" pitchFamily="34" charset="-122"/>
                <a:cs typeface="Calibri" pitchFamily="34" charset="-120"/>
              </a:rPr>
              <a:t>• Passes 50/51 physics unit tests — mathematically validated.</a:t>
            </a:r>
            <a:endParaRPr lang="en-US" sz="950" dirty="0"/>
          </a:p>
        </p:txBody>
      </p:sp>
      <p:sp>
        <p:nvSpPr>
          <p:cNvPr id="15" name="Shape 13"/>
          <p:cNvSpPr/>
          <p:nvPr/>
        </p:nvSpPr>
        <p:spPr>
          <a:xfrm>
            <a:off x="2377440" y="749808"/>
            <a:ext cx="1965960" cy="4251960"/>
          </a:xfrm>
          <a:prstGeom prst="rect">
            <a:avLst/>
          </a:prstGeom>
          <a:solidFill>
            <a:srgbClr val="1A0A10"/>
          </a:solidFill>
          <a:ln w="12700">
            <a:solidFill>
              <a:srgbClr val="E74C3C"/>
            </a:solidFill>
            <a:prstDash val="solid"/>
          </a:ln>
        </p:spPr>
      </p:sp>
      <p:sp>
        <p:nvSpPr>
          <p:cNvPr id="16" name="Shape 14"/>
          <p:cNvSpPr/>
          <p:nvPr/>
        </p:nvSpPr>
        <p:spPr>
          <a:xfrm>
            <a:off x="2377440" y="749808"/>
            <a:ext cx="1965960" cy="320040"/>
          </a:xfrm>
          <a:prstGeom prst="rect">
            <a:avLst/>
          </a:prstGeom>
          <a:solidFill>
            <a:srgbClr val="8B1A00"/>
          </a:solidFill>
          <a:ln w="12700">
            <a:solidFill>
              <a:srgbClr val="8B1A00"/>
            </a:solidFill>
            <a:prstDash val="solid"/>
          </a:ln>
        </p:spPr>
      </p:sp>
      <p:sp>
        <p:nvSpPr>
          <p:cNvPr id="17" name="Text 15"/>
          <p:cNvSpPr/>
          <p:nvPr/>
        </p:nvSpPr>
        <p:spPr>
          <a:xfrm>
            <a:off x="2450592" y="749808"/>
            <a:ext cx="17830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Limitations</a:t>
            </a:r>
            <a:endParaRPr lang="en-US" sz="1100" dirty="0"/>
          </a:p>
        </p:txBody>
      </p:sp>
      <p:sp>
        <p:nvSpPr>
          <p:cNvPr id="18" name="Text 16"/>
          <p:cNvSpPr/>
          <p:nvPr/>
        </p:nvSpPr>
        <p:spPr>
          <a:xfrm>
            <a:off x="2468880" y="1124712"/>
            <a:ext cx="1737360" cy="713232"/>
          </a:xfrm>
          <a:prstGeom prst="rect">
            <a:avLst/>
          </a:prstGeom>
          <a:noFill/>
          <a:ln/>
        </p:spPr>
        <p:txBody>
          <a:bodyPr wrap="square" lIns="0" tIns="0" rIns="0" bIns="0" rtlCol="0" anchor="ctr"/>
          <a:lstStyle/>
          <a:p>
            <a:pPr indent="0" marL="0">
              <a:buNone/>
            </a:pPr>
            <a:r>
              <a:rPr lang="en-US" sz="950" dirty="0">
                <a:solidFill>
                  <a:srgbClr val="F0A080"/>
                </a:solidFill>
                <a:latin typeface="Calibri" pitchFamily="34" charset="0"/>
                <a:ea typeface="Calibri" pitchFamily="34" charset="-122"/>
                <a:cs typeface="Calibri" pitchFamily="34" charset="-120"/>
              </a:rPr>
              <a:t>• BraTS is cross-sectional: temporal supervision is synthetic — not validated against real follow-up scans.</a:t>
            </a:r>
            <a:endParaRPr lang="en-US" sz="950" dirty="0"/>
          </a:p>
        </p:txBody>
      </p:sp>
      <p:sp>
        <p:nvSpPr>
          <p:cNvPr id="19" name="Text 17"/>
          <p:cNvSpPr/>
          <p:nvPr/>
        </p:nvSpPr>
        <p:spPr>
          <a:xfrm>
            <a:off x="2468880" y="1892808"/>
            <a:ext cx="1737360" cy="713232"/>
          </a:xfrm>
          <a:prstGeom prst="rect">
            <a:avLst/>
          </a:prstGeom>
          <a:noFill/>
          <a:ln/>
        </p:spPr>
        <p:txBody>
          <a:bodyPr wrap="square" lIns="0" tIns="0" rIns="0" bIns="0" rtlCol="0" anchor="ctr"/>
          <a:lstStyle/>
          <a:p>
            <a:pPr indent="0" marL="0">
              <a:buNone/>
            </a:pPr>
            <a:r>
              <a:rPr lang="en-US" sz="950" dirty="0">
                <a:solidFill>
                  <a:srgbClr val="F0A080"/>
                </a:solidFill>
                <a:latin typeface="Calibri" pitchFamily="34" charset="0"/>
                <a:ea typeface="Calibri" pitchFamily="34" charset="-122"/>
                <a:cs typeface="Calibri" pitchFamily="34" charset="-120"/>
              </a:rPr>
              <a:t>• MRI ≠ cell density: density is a theoretical construct inferred from segmentation labels.</a:t>
            </a:r>
            <a:endParaRPr lang="en-US" sz="950" dirty="0"/>
          </a:p>
        </p:txBody>
      </p:sp>
      <p:sp>
        <p:nvSpPr>
          <p:cNvPr id="20" name="Text 18"/>
          <p:cNvSpPr/>
          <p:nvPr/>
        </p:nvSpPr>
        <p:spPr>
          <a:xfrm>
            <a:off x="2468880" y="2660904"/>
            <a:ext cx="1737360" cy="713232"/>
          </a:xfrm>
          <a:prstGeom prst="rect">
            <a:avLst/>
          </a:prstGeom>
          <a:noFill/>
          <a:ln/>
        </p:spPr>
        <p:txBody>
          <a:bodyPr wrap="square" lIns="0" tIns="0" rIns="0" bIns="0" rtlCol="0" anchor="ctr"/>
          <a:lstStyle/>
          <a:p>
            <a:pPr indent="0" marL="0">
              <a:buNone/>
            </a:pPr>
            <a:r>
              <a:rPr lang="en-US" sz="950" dirty="0">
                <a:solidFill>
                  <a:srgbClr val="F0A080"/>
                </a:solidFill>
                <a:latin typeface="Calibri" pitchFamily="34" charset="0"/>
                <a:ea typeface="Calibri" pitchFamily="34" charset="-122"/>
                <a:cs typeface="Calibri" pitchFamily="34" charset="-120"/>
              </a:rPr>
              <a:t>• Tissue segmentation (WM/GM) uses tumor-derived proxy; FSL FAST would be more accurate.</a:t>
            </a:r>
            <a:endParaRPr lang="en-US" sz="950" dirty="0"/>
          </a:p>
        </p:txBody>
      </p:sp>
      <p:sp>
        <p:nvSpPr>
          <p:cNvPr id="21" name="Text 19"/>
          <p:cNvSpPr/>
          <p:nvPr/>
        </p:nvSpPr>
        <p:spPr>
          <a:xfrm>
            <a:off x="2468880" y="3429000"/>
            <a:ext cx="1737360" cy="713232"/>
          </a:xfrm>
          <a:prstGeom prst="rect">
            <a:avLst/>
          </a:prstGeom>
          <a:noFill/>
          <a:ln/>
        </p:spPr>
        <p:txBody>
          <a:bodyPr wrap="square" lIns="0" tIns="0" rIns="0" bIns="0" rtlCol="0" anchor="ctr"/>
          <a:lstStyle/>
          <a:p>
            <a:pPr indent="0" marL="0">
              <a:buNone/>
            </a:pPr>
            <a:r>
              <a:rPr lang="en-US" sz="950" dirty="0">
                <a:solidFill>
                  <a:srgbClr val="F0A080"/>
                </a:solidFill>
                <a:latin typeface="Calibri" pitchFamily="34" charset="0"/>
                <a:ea typeface="Calibri" pitchFamily="34" charset="-122"/>
                <a:cs typeface="Calibri" pitchFamily="34" charset="-120"/>
              </a:rPr>
              <a:t>• ResNet-10 at 64³ resolution limits detail for paper-quality results (resnet50+128³ needed for publication).</a:t>
            </a:r>
            <a:endParaRPr lang="en-US" sz="950" dirty="0"/>
          </a:p>
        </p:txBody>
      </p:sp>
      <p:sp>
        <p:nvSpPr>
          <p:cNvPr id="22" name="Text 20"/>
          <p:cNvSpPr/>
          <p:nvPr/>
        </p:nvSpPr>
        <p:spPr>
          <a:xfrm>
            <a:off x="2468880" y="4197096"/>
            <a:ext cx="1737360" cy="713232"/>
          </a:xfrm>
          <a:prstGeom prst="rect">
            <a:avLst/>
          </a:prstGeom>
          <a:noFill/>
          <a:ln/>
        </p:spPr>
        <p:txBody>
          <a:bodyPr wrap="square" lIns="0" tIns="0" rIns="0" bIns="0" rtlCol="0" anchor="ctr"/>
          <a:lstStyle/>
          <a:p>
            <a:pPr indent="0" marL="0">
              <a:buNone/>
            </a:pPr>
            <a:r>
              <a:rPr lang="en-US" sz="950" dirty="0">
                <a:solidFill>
                  <a:srgbClr val="F0A080"/>
                </a:solidFill>
                <a:latin typeface="Calibri" pitchFamily="34" charset="0"/>
                <a:ea typeface="Calibri" pitchFamily="34" charset="-122"/>
                <a:cs typeface="Calibri" pitchFamily="34" charset="-120"/>
              </a:rPr>
              <a:t>• Adaptive loss weighting requires careful tuning to prevent one term dominating.</a:t>
            </a:r>
            <a:endParaRPr lang="en-US" sz="950" dirty="0"/>
          </a:p>
        </p:txBody>
      </p:sp>
      <p:sp>
        <p:nvSpPr>
          <p:cNvPr id="23" name="Shape 21"/>
          <p:cNvSpPr/>
          <p:nvPr/>
        </p:nvSpPr>
        <p:spPr>
          <a:xfrm>
            <a:off x="4480560" y="749808"/>
            <a:ext cx="1965960" cy="4251960"/>
          </a:xfrm>
          <a:prstGeom prst="rect">
            <a:avLst/>
          </a:prstGeom>
          <a:solidFill>
            <a:srgbClr val="0A1520"/>
          </a:solidFill>
          <a:ln w="12700">
            <a:solidFill>
              <a:srgbClr val="F5A623"/>
            </a:solidFill>
            <a:prstDash val="solid"/>
          </a:ln>
        </p:spPr>
      </p:sp>
      <p:sp>
        <p:nvSpPr>
          <p:cNvPr id="24" name="Shape 22"/>
          <p:cNvSpPr/>
          <p:nvPr/>
        </p:nvSpPr>
        <p:spPr>
          <a:xfrm>
            <a:off x="4480560" y="749808"/>
            <a:ext cx="1965960" cy="320040"/>
          </a:xfrm>
          <a:prstGeom prst="rect">
            <a:avLst/>
          </a:prstGeom>
          <a:solidFill>
            <a:srgbClr val="7A5500"/>
          </a:solidFill>
          <a:ln w="12700">
            <a:solidFill>
              <a:srgbClr val="7A5500"/>
            </a:solidFill>
            <a:prstDash val="solid"/>
          </a:ln>
        </p:spPr>
      </p:sp>
      <p:sp>
        <p:nvSpPr>
          <p:cNvPr id="25" name="Text 23"/>
          <p:cNvSpPr/>
          <p:nvPr/>
        </p:nvSpPr>
        <p:spPr>
          <a:xfrm>
            <a:off x="4553712" y="749808"/>
            <a:ext cx="178308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Future Scope</a:t>
            </a:r>
            <a:endParaRPr lang="en-US" sz="1100" dirty="0"/>
          </a:p>
        </p:txBody>
      </p:sp>
      <p:sp>
        <p:nvSpPr>
          <p:cNvPr id="26" name="Text 24"/>
          <p:cNvSpPr/>
          <p:nvPr/>
        </p:nvSpPr>
        <p:spPr>
          <a:xfrm>
            <a:off x="4572000" y="1124712"/>
            <a:ext cx="1737360" cy="713232"/>
          </a:xfrm>
          <a:prstGeom prst="rect">
            <a:avLst/>
          </a:prstGeom>
          <a:noFill/>
          <a:ln/>
        </p:spPr>
        <p:txBody>
          <a:bodyPr wrap="square" lIns="0" tIns="0" rIns="0" bIns="0" rtlCol="0" anchor="ctr"/>
          <a:lstStyle/>
          <a:p>
            <a:pPr indent="0" marL="0">
              <a:buNone/>
            </a:pPr>
            <a:r>
              <a:rPr lang="en-US" sz="950" dirty="0">
                <a:solidFill>
                  <a:srgbClr val="F0D080"/>
                </a:solidFill>
                <a:latin typeface="Calibri" pitchFamily="34" charset="0"/>
                <a:ea typeface="Calibri" pitchFamily="34" charset="-122"/>
                <a:cs typeface="Calibri" pitchFamily="34" charset="-120"/>
              </a:rPr>
              <a:t>• Validate on LUMIERE or BraTS-GLI 2024 (real longitudinal scans) to compare predicted vs actual growth.</a:t>
            </a:r>
            <a:endParaRPr lang="en-US" sz="950" dirty="0"/>
          </a:p>
        </p:txBody>
      </p:sp>
      <p:sp>
        <p:nvSpPr>
          <p:cNvPr id="27" name="Text 25"/>
          <p:cNvSpPr/>
          <p:nvPr/>
        </p:nvSpPr>
        <p:spPr>
          <a:xfrm>
            <a:off x="4572000" y="1892808"/>
            <a:ext cx="1737360" cy="713232"/>
          </a:xfrm>
          <a:prstGeom prst="rect">
            <a:avLst/>
          </a:prstGeom>
          <a:noFill/>
          <a:ln/>
        </p:spPr>
        <p:txBody>
          <a:bodyPr wrap="square" lIns="0" tIns="0" rIns="0" bIns="0" rtlCol="0" anchor="ctr"/>
          <a:lstStyle/>
          <a:p>
            <a:pPr indent="0" marL="0">
              <a:buNone/>
            </a:pPr>
            <a:r>
              <a:rPr lang="en-US" sz="950" dirty="0">
                <a:solidFill>
                  <a:srgbClr val="F0D080"/>
                </a:solidFill>
                <a:latin typeface="Calibri" pitchFamily="34" charset="0"/>
                <a:ea typeface="Calibri" pitchFamily="34" charset="-122"/>
                <a:cs typeface="Calibri" pitchFamily="34" charset="-120"/>
              </a:rPr>
              <a:t>• Treatment modeling: add sink term −k·u for chemotherapy/radiotherapy effects.</a:t>
            </a:r>
            <a:endParaRPr lang="en-US" sz="950" dirty="0"/>
          </a:p>
        </p:txBody>
      </p:sp>
      <p:sp>
        <p:nvSpPr>
          <p:cNvPr id="28" name="Text 26"/>
          <p:cNvSpPr/>
          <p:nvPr/>
        </p:nvSpPr>
        <p:spPr>
          <a:xfrm>
            <a:off x="4572000" y="2660904"/>
            <a:ext cx="1737360" cy="713232"/>
          </a:xfrm>
          <a:prstGeom prst="rect">
            <a:avLst/>
          </a:prstGeom>
          <a:noFill/>
          <a:ln/>
        </p:spPr>
        <p:txBody>
          <a:bodyPr wrap="square" lIns="0" tIns="0" rIns="0" bIns="0" rtlCol="0" anchor="ctr"/>
          <a:lstStyle/>
          <a:p>
            <a:pPr indent="0" marL="0">
              <a:buNone/>
            </a:pPr>
            <a:r>
              <a:rPr lang="en-US" sz="950" dirty="0">
                <a:solidFill>
                  <a:srgbClr val="F0D080"/>
                </a:solidFill>
                <a:latin typeface="Calibri" pitchFamily="34" charset="0"/>
                <a:ea typeface="Calibri" pitchFamily="34" charset="-122"/>
                <a:cs typeface="Calibri" pitchFamily="34" charset="-120"/>
              </a:rPr>
              <a:t>• Backbone upgrade: SwinUNETR or ConvNeXt3D for richer feature extraction.</a:t>
            </a:r>
            <a:endParaRPr lang="en-US" sz="950" dirty="0"/>
          </a:p>
        </p:txBody>
      </p:sp>
      <p:sp>
        <p:nvSpPr>
          <p:cNvPr id="29" name="Text 27"/>
          <p:cNvSpPr/>
          <p:nvPr/>
        </p:nvSpPr>
        <p:spPr>
          <a:xfrm>
            <a:off x="4572000" y="3429000"/>
            <a:ext cx="1737360" cy="713232"/>
          </a:xfrm>
          <a:prstGeom prst="rect">
            <a:avLst/>
          </a:prstGeom>
          <a:noFill/>
          <a:ln/>
        </p:spPr>
        <p:txBody>
          <a:bodyPr wrap="square" lIns="0" tIns="0" rIns="0" bIns="0" rtlCol="0" anchor="ctr"/>
          <a:lstStyle/>
          <a:p>
            <a:pPr indent="0" marL="0">
              <a:buNone/>
            </a:pPr>
            <a:r>
              <a:rPr lang="en-US" sz="950" dirty="0">
                <a:solidFill>
                  <a:srgbClr val="F0D080"/>
                </a:solidFill>
                <a:latin typeface="Calibri" pitchFamily="34" charset="0"/>
                <a:ea typeface="Calibri" pitchFamily="34" charset="-122"/>
                <a:cs typeface="Calibri" pitchFamily="34" charset="-120"/>
              </a:rPr>
              <a:t>• Uncertainty-weighted adaptive loss if PDE residual dominates data fidelity.</a:t>
            </a:r>
            <a:endParaRPr lang="en-US" sz="950" dirty="0"/>
          </a:p>
        </p:txBody>
      </p:sp>
      <p:sp>
        <p:nvSpPr>
          <p:cNvPr id="30" name="Text 28"/>
          <p:cNvSpPr/>
          <p:nvPr/>
        </p:nvSpPr>
        <p:spPr>
          <a:xfrm>
            <a:off x="4572000" y="4197096"/>
            <a:ext cx="1737360" cy="713232"/>
          </a:xfrm>
          <a:prstGeom prst="rect">
            <a:avLst/>
          </a:prstGeom>
          <a:noFill/>
          <a:ln/>
        </p:spPr>
        <p:txBody>
          <a:bodyPr wrap="square" lIns="0" tIns="0" rIns="0" bIns="0" rtlCol="0" anchor="ctr"/>
          <a:lstStyle/>
          <a:p>
            <a:pPr indent="0" marL="0">
              <a:buNone/>
            </a:pPr>
            <a:r>
              <a:rPr lang="en-US" sz="950" dirty="0">
                <a:solidFill>
                  <a:srgbClr val="F0D080"/>
                </a:solidFill>
                <a:latin typeface="Calibri" pitchFamily="34" charset="0"/>
                <a:ea typeface="Calibri" pitchFamily="34" charset="-122"/>
                <a:cs typeface="Calibri" pitchFamily="34" charset="-120"/>
              </a:rPr>
              <a:t>• Federated learning for multi-hospital training without sharing patient data.</a:t>
            </a:r>
            <a:endParaRPr lang="en-US" sz="950" dirty="0"/>
          </a:p>
        </p:txBody>
      </p:sp>
      <p:sp>
        <p:nvSpPr>
          <p:cNvPr id="31" name="Shape 29"/>
          <p:cNvSpPr/>
          <p:nvPr/>
        </p:nvSpPr>
        <p:spPr>
          <a:xfrm>
            <a:off x="6583680" y="749808"/>
            <a:ext cx="2350008" cy="4251960"/>
          </a:xfrm>
          <a:prstGeom prst="rect">
            <a:avLst/>
          </a:prstGeom>
          <a:solidFill>
            <a:srgbClr val="0D2748"/>
          </a:solidFill>
          <a:ln w="12700">
            <a:solidFill>
              <a:srgbClr val="00C9C8"/>
            </a:solidFill>
            <a:prstDash val="solid"/>
          </a:ln>
        </p:spPr>
      </p:sp>
      <p:sp>
        <p:nvSpPr>
          <p:cNvPr id="32" name="Shape 30"/>
          <p:cNvSpPr/>
          <p:nvPr/>
        </p:nvSpPr>
        <p:spPr>
          <a:xfrm>
            <a:off x="6583680" y="749808"/>
            <a:ext cx="2350008" cy="320040"/>
          </a:xfrm>
          <a:prstGeom prst="rect">
            <a:avLst/>
          </a:prstGeom>
          <a:solidFill>
            <a:srgbClr val="1A4A7A"/>
          </a:solidFill>
          <a:ln w="12700">
            <a:solidFill>
              <a:srgbClr val="1A4A7A"/>
            </a:solidFill>
            <a:prstDash val="solid"/>
          </a:ln>
        </p:spPr>
      </p:sp>
      <p:sp>
        <p:nvSpPr>
          <p:cNvPr id="33" name="Text 31"/>
          <p:cNvSpPr/>
          <p:nvPr/>
        </p:nvSpPr>
        <p:spPr>
          <a:xfrm>
            <a:off x="6656832" y="749808"/>
            <a:ext cx="2176272"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Conclusion</a:t>
            </a:r>
            <a:endParaRPr lang="en-US" sz="1100" dirty="0"/>
          </a:p>
        </p:txBody>
      </p:sp>
      <p:pic>
        <p:nvPicPr>
          <p:cNvPr id="34" name="Image 0" descr="preencoded.png">    </p:cNvPr>
          <p:cNvPicPr>
            <a:picLocks noChangeAspect="1"/>
          </p:cNvPicPr>
          <p:nvPr/>
        </p:nvPicPr>
        <p:blipFill>
          <a:blip r:embed="rId1"/>
          <a:stretch>
            <a:fillRect/>
          </a:stretch>
        </p:blipFill>
        <p:spPr>
          <a:xfrm>
            <a:off x="7223760" y="1115568"/>
            <a:ext cx="685800" cy="685800"/>
          </a:xfrm>
          <a:prstGeom prst="rect">
            <a:avLst/>
          </a:prstGeom>
        </p:spPr>
      </p:pic>
      <p:sp>
        <p:nvSpPr>
          <p:cNvPr id="35" name="Text 32"/>
          <p:cNvSpPr/>
          <p:nvPr/>
        </p:nvSpPr>
        <p:spPr>
          <a:xfrm>
            <a:off x="6656832" y="1874520"/>
            <a:ext cx="2176272" cy="3063240"/>
          </a:xfrm>
          <a:prstGeom prst="rect">
            <a:avLst/>
          </a:prstGeom>
          <a:noFill/>
          <a:ln/>
        </p:spPr>
        <p:txBody>
          <a:bodyPr wrap="square" lIns="0" tIns="0" rIns="0" bIns="0" rtlCol="0" anchor="ctr"/>
          <a:lstStyle/>
          <a:p>
            <a:pPr indent="0" marL="0">
              <a:buNone/>
            </a:pPr>
            <a:r>
              <a:rPr lang="en-US" sz="1000" dirty="0">
                <a:solidFill>
                  <a:srgbClr val="A0C0E0"/>
                </a:solidFill>
                <a:latin typeface="Calibri" pitchFamily="34" charset="0"/>
                <a:ea typeface="Calibri" pitchFamily="34" charset="-122"/>
                <a:cs typeface="Calibri" pitchFamily="34" charset="-120"/>
              </a:rPr>
              <a:t>This project demonstrates a scientifically rigorous, production-grade framework combining:</a:t>
            </a:r>
            <a:endParaRPr lang="en-US" sz="1000" dirty="0"/>
          </a:p>
          <a:p>
            <a:pPr indent="0" marL="0">
              <a:buNone/>
            </a:pPr>
            <a:endParaRPr lang="en-US" sz="1000" dirty="0"/>
          </a:p>
          <a:p>
            <a:pPr indent="0" marL="0">
              <a:buNone/>
            </a:pPr>
            <a:r>
              <a:rPr lang="en-US" sz="1000" dirty="0">
                <a:solidFill>
                  <a:srgbClr val="A0C0E0"/>
                </a:solidFill>
                <a:latin typeface="Calibri" pitchFamily="34" charset="0"/>
                <a:ea typeface="Calibri" pitchFamily="34" charset="-122"/>
                <a:cs typeface="Calibri" pitchFamily="34" charset="-120"/>
              </a:rPr>
              <a:t>✔  3D deep learning (MONAI ResNet)</a:t>
            </a:r>
            <a:endParaRPr lang="en-US" sz="1000" dirty="0"/>
          </a:p>
          <a:p>
            <a:pPr indent="0" marL="0">
              <a:buNone/>
            </a:pPr>
            <a:r>
              <a:rPr lang="en-US" sz="1000" dirty="0">
                <a:solidFill>
                  <a:srgbClr val="A0C0E0"/>
                </a:solidFill>
                <a:latin typeface="Calibri" pitchFamily="34" charset="0"/>
                <a:ea typeface="Calibri" pitchFamily="34" charset="-122"/>
                <a:cs typeface="Calibri" pitchFamily="34" charset="-120"/>
              </a:rPr>
              <a:t>✔  Biophysical PDE constraints (Fisher-KPP)</a:t>
            </a:r>
            <a:endParaRPr lang="en-US" sz="1000" dirty="0"/>
          </a:p>
          <a:p>
            <a:pPr indent="0" marL="0">
              <a:buNone/>
            </a:pPr>
            <a:r>
              <a:rPr lang="en-US" sz="1000" dirty="0">
                <a:solidFill>
                  <a:srgbClr val="A0C0E0"/>
                </a:solidFill>
                <a:latin typeface="Calibri" pitchFamily="34" charset="0"/>
                <a:ea typeface="Calibri" pitchFamily="34" charset="-122"/>
                <a:cs typeface="Calibri" pitchFamily="34" charset="-120"/>
              </a:rPr>
              <a:t>✔  Multi-task learning (Seg + Physics)</a:t>
            </a:r>
            <a:endParaRPr lang="en-US" sz="1000" dirty="0"/>
          </a:p>
          <a:p>
            <a:pPr indent="0" marL="0">
              <a:buNone/>
            </a:pPr>
            <a:r>
              <a:rPr lang="en-US" sz="1000" dirty="0">
                <a:solidFill>
                  <a:srgbClr val="A0C0E0"/>
                </a:solidFill>
                <a:latin typeface="Calibri" pitchFamily="34" charset="0"/>
                <a:ea typeface="Calibri" pitchFamily="34" charset="-122"/>
                <a:cs typeface="Calibri" pitchFamily="34" charset="-120"/>
              </a:rPr>
              <a:t>✔  Validated on real BraTS MRI data</a:t>
            </a:r>
            <a:endParaRPr lang="en-US" sz="1000" dirty="0"/>
          </a:p>
          <a:p>
            <a:pPr indent="0" marL="0">
              <a:buNone/>
            </a:pPr>
            <a:r>
              <a:rPr lang="en-US" sz="1000" dirty="0">
                <a:solidFill>
                  <a:srgbClr val="A0C0E0"/>
                </a:solidFill>
                <a:latin typeface="Calibri" pitchFamily="34" charset="0"/>
                <a:ea typeface="Calibri" pitchFamily="34" charset="-122"/>
                <a:cs typeface="Calibri" pitchFamily="34" charset="-120"/>
              </a:rPr>
              <a:t>✔  Cloud-ready (Kaggle GPU training)</a:t>
            </a:r>
            <a:endParaRPr lang="en-US" sz="1000" dirty="0"/>
          </a:p>
          <a:p>
            <a:pPr indent="0" marL="0">
              <a:buNone/>
            </a:pPr>
            <a:endParaRPr lang="en-US" sz="1000" dirty="0"/>
          </a:p>
          <a:p>
            <a:pPr indent="0" marL="0">
              <a:buNone/>
            </a:pPr>
            <a:r>
              <a:rPr lang="en-US" sz="1000" dirty="0">
                <a:solidFill>
                  <a:srgbClr val="A0C0E0"/>
                </a:solidFill>
                <a:latin typeface="Calibri" pitchFamily="34" charset="0"/>
                <a:ea typeface="Calibri" pitchFamily="34" charset="-122"/>
                <a:cs typeface="Calibri" pitchFamily="34" charset="-120"/>
              </a:rPr>
              <a:t>The result is a model that doesn't just segment tumors — it understands them biophysically.</a:t>
            </a:r>
            <a:endParaRPr lang="en-US" sz="1000" dirty="0"/>
          </a:p>
        </p:txBody>
      </p:sp>
      <p:sp>
        <p:nvSpPr>
          <p:cNvPr id="36" name="Text 33"/>
          <p:cNvSpPr/>
          <p:nvPr/>
        </p:nvSpPr>
        <p:spPr>
          <a:xfrm>
            <a:off x="0" y="4846320"/>
            <a:ext cx="9144000" cy="274320"/>
          </a:xfrm>
          <a:prstGeom prst="rect">
            <a:avLst/>
          </a:prstGeom>
          <a:noFill/>
          <a:ln/>
        </p:spPr>
        <p:txBody>
          <a:bodyPr wrap="square" lIns="0" tIns="0" rIns="0" bIns="0" rtlCol="0" anchor="ctr"/>
          <a:lstStyle/>
          <a:p>
            <a:pPr algn="ctr" indent="0" marL="0">
              <a:buNone/>
            </a:pPr>
            <a:r>
              <a:rPr lang="en-US" sz="1100" b="1" dirty="0">
                <a:solidFill>
                  <a:srgbClr val="00C9C8"/>
                </a:solidFill>
                <a:latin typeface="Calibri" pitchFamily="34" charset="0"/>
                <a:ea typeface="Calibri" pitchFamily="34" charset="-122"/>
                <a:cs typeface="Calibri" pitchFamily="34" charset="-120"/>
              </a:rPr>
              <a:t>Slide 20 / 20  ·  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MONAI ResNet + PINN for Brain Tumor Modeling</dc:title>
  <dc:subject>PptxGenJS Presentation</dc:subject>
  <dc:creator>Hybrid PINN Project</dc:creator>
  <cp:lastModifiedBy>Hybrid PINN Project</cp:lastModifiedBy>
  <cp:revision>1</cp:revision>
  <dcterms:created xsi:type="dcterms:W3CDTF">2026-04-12T19:34:55Z</dcterms:created>
  <dcterms:modified xsi:type="dcterms:W3CDTF">2026-04-12T19:34:55Z</dcterms:modified>
</cp:coreProperties>
</file>