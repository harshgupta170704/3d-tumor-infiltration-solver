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Hybrid Deep Learning &amp; Physics-Informed Neural Network</a:t>
            </a:r>
          </a:p>
          <a:p>
            <a:r>
              <a:t>for Brain Tumor Growth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Minor Project Presentation</a:t>
            </a:r>
          </a:p>
          <a:p/>
          <a:p>
            <a:r>
              <a:t>Submitted By: Harsh Gupta (23U01011)</a:t>
            </a:r>
          </a:p>
          <a:p>
            <a:r>
              <a:t>B.Tech ECE, IIIT Bhopal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1. 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Glioblastoma Multiforme (GBM) is the most aggressive grade IV brain tumor.</a:t>
            </a:r>
          </a:p>
          <a:p>
            <a:pPr/>
            <a:r>
              <a:t>• Median survival remains 14.6 months despite aggressive treatment.</a:t>
            </a:r>
          </a:p>
          <a:p>
            <a:pPr/>
            <a:r>
              <a:t>• Current deep learning models only answer 'where is the tumor now?' (Segmentation).</a:t>
            </a:r>
          </a:p>
          <a:p>
            <a:pPr/>
            <a:r>
              <a:t>• Clinical need: We must predict 'where will the tumor be in 30, 60, or 90 days?'.</a:t>
            </a:r>
          </a:p>
          <a:p>
            <a:pPr/>
            <a:r>
              <a:t>• Standard math models (PDEs) are too slow and require manual tuning.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2. 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Standard AI ignores biophysics; standard math ignores 3D MRI features.</a:t>
            </a:r>
          </a:p>
          <a:p>
            <a:pPr/>
            <a:r>
              <a:t>Objectives:</a:t>
            </a:r>
          </a:p>
          <a:p>
            <a:pPr/>
            <a:r>
              <a:t>  1. Segment 3D Brain Tumors accurately on BraTS 2021.</a:t>
            </a:r>
          </a:p>
          <a:p>
            <a:pPr/>
            <a:r>
              <a:t>  2. Infer underlying biophysical parameters (Diffusion D, Proliferation ρ).</a:t>
            </a:r>
          </a:p>
          <a:p>
            <a:pPr/>
            <a:r>
              <a:t>  3. Predict future tumor density via the Fisher-KPP reaction-diffusion PDE.</a:t>
            </a:r>
          </a:p>
          <a:p>
            <a:pPr/>
            <a:r>
              <a:t>  4. Make the entire pipeline End-to-End differentiable (PINN).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3. System Architecture: HybridTumorNet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Encoder: MONAI 3D ResNet-50 (extracts multi-scale features).</a:t>
            </a:r>
          </a:p>
          <a:p>
            <a:pPr>
              <a:defRPr sz="1800"/>
            </a:pPr>
            <a:r>
              <a:t>• Decoder 1: Density Head -&gt; predicts continuous cell density u(x,t).</a:t>
            </a:r>
          </a:p>
          <a:p>
            <a:pPr>
              <a:defRPr sz="1800"/>
            </a:pPr>
            <a:r>
              <a:t>• Decoder 2: Physics Head -&gt; predicts D(x) and ρ(x).</a:t>
            </a:r>
          </a:p>
          <a:p>
            <a:pPr>
              <a:defRPr sz="1800"/>
            </a:pPr>
            <a:r>
              <a:t>• Decoder 3: Segmentation Head -&gt; 4-class BraTS mask.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0024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4. The Physics-Informed Approach (PINN)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Fisher-KPP Equation: ∂u/∂t = ∇·(D∇u) + ρu(1−u)</a:t>
            </a:r>
          </a:p>
          <a:p>
            <a:pPr/>
            <a:r>
              <a:t>• Loss Function combines 6 terms:</a:t>
            </a:r>
          </a:p>
          <a:p>
            <a:pPr/>
            <a:r>
              <a:t>  - Data Loss (MSE fidelity)</a:t>
            </a:r>
          </a:p>
          <a:p>
            <a:pPr/>
            <a:r>
              <a:t>  - PDE Residual Loss (Physics constraint)</a:t>
            </a:r>
          </a:p>
          <a:p>
            <a:pPr/>
            <a:r>
              <a:t>  - Initial Condition &amp; Boundary Condition Losses</a:t>
            </a:r>
          </a:p>
          <a:p>
            <a:pPr/>
            <a:r>
              <a:t>  - Regularization &amp; Segmentation Dice Loss</a:t>
            </a:r>
          </a:p>
          <a:p>
            <a:pPr/>
            <a:r>
              <a:t>• Adaptive weighting balances the gradients dynamically.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5. Synthetic Data via RK4 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BraTS 2021 provides static, cross-sectional scans (no longitudinal data).</a:t>
            </a:r>
          </a:p>
          <a:p>
            <a:pPr>
              <a:defRPr sz="1800"/>
            </a:pPr>
            <a:r>
              <a:t>• Solution: Custom FisherKPPSolver.</a:t>
            </a:r>
          </a:p>
          <a:p>
            <a:pPr>
              <a:defRPr sz="1800"/>
            </a:pPr>
            <a:r>
              <a:t>• Uses 4th-Order Runge-Kutta (RK4) integration.</a:t>
            </a:r>
          </a:p>
          <a:p>
            <a:pPr>
              <a:defRPr sz="1800"/>
            </a:pPr>
            <a:r>
              <a:t>• Generates synthetic temporal derivative (du/dt) to provide a non-trivial signal.</a:t>
            </a:r>
          </a:p>
          <a:p>
            <a:pPr>
              <a:defRPr sz="1800"/>
            </a:pPr>
            <a:r>
              <a:t>• Central-difference 3D Convolution kernels compute spatial gradients on GPU.</a:t>
            </a:r>
          </a:p>
        </p:txBody>
      </p:sp>
      <p:pic>
        <p:nvPicPr>
          <p:cNvPr id="4" name="Picture 3" descr="pipelin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6. Results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Dice-WT: 0.905 | Dice-TC: 0.847 | Dice-ET: 0.801</a:t>
            </a:r>
          </a:p>
          <a:p>
            <a:pPr>
              <a:defRPr sz="1800"/>
            </a:pPr>
            <a:r>
              <a:t>• PDE Residual converged from 0.34 to 0.008 (True physics compliance).</a:t>
            </a:r>
          </a:p>
          <a:p>
            <a:pPr>
              <a:defRPr sz="1800"/>
            </a:pPr>
            <a:r>
              <a:t>• Predicted D(x): 0.018 - 0.072 mm²/day (Matches clinical reality).</a:t>
            </a:r>
          </a:p>
          <a:p>
            <a:pPr>
              <a:defRPr sz="1800"/>
            </a:pPr>
            <a:r>
              <a:t>• Accurately distinguishes white matter vs. grey matter diffusion rates.</a:t>
            </a:r>
          </a:p>
        </p:txBody>
      </p:sp>
      <p:pic>
        <p:nvPicPr>
          <p:cNvPr id="4" name="Picture 3" descr="results_grap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6768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7. 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</a:t>
            </a:r>
          </a:p>
          <a:p>
            <a:pPr/>
            <a:r>
              <a:t>• Successfully bridged spatial computer vision with mathematical biophysics.</a:t>
            </a:r>
          </a:p>
          <a:p>
            <a:pPr/>
            <a:r>
              <a:t>• Proved that enforcing strict PDE constraints does NOT degrade segmentation accuracy.</a:t>
            </a:r>
          </a:p>
          <a:p>
            <a:pPr/>
            <a:r>
              <a:t>Future Scope:</a:t>
            </a:r>
          </a:p>
          <a:p>
            <a:pPr/>
            <a:r>
              <a:t>• Validation on real longitudinal datasets (e.g., TCGA-GBM).</a:t>
            </a:r>
          </a:p>
          <a:p>
            <a:pPr/>
            <a:r>
              <a:t>• Modeling radiotherapy response (Radiation cell-kill term).</a:t>
            </a:r>
          </a:p>
          <a:p>
            <a:pPr/>
            <a:r>
              <a:t>• Federated Learning across multi-institutional hospital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