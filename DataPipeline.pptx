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4" r:id="rId6"/>
    <p:sldId id="265" r:id="rId7"/>
    <p:sldId id="263" r:id="rId8"/>
    <p:sldId id="262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4C2B5-A6F1-48F7-B50B-7C706458DFA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F676BC-3D45-46FC-98FB-69F6F355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820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F676BC-3D45-46FC-98FB-69F6F355F6D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714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27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309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80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29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733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417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37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70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159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06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69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3EFAAF3-5B6D-46BF-B309-8A38D582C2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D8B94B2-5C07-4E9F-8F0F-15C6FA2A0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05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D3FB-FACE-A279-B701-6B3610E4B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2061810"/>
            <a:ext cx="9966960" cy="3035808"/>
          </a:xfrm>
        </p:spPr>
        <p:txBody>
          <a:bodyPr/>
          <a:lstStyle/>
          <a:p>
            <a:r>
              <a:rPr lang="en-US" sz="8800" dirty="0"/>
              <a:t>Data Processing Pipeline: From 3D </a:t>
            </a:r>
            <a:r>
              <a:rPr lang="en-US" sz="8800" dirty="0" err="1"/>
              <a:t>BraTS</a:t>
            </a:r>
            <a:r>
              <a:rPr lang="en-US" sz="8800" dirty="0"/>
              <a:t> to Model Input</a:t>
            </a:r>
            <a:br>
              <a:rPr lang="en-US" sz="8800" dirty="0"/>
            </a:br>
            <a:endParaRPr lang="en-IN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EE65C-AC4A-B5DA-E836-08B132EC1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5348491"/>
            <a:ext cx="8794729" cy="1069848"/>
          </a:xfrm>
        </p:spPr>
        <p:txBody>
          <a:bodyPr/>
          <a:lstStyle/>
          <a:p>
            <a:r>
              <a:rPr lang="en-US" dirty="0"/>
              <a:t>Harsh Gupta (23U01011) &amp; Mayank Verma (23U01063)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5ADC-5A67-24BB-D48C-09C53C41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Is the Data 3D or 2D?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E7D93-4C83-E0C4-4CB8-3B926538F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data is 100% processed and trained as 3D.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2400" dirty="0"/>
              <a:t>The model (specifically our ResNet3D backbone) takes in a full 3D chunk of the brain and outputs a full 3D prediction.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It never slices the brain into 2D layers during the mathematical training or inference.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61014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38381D-85CC-9D0D-038C-1E8C0AA5475C}"/>
              </a:ext>
            </a:extLst>
          </p:cNvPr>
          <p:cNvSpPr txBox="1"/>
          <p:nvPr/>
        </p:nvSpPr>
        <p:spPr>
          <a:xfrm>
            <a:off x="677828" y="4481515"/>
            <a:ext cx="48235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only reason we saw "2D images" is because a standard computer monitor is flat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A4AEE-9B83-3316-2B8E-747305B00092}"/>
              </a:ext>
            </a:extLst>
          </p:cNvPr>
          <p:cNvSpPr txBox="1"/>
          <p:nvPr/>
        </p:nvSpPr>
        <p:spPr>
          <a:xfrm>
            <a:off x="6205303" y="4481515"/>
            <a:ext cx="57118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To show what the Model did, our scripts take the final 3D block that the given Input</a:t>
            </a:r>
            <a:r>
              <a:rPr lang="en-IN" sz="2000" dirty="0">
                <a:sym typeface="Wingdings" panose="05000000000000000000" pitchFamily="2" charset="2"/>
              </a:rPr>
              <a:t> </a:t>
            </a:r>
            <a:r>
              <a:rPr lang="en-IN" sz="2000" dirty="0"/>
              <a:t>cut a single flat slice right out of the middle </a:t>
            </a:r>
            <a:r>
              <a:rPr lang="en-IN" sz="2000" dirty="0">
                <a:sym typeface="Wingdings" panose="05000000000000000000" pitchFamily="2" charset="2"/>
              </a:rPr>
              <a:t> </a:t>
            </a:r>
            <a:r>
              <a:rPr lang="en-IN" sz="2000" dirty="0"/>
              <a:t>and save it as a PNG picture.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1C9E7E-F630-D424-F269-42CE76C01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03" y="191125"/>
            <a:ext cx="9182594" cy="373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9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2040-E2A9-461B-FD0F-319BDD899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Patient: The BRATS\001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7680B-5EC3-2CF2-8A74-B7464A036202}"/>
              </a:ext>
            </a:extLst>
          </p:cNvPr>
          <p:cNvSpPr txBox="1"/>
          <p:nvPr/>
        </p:nvSpPr>
        <p:spPr>
          <a:xfrm>
            <a:off x="933138" y="2093975"/>
            <a:ext cx="8330783" cy="113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dataset provides one master file that contains 4 distinct layers (modalities).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4D5DC3-E96C-96D1-6690-0EF3CE95F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681" y="3429000"/>
            <a:ext cx="3324689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756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8BB09-F420-4A57-EAB1-FC535E33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5127-8F3D-D923-3E88-EBC0D1993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17" y="43631"/>
            <a:ext cx="10058400" cy="1609344"/>
          </a:xfrm>
        </p:spPr>
        <p:txBody>
          <a:bodyPr/>
          <a:lstStyle/>
          <a:p>
            <a:r>
              <a:rPr lang="en-US" dirty="0"/>
              <a:t> The 4 Modalities in BRATS\001: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DD917-42C7-2D09-4AFA-B683498C1039}"/>
              </a:ext>
            </a:extLst>
          </p:cNvPr>
          <p:cNvSpPr txBox="1"/>
          <p:nvPr/>
        </p:nvSpPr>
        <p:spPr>
          <a:xfrm>
            <a:off x="4197521" y="1652975"/>
            <a:ext cx="6093500" cy="2969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 T1 (Channel 1):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Anatomy scan.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It shows the healthy structures clearly so the Model knows what a normal brain looks like.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75E94-C563-B1AA-7B94-3B326D21A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19" y="739267"/>
            <a:ext cx="2784680" cy="590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7A7A0-6DC3-FA3E-8FD3-A0AD8BA2B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9E0F9-3E6A-576A-EE6A-2219EC395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05" y="0"/>
            <a:ext cx="10058400" cy="1609344"/>
          </a:xfrm>
        </p:spPr>
        <p:txBody>
          <a:bodyPr/>
          <a:lstStyle/>
          <a:p>
            <a:r>
              <a:rPr lang="en-US" dirty="0"/>
              <a:t> The 4 Modalities in BRATS\001: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B6FD3-45BB-78E1-7562-CD8EDD855479}"/>
              </a:ext>
            </a:extLst>
          </p:cNvPr>
          <p:cNvSpPr txBox="1"/>
          <p:nvPr/>
        </p:nvSpPr>
        <p:spPr>
          <a:xfrm>
            <a:off x="4197521" y="1652975"/>
            <a:ext cx="6093500" cy="3165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T1ce (Channel 2):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Contrast scan.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special dye was injected into the patient.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This dye "lights up" the aggressive, blood-rich core of the tumor.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6FBEA-E37C-1897-CE60-3D5454A9C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05" y="804672"/>
            <a:ext cx="2988868" cy="600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51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09B8E-6013-F169-8BD5-5501C83A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7288-8A2B-35C7-45A5-B72A187B1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The 4 Modalities in BRATS\001: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C77C8-70FD-DD96-6A28-B91FF3F44624}"/>
              </a:ext>
            </a:extLst>
          </p:cNvPr>
          <p:cNvSpPr txBox="1"/>
          <p:nvPr/>
        </p:nvSpPr>
        <p:spPr>
          <a:xfrm>
            <a:off x="4197521" y="1652975"/>
            <a:ext cx="6093500" cy="2611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T2 (Channel 3):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Specifically highlights different types of fluid.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Helping distinguish the solid tumor from cystic (liquid-filled) pockets.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D7303-0AC8-E2AE-5267-17728325D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67" y="1158554"/>
            <a:ext cx="2709377" cy="548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8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54CA-E998-6080-AFFA-EEADA5F3D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115" y="43631"/>
            <a:ext cx="10058400" cy="1609344"/>
          </a:xfrm>
        </p:spPr>
        <p:txBody>
          <a:bodyPr/>
          <a:lstStyle/>
          <a:p>
            <a:r>
              <a:rPr lang="en-US" dirty="0"/>
              <a:t> The 4 Modalities in BRATS\001: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ECB98-849B-EA6C-F439-6E00C4852239}"/>
              </a:ext>
            </a:extLst>
          </p:cNvPr>
          <p:cNvSpPr txBox="1"/>
          <p:nvPr/>
        </p:nvSpPr>
        <p:spPr>
          <a:xfrm>
            <a:off x="4197521" y="1652975"/>
            <a:ext cx="6093500" cy="2611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FLAIR (Channel 0):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Used to see </a:t>
            </a:r>
            <a:r>
              <a:rPr lang="en-IN" sz="2400" dirty="0" err="1"/>
              <a:t>Edema</a:t>
            </a:r>
            <a:r>
              <a:rPr lang="en-IN" sz="2400" dirty="0"/>
              <a:t> (swelling).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Fluid glows bright,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making it easy to see where the </a:t>
            </a:r>
            <a:r>
              <a:rPr lang="en-IN" sz="2400" dirty="0" err="1"/>
              <a:t>tumor</a:t>
            </a:r>
            <a:r>
              <a:rPr lang="en-IN" sz="2400" dirty="0"/>
              <a:t> is pushing against the brain.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B64028-A53A-76BD-3600-372E88465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15" y="986854"/>
            <a:ext cx="2935574" cy="587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61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69B5-AF33-30C1-4D79-4A239793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Step-by-Step Processing "Factory"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9A2AC-1CA6-4496-8288-85937DA9D722}"/>
              </a:ext>
            </a:extLst>
          </p:cNvPr>
          <p:cNvSpPr txBox="1"/>
          <p:nvPr/>
        </p:nvSpPr>
        <p:spPr>
          <a:xfrm>
            <a:off x="1063752" y="1895698"/>
            <a:ext cx="7776147" cy="4007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Before the model sees the data, it goes through a "Machine Learning Factory"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Here is the exact journey of Patient BRATS\001: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Step 1: Loading &amp; Stacking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Step 2: Spatial Calibration (</a:t>
            </a:r>
            <a:r>
              <a:rPr lang="en-US" sz="2000" dirty="0" err="1"/>
              <a:t>Orientationd</a:t>
            </a:r>
            <a:r>
              <a:rPr lang="en-US" sz="2000" dirty="0"/>
              <a:t> &amp; </a:t>
            </a:r>
            <a:r>
              <a:rPr lang="en-US" sz="2000" dirty="0" err="1"/>
              <a:t>Spacingd</a:t>
            </a:r>
            <a:r>
              <a:rPr lang="en-US" sz="200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Step 3: Intensity Normalization (</a:t>
            </a:r>
            <a:r>
              <a:rPr lang="en-US" sz="2000" dirty="0" err="1"/>
              <a:t>NormalizeIntensityd</a:t>
            </a:r>
            <a:r>
              <a:rPr lang="en-US" sz="200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Step 4: Brain Extraction (</a:t>
            </a:r>
            <a:r>
              <a:rPr lang="en-US" sz="2000" dirty="0" err="1"/>
              <a:t>CropForegroundd</a:t>
            </a:r>
            <a:r>
              <a:rPr lang="en-US" sz="200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Step 5: Final 3D Shaping (The "Passport Photo" Step)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04071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5089-0DDF-D100-AC00-9DF966F4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Loading &amp; Stacking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467F0-DCC2-2BC9-55F6-AA44E19BA005}"/>
              </a:ext>
            </a:extLst>
          </p:cNvPr>
          <p:cNvSpPr txBox="1"/>
          <p:nvPr/>
        </p:nvSpPr>
        <p:spPr>
          <a:xfrm>
            <a:off x="408482" y="1914094"/>
            <a:ext cx="4943007" cy="334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Action: </a:t>
            </a:r>
            <a:r>
              <a:rPr lang="en-IN" sz="2400" dirty="0"/>
              <a:t>The 4-channel </a:t>
            </a:r>
            <a:r>
              <a:rPr lang="en-IN" sz="2400" dirty="0" err="1"/>
              <a:t>NIfTI</a:t>
            </a:r>
            <a:r>
              <a:rPr lang="en-IN" sz="2400" dirty="0"/>
              <a:t> file is loaded 	into memory.</a:t>
            </a:r>
          </a:p>
          <a:p>
            <a:pPr>
              <a:lnSpc>
                <a:spcPct val="150000"/>
              </a:lnSpc>
            </a:pPr>
            <a:endParaRPr lang="en-I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Result: </a:t>
            </a:r>
            <a:r>
              <a:rPr lang="en-IN" sz="2400" dirty="0"/>
              <a:t>A massive 4-dimensional matrix of 	numbers.</a:t>
            </a:r>
          </a:p>
        </p:txBody>
      </p:sp>
      <p:pic>
        <p:nvPicPr>
          <p:cNvPr id="2050" name="Picture 2" descr="Introduction to Working with MRI Data in Python: Anatomy of a NIfTI">
            <a:extLst>
              <a:ext uri="{FF2B5EF4-FFF2-40B4-BE49-F238E27FC236}">
                <a16:creationId xmlns:a16="http://schemas.microsoft.com/office/drawing/2014/main" id="{6E69EFB6-61CC-D755-6A74-5180A00D2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855" y="1914094"/>
            <a:ext cx="5706000" cy="379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953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D520-470F-4691-B532-E411603E4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99" y="147455"/>
            <a:ext cx="10058400" cy="1609344"/>
          </a:xfrm>
        </p:spPr>
        <p:txBody>
          <a:bodyPr>
            <a:normAutofit/>
          </a:bodyPr>
          <a:lstStyle/>
          <a:p>
            <a:r>
              <a:rPr lang="en-US" sz="4800" dirty="0"/>
              <a:t>Step 2: Spatial Calibration (Orientation &amp; Spacing)</a:t>
            </a:r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30BB9C-5D0B-CEC6-BF46-7F03B84615A5}"/>
              </a:ext>
            </a:extLst>
          </p:cNvPr>
          <p:cNvSpPr txBox="1"/>
          <p:nvPr/>
        </p:nvSpPr>
        <p:spPr>
          <a:xfrm>
            <a:off x="7665520" y="2029920"/>
            <a:ext cx="42960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We force the brain into RAS Orientation (Right-Anterior-Superior).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13CB9-72B4-7BC5-02CB-1CFAFD3E7EE4}"/>
              </a:ext>
            </a:extLst>
          </p:cNvPr>
          <p:cNvSpPr txBox="1"/>
          <p:nvPr/>
        </p:nvSpPr>
        <p:spPr>
          <a:xfrm>
            <a:off x="7533611" y="3718816"/>
            <a:ext cx="44279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Spacing:</a:t>
            </a:r>
            <a:r>
              <a:rPr lang="en-IN" sz="2000" dirty="0"/>
              <a:t> We resample the pixels so 1 pixel = exactly 1mm of physical space.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E21AF-527D-AA37-D4DA-39F33A43A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99" y="1987286"/>
            <a:ext cx="7303212" cy="34630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EF0C94-325F-4C40-3ACD-97E99244407E}"/>
              </a:ext>
            </a:extLst>
          </p:cNvPr>
          <p:cNvSpPr txBox="1"/>
          <p:nvPr/>
        </p:nvSpPr>
        <p:spPr>
          <a:xfrm>
            <a:off x="391541" y="6042392"/>
            <a:ext cx="107161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Why? 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IN" sz="2000" dirty="0"/>
              <a:t>To ensure "Up" is always up and "Left" is always left, regardless of how the patient 		was lying in the MRI machine.</a:t>
            </a:r>
          </a:p>
        </p:txBody>
      </p:sp>
    </p:spTree>
    <p:extLst>
      <p:ext uri="{BB962C8B-B14F-4D97-AF65-F5344CB8AC3E}">
        <p14:creationId xmlns:p14="http://schemas.microsoft.com/office/powerpoint/2010/main" val="3663775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10E92-9613-AD6E-60D9-75A46B67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62" y="319740"/>
            <a:ext cx="11392525" cy="1609344"/>
          </a:xfrm>
        </p:spPr>
        <p:txBody>
          <a:bodyPr>
            <a:noAutofit/>
          </a:bodyPr>
          <a:lstStyle/>
          <a:p>
            <a:r>
              <a:rPr lang="en-US" sz="4800" dirty="0"/>
              <a:t>Step 3: Intensity Normalization (</a:t>
            </a:r>
            <a:r>
              <a:rPr lang="en-US" sz="4800" dirty="0" err="1"/>
              <a:t>NormalizeIntensity</a:t>
            </a:r>
            <a:r>
              <a:rPr lang="en-US" sz="4800" dirty="0"/>
              <a:t>)</a:t>
            </a:r>
            <a:br>
              <a:rPr lang="en-US" sz="4800" dirty="0"/>
            </a:br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75962-F9B8-FB67-658C-21C50E02D1C4}"/>
              </a:ext>
            </a:extLst>
          </p:cNvPr>
          <p:cNvSpPr txBox="1"/>
          <p:nvPr/>
        </p:nvSpPr>
        <p:spPr>
          <a:xfrm>
            <a:off x="344383" y="4928917"/>
            <a:ext cx="10733348" cy="142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Result: </a:t>
            </a:r>
            <a:r>
              <a:rPr lang="en-IN" sz="2000" dirty="0"/>
              <a:t>The Model sees "normalized" values instead of raw house-dependent brightness. This allows the Model to work on any hospital's MRI machine.</a:t>
            </a:r>
          </a:p>
        </p:txBody>
      </p:sp>
      <p:pic>
        <p:nvPicPr>
          <p:cNvPr id="3074" name="Picture 2" descr="8.6 Intensity Correction">
            <a:extLst>
              <a:ext uri="{FF2B5EF4-FFF2-40B4-BE49-F238E27FC236}">
                <a16:creationId xmlns:a16="http://schemas.microsoft.com/office/drawing/2014/main" id="{7608EAC9-FBCE-BE71-9ECD-5EDDB4C29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2" y="1538604"/>
            <a:ext cx="6924675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C38127-0FDC-F5B8-56DB-628541B52C88}"/>
              </a:ext>
            </a:extLst>
          </p:cNvPr>
          <p:cNvSpPr txBox="1"/>
          <p:nvPr/>
        </p:nvSpPr>
        <p:spPr>
          <a:xfrm>
            <a:off x="7348928" y="1679848"/>
            <a:ext cx="4373380" cy="960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Action: </a:t>
            </a:r>
            <a:r>
              <a:rPr lang="en-IN" sz="2000" dirty="0"/>
              <a:t>We adjust the brightness of 		all 4 channels.</a:t>
            </a:r>
          </a:p>
        </p:txBody>
      </p:sp>
    </p:spTree>
    <p:extLst>
      <p:ext uri="{BB962C8B-B14F-4D97-AF65-F5344CB8AC3E}">
        <p14:creationId xmlns:p14="http://schemas.microsoft.com/office/powerpoint/2010/main" val="3196758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BFCD8-9910-F4A0-624B-B047AF62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9964"/>
            <a:ext cx="12012118" cy="1609344"/>
          </a:xfrm>
        </p:spPr>
        <p:txBody>
          <a:bodyPr/>
          <a:lstStyle/>
          <a:p>
            <a:r>
              <a:rPr lang="en-US" dirty="0"/>
              <a:t>Step 4: Brain Extraction (</a:t>
            </a:r>
            <a:r>
              <a:rPr lang="en-US" dirty="0" err="1"/>
              <a:t>CropForeground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F0218-8092-3CFC-957B-F86ACAB5F9FC}"/>
              </a:ext>
            </a:extLst>
          </p:cNvPr>
          <p:cNvSpPr txBox="1"/>
          <p:nvPr/>
        </p:nvSpPr>
        <p:spPr>
          <a:xfrm>
            <a:off x="179882" y="1228636"/>
            <a:ext cx="4551775" cy="280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 Action: </a:t>
            </a:r>
            <a:r>
              <a:rPr lang="en-IN" sz="2000" dirty="0"/>
              <a:t>We delete the empty black space (the air) around the head.</a:t>
            </a:r>
          </a:p>
          <a:p>
            <a:pPr>
              <a:lnSpc>
                <a:spcPct val="150000"/>
              </a:lnSpc>
            </a:pPr>
            <a:endParaRPr lang="en-IN" sz="2000" dirty="0"/>
          </a:p>
          <a:p>
            <a:pPr>
              <a:lnSpc>
                <a:spcPct val="150000"/>
              </a:lnSpc>
            </a:pP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Result:</a:t>
            </a:r>
            <a:r>
              <a:rPr lang="en-IN" sz="2000" dirty="0"/>
              <a:t> We focus 100% of the AI's power only on the brain tissue.</a:t>
            </a:r>
          </a:p>
        </p:txBody>
      </p:sp>
      <p:pic>
        <p:nvPicPr>
          <p:cNvPr id="4098" name="Picture 2" descr="MULTforAD: Multimodal MRI Neuroimaging for Alzheimer’s Disease Detection Based on a 3D Convolution Model | MDPI">
            <a:extLst>
              <a:ext uri="{FF2B5EF4-FFF2-40B4-BE49-F238E27FC236}">
                <a16:creationId xmlns:a16="http://schemas.microsoft.com/office/drawing/2014/main" id="{EFB62965-5B30-3C86-B614-43492B8A85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67" r="5381"/>
          <a:stretch>
            <a:fillRect/>
          </a:stretch>
        </p:blipFill>
        <p:spPr bwMode="auto">
          <a:xfrm>
            <a:off x="5471887" y="1176706"/>
            <a:ext cx="6154058" cy="3782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513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B160-EE1F-F8D2-8CD4-3CA2C1F2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12" y="134912"/>
            <a:ext cx="13880892" cy="1609344"/>
          </a:xfrm>
        </p:spPr>
        <p:txBody>
          <a:bodyPr>
            <a:normAutofit/>
          </a:bodyPr>
          <a:lstStyle/>
          <a:p>
            <a:r>
              <a:rPr lang="en-US" dirty="0"/>
              <a:t>Step 5: Final 3D Shaping (The "Passport Photo“ </a:t>
            </a:r>
            <a:br>
              <a:rPr lang="en-US" dirty="0"/>
            </a:br>
            <a:r>
              <a:rPr lang="en-US" dirty="0"/>
              <a:t>Step)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34D43-9EA0-BD8B-DC83-789AEE6CB66A}"/>
              </a:ext>
            </a:extLst>
          </p:cNvPr>
          <p:cNvSpPr txBox="1"/>
          <p:nvPr/>
        </p:nvSpPr>
        <p:spPr>
          <a:xfrm>
            <a:off x="311045" y="1714929"/>
            <a:ext cx="11336311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 The Concept: Imagine you need a passport photo. No matter how the original picture was taken, the final version must be exactly 2x2 inches and </a:t>
            </a:r>
            <a:r>
              <a:rPr lang="en-IN" sz="2000" dirty="0" err="1"/>
              <a:t>centered</a:t>
            </a:r>
            <a:r>
              <a:rPr lang="en-IN" sz="2000" dirty="0"/>
              <a:t> perfectly. We do the same for the brain.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   The Action: We use three sub-steps to get the brain into a perfect 64x64x64 voxel cube:</a:t>
            </a:r>
          </a:p>
          <a:p>
            <a:r>
              <a:rPr lang="en-IN" sz="2000" dirty="0"/>
              <a:t>    1.  Cropping (</a:t>
            </a:r>
            <a:r>
              <a:rPr lang="en-IN" sz="2000" dirty="0" err="1"/>
              <a:t>CropForeground</a:t>
            </a:r>
            <a:r>
              <a:rPr lang="en-IN" sz="2000" dirty="0"/>
              <a:t>): We zoom in and cut off the empty black air around the head.</a:t>
            </a:r>
          </a:p>
          <a:p>
            <a:r>
              <a:rPr lang="en-IN" sz="2000" dirty="0"/>
              <a:t>    2.  Padding (Spatial Pad): If the brain is smaller than our target cube, we add "blank space" 	(zeros) around it so it doesn't look stretched.</a:t>
            </a:r>
          </a:p>
          <a:p>
            <a:r>
              <a:rPr lang="en-IN" sz="2000" dirty="0"/>
              <a:t>    3.  Final Cut (Spatial Crop): We use a mathematical "cookie cutter" to trim the data into a perfect cube.</a:t>
            </a:r>
          </a:p>
          <a:p>
            <a:endParaRPr lang="en-IN" sz="2000" dirty="0"/>
          </a:p>
          <a:p>
            <a:r>
              <a:rPr lang="en-IN" sz="2000" dirty="0"/>
              <a:t>   Why? A Neural Network is like a specialized machine that only accepts one specific size of input. If the size is even 1 pixel off, the math breaks. Final shaping ensures every patient's brain "fits" into the AI's eyes perfectly.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41231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911F-475A-1A14-905B-A260DEBAF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for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11EA4-43F8-D870-777A-53F4AE143CFF}"/>
              </a:ext>
            </a:extLst>
          </p:cNvPr>
          <p:cNvSpPr txBox="1"/>
          <p:nvPr/>
        </p:nvSpPr>
        <p:spPr>
          <a:xfrm>
            <a:off x="1063752" y="1682247"/>
            <a:ext cx="9519304" cy="334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The model doesn't just look at one image ;  it analyses a 4-channel 3D hyper-cube. </a:t>
            </a:r>
          </a:p>
          <a:p>
            <a:pPr>
              <a:lnSpc>
                <a:spcPct val="150000"/>
              </a:lnSpc>
            </a:pPr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400" dirty="0"/>
              <a:t>It sees the anatomy, the contrast-dye regions, and the swelling all at once, allowing it to mathematically predict exactly where the cancer cells are most dense!</a:t>
            </a:r>
          </a:p>
        </p:txBody>
      </p:sp>
    </p:spTree>
    <p:extLst>
      <p:ext uri="{BB962C8B-B14F-4D97-AF65-F5344CB8AC3E}">
        <p14:creationId xmlns:p14="http://schemas.microsoft.com/office/powerpoint/2010/main" val="40065445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206</TotalTime>
  <Words>835</Words>
  <Application>Microsoft Office PowerPoint</Application>
  <PresentationFormat>Widescreen</PresentationFormat>
  <Paragraphs>68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Rockwell</vt:lpstr>
      <vt:lpstr>Rockwell Condensed</vt:lpstr>
      <vt:lpstr>Wingdings</vt:lpstr>
      <vt:lpstr>Wood Type</vt:lpstr>
      <vt:lpstr>Data Processing Pipeline: From 3D BraTS to Model Input </vt:lpstr>
      <vt:lpstr>Is the Data 3D or 2D?</vt:lpstr>
      <vt:lpstr>PowerPoint Presentation</vt:lpstr>
      <vt:lpstr>Anatomy of a Patient: The BRATS\001</vt:lpstr>
      <vt:lpstr> The 4 Modalities in BRATS\001: </vt:lpstr>
      <vt:lpstr> The 4 Modalities in BRATS\001: </vt:lpstr>
      <vt:lpstr> The 4 Modalities in BRATS\001: </vt:lpstr>
      <vt:lpstr> The 4 Modalities in BRATS\001: </vt:lpstr>
      <vt:lpstr>The Step-by-Step Processing "Factory"</vt:lpstr>
      <vt:lpstr>Step 1: Loading &amp; Stacking</vt:lpstr>
      <vt:lpstr>Step 2: Spatial Calibration (Orientation &amp; Spacing)</vt:lpstr>
      <vt:lpstr>Step 3: Intensity Normalization (NormalizeIntensity) </vt:lpstr>
      <vt:lpstr>Step 4: Brain Extraction (CropForeground)</vt:lpstr>
      <vt:lpstr>Step 5: Final 3D Shaping (The "Passport Photo“  Step)</vt:lpstr>
      <vt:lpstr>Summary for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Verma</dc:creator>
  <cp:lastModifiedBy>Mayank Verma</cp:lastModifiedBy>
  <cp:revision>2</cp:revision>
  <dcterms:created xsi:type="dcterms:W3CDTF">2026-04-15T05:35:48Z</dcterms:created>
  <dcterms:modified xsi:type="dcterms:W3CDTF">2026-04-15T09:02:18Z</dcterms:modified>
</cp:coreProperties>
</file>